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33f10dc4bbd14b75" /><Relationship Type="http://schemas.openxmlformats.org/officeDocument/2006/relationships/extended-properties" Target="/docProps/app.xml" Id="R2c10218be6c54954" /><Relationship Type="http://schemas.openxmlformats.org/officeDocument/2006/relationships/officeDocument" Target="/ppt/presentation.xml" Id="Ra51a3d31ca8c4593" /></Relationships>
</file>

<file path=ppt/presentation.xml><?xml version="1.0" encoding="utf-8"?>
<p:presentation xmlns:p="http://schemas.openxmlformats.org/presentationml/2006/main">
  <p:sldMasterIdLst>
    <p:sldMasterId xmlns:r="http://schemas.openxmlformats.org/officeDocument/2006/relationships" id="2147483648" r:id="R5103af9baef942d1"/>
  </p:sldMasterIdLst>
  <p:notesMasterIdLst>
    <p:notesMasterId xmlns:r="http://schemas.openxmlformats.org/officeDocument/2006/relationships" r:id="R443751f144824385"/>
  </p:notesMasterIdLst>
  <p:sldIdLst>
    <p:sldId xmlns:r="http://schemas.openxmlformats.org/officeDocument/2006/relationships" id="256" r:id="R1457f28b97984be0"/>
    <p:sldId xmlns:r="http://schemas.openxmlformats.org/officeDocument/2006/relationships" id="257" r:id="R2df45912106b4728"/>
    <p:sldId xmlns:r="http://schemas.openxmlformats.org/officeDocument/2006/relationships" id="258" r:id="R8c023c5929934b73"/>
    <p:sldId xmlns:r="http://schemas.openxmlformats.org/officeDocument/2006/relationships" id="259" r:id="R044c2ce261da4164"/>
    <p:sldId xmlns:r="http://schemas.openxmlformats.org/officeDocument/2006/relationships" id="260" r:id="Rabfe8c6b6e954759"/>
    <p:sldId xmlns:r="http://schemas.openxmlformats.org/officeDocument/2006/relationships" id="261" r:id="R09bb45ecd5874584"/>
    <p:sldId xmlns:r="http://schemas.openxmlformats.org/officeDocument/2006/relationships" id="262" r:id="R33b560ae65fe4989"/>
    <p:sldId xmlns:r="http://schemas.openxmlformats.org/officeDocument/2006/relationships" id="263" r:id="Rfadcb27accd54992"/>
    <p:sldId xmlns:r="http://schemas.openxmlformats.org/officeDocument/2006/relationships" id="264" r:id="Rba65c69eebcc4a54"/>
    <p:sldId xmlns:r="http://schemas.openxmlformats.org/officeDocument/2006/relationships" id="265" r:id="R7eeb051e342041e2"/>
    <p:sldId xmlns:r="http://schemas.openxmlformats.org/officeDocument/2006/relationships" id="266" r:id="R723c0bcd741c46d3"/>
    <p:sldId xmlns:r="http://schemas.openxmlformats.org/officeDocument/2006/relationships" id="267" r:id="R5ecfc0e8b23b4d00"/>
  </p:sldIdLst>
  <p:sldSz cx="12192000" cy="6858000"/>
  <p:notesSz cx="6858000" cy="9144000"/>
  <p:defaultText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snapToObjects="1">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eb68b41a6a634484" /><Relationship Type="http://schemas.openxmlformats.org/officeDocument/2006/relationships/slideMaster" Target="/ppt/slideMasters/slideMaster1.xml" Id="R5103af9baef942d1" /><Relationship Type="http://schemas.openxmlformats.org/officeDocument/2006/relationships/notesMaster" Target="/ppt/notesMasters/notesMaster1.xml" Id="R443751f144824385" /><Relationship Type="http://schemas.openxmlformats.org/officeDocument/2006/relationships/presProps" Target="/ppt/presProps.xml" Id="Rf4b5e220760147c4" /><Relationship Type="http://schemas.openxmlformats.org/officeDocument/2006/relationships/viewProps" Target="/ppt/viewProps.xml" Id="R07627708b9dd44ea" /><Relationship Type="http://schemas.openxmlformats.org/officeDocument/2006/relationships/tableStyles" Target="/ppt/tableStyles.xml" Id="R6d093c4fe4d34289" /><Relationship Type="http://schemas.openxmlformats.org/officeDocument/2006/relationships/slide" Target="/ppt/slides/slide1.xml" Id="R1457f28b97984be0" /><Relationship Type="http://schemas.openxmlformats.org/officeDocument/2006/relationships/slide" Target="/ppt/slides/slide2.xml" Id="R2df45912106b4728" /><Relationship Type="http://schemas.openxmlformats.org/officeDocument/2006/relationships/slide" Target="/ppt/slides/slide3.xml" Id="R8c023c5929934b73" /><Relationship Type="http://schemas.openxmlformats.org/officeDocument/2006/relationships/slide" Target="/ppt/slides/slide4.xml" Id="R044c2ce261da4164" /><Relationship Type="http://schemas.openxmlformats.org/officeDocument/2006/relationships/slide" Target="/ppt/slides/slide5.xml" Id="Rabfe8c6b6e954759" /><Relationship Type="http://schemas.openxmlformats.org/officeDocument/2006/relationships/slide" Target="/ppt/slides/slide6.xml" Id="R09bb45ecd5874584" /><Relationship Type="http://schemas.openxmlformats.org/officeDocument/2006/relationships/slide" Target="/ppt/slides/slide7.xml" Id="R33b560ae65fe4989" /><Relationship Type="http://schemas.openxmlformats.org/officeDocument/2006/relationships/slide" Target="/ppt/slides/slide8.xml" Id="Rfadcb27accd54992" /><Relationship Type="http://schemas.openxmlformats.org/officeDocument/2006/relationships/slide" Target="/ppt/slides/slide9.xml" Id="Rba65c69eebcc4a54" /><Relationship Type="http://schemas.openxmlformats.org/officeDocument/2006/relationships/slide" Target="/ppt/slides/slide10.xml" Id="R7eeb051e342041e2" /><Relationship Type="http://schemas.openxmlformats.org/officeDocument/2006/relationships/slide" Target="/ppt/slides/slide11.xml" Id="R723c0bcd741c46d3" /><Relationship Type="http://schemas.openxmlformats.org/officeDocument/2006/relationships/slide" Target="/ppt/slides/slide12.xml" Id="R5ecfc0e8b23b4d00"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b0ed7bd1c63f43ca"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Keel">
  <a:themeElements>
    <a:clrScheme name="Keel">
      <a:dk1>
        <a:srgbClr val="0F1B26"/>
      </a:dk1>
      <a:lt1>
        <a:srgbClr val="FFFFFF"/>
      </a:lt1>
      <a:dk2>
        <a:srgbClr val="0A1016"/>
      </a:dk2>
      <a:lt2>
        <a:srgbClr val="F5F6F7"/>
      </a:lt2>
      <a:accent1>
        <a:srgbClr val="23476B"/>
      </a:accent1>
      <a:accent2>
        <a:srgbClr val="8A6420"/>
      </a:accent2>
      <a:accent3>
        <a:srgbClr val="0F9A8C"/>
      </a:accent3>
      <a:accent4>
        <a:srgbClr val="C9623A"/>
      </a:accent4>
      <a:accent5>
        <a:srgbClr val="5A6773"/>
      </a:accent5>
      <a:accent6>
        <a:srgbClr val="C9A45C"/>
      </a:accent6>
      <a:hlink>
        <a:srgbClr val="23476B"/>
      </a:hlink>
      <a:folHlink>
        <a:srgbClr val="6E4F16"/>
      </a:folHlink>
    </a:clrScheme>
    <a:fontScheme name="Keel">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Keel">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c6078d8767264ab3" /><Relationship Type="http://schemas.openxmlformats.org/officeDocument/2006/relationships/notesMaster" Target="/ppt/notesMasters/notesMaster1.xml" Id="R75834f308fd840ce" /></Relationships>
</file>

<file path=ppt/notesSlides/_rels/notesSlide2.xml.rels>&#65279;<?xml version="1.0" encoding="utf-8"?><Relationships xmlns="http://schemas.openxmlformats.org/package/2006/relationships"><Relationship Type="http://schemas.openxmlformats.org/officeDocument/2006/relationships/slide" Target="/ppt/slides/slide2.xml" Id="R286c56f22d80492a" /><Relationship Type="http://schemas.openxmlformats.org/officeDocument/2006/relationships/notesMaster" Target="/ppt/notesMasters/notesMaster1.xml" Id="R1210354c8b57444a" /></Relationships>
</file>

<file path=ppt/notesSlides/_rels/notesSlide3.xml.rels>&#65279;<?xml version="1.0" encoding="utf-8"?><Relationships xmlns="http://schemas.openxmlformats.org/package/2006/relationships"><Relationship Type="http://schemas.openxmlformats.org/officeDocument/2006/relationships/slide" Target="/ppt/slides/slide3.xml" Id="R4030f89085994032" /><Relationship Type="http://schemas.openxmlformats.org/officeDocument/2006/relationships/notesMaster" Target="/ppt/notesMasters/notesMaster1.xml" Id="Rc2588b8a7ac541c9" /></Relationships>
</file>

<file path=ppt/notesSlides/_rels/notesSlide4.xml.rels>&#65279;<?xml version="1.0" encoding="utf-8"?><Relationships xmlns="http://schemas.openxmlformats.org/package/2006/relationships"><Relationship Type="http://schemas.openxmlformats.org/officeDocument/2006/relationships/slide" Target="/ppt/slides/slide4.xml" Id="Rd0d6bae4820743b5" /><Relationship Type="http://schemas.openxmlformats.org/officeDocument/2006/relationships/notesMaster" Target="/ppt/notesMasters/notesMaster1.xml" Id="Rdcfb16cff0d64734" /></Relationships>
</file>

<file path=ppt/notesSlides/_rels/notesSlide5.xml.rels>&#65279;<?xml version="1.0" encoding="utf-8"?><Relationships xmlns="http://schemas.openxmlformats.org/package/2006/relationships"><Relationship Type="http://schemas.openxmlformats.org/officeDocument/2006/relationships/slide" Target="/ppt/slides/slide5.xml" Id="Rf34d122df63f4eb8" /><Relationship Type="http://schemas.openxmlformats.org/officeDocument/2006/relationships/notesMaster" Target="/ppt/notesMasters/notesMaster1.xml" Id="R5f0678e2b2944c55" /></Relationships>
</file>

<file path=ppt/notesSlides/_rels/notesSlide6.xml.rels>&#65279;<?xml version="1.0" encoding="utf-8"?><Relationships xmlns="http://schemas.openxmlformats.org/package/2006/relationships"><Relationship Type="http://schemas.openxmlformats.org/officeDocument/2006/relationships/slide" Target="/ppt/slides/slide6.xml" Id="R59ba0c3575b245f3" /><Relationship Type="http://schemas.openxmlformats.org/officeDocument/2006/relationships/notesMaster" Target="/ppt/notesMasters/notesMaster1.xml" Id="R00dfc9cadf1f414e" /></Relationships>
</file>

<file path=ppt/notesSlides/_rels/notesSlide7.xml.rels>&#65279;<?xml version="1.0" encoding="utf-8"?><Relationships xmlns="http://schemas.openxmlformats.org/package/2006/relationships"><Relationship Type="http://schemas.openxmlformats.org/officeDocument/2006/relationships/slide" Target="/ppt/slides/slide7.xml" Id="R247a614d840d443f" /><Relationship Type="http://schemas.openxmlformats.org/officeDocument/2006/relationships/notesMaster" Target="/ppt/notesMasters/notesMaster1.xml" Id="R785ce1ec98d84d79" /></Relationships>
</file>

<file path=ppt/notesSlides/_rels/notesSlide8.xml.rels>&#65279;<?xml version="1.0" encoding="utf-8"?><Relationships xmlns="http://schemas.openxmlformats.org/package/2006/relationships"><Relationship Type="http://schemas.openxmlformats.org/officeDocument/2006/relationships/slide" Target="/ppt/slides/slide8.xml" Id="R1067de3ad2d94c3d" /><Relationship Type="http://schemas.openxmlformats.org/officeDocument/2006/relationships/notesMaster" Target="/ppt/notesMasters/notesMaster1.xml" Id="R1a6b147d1cc1461a" /></Relationships>
</file>

<file path=ppt/notesSlides/_rels/notesSlide9.xml.rels>&#65279;<?xml version="1.0" encoding="utf-8"?><Relationships xmlns="http://schemas.openxmlformats.org/package/2006/relationships"><Relationship Type="http://schemas.openxmlformats.org/officeDocument/2006/relationships/slide" Target="/ppt/slides/slide9.xml" Id="Rf40f2e98db614203" /><Relationship Type="http://schemas.openxmlformats.org/officeDocument/2006/relationships/notesMaster" Target="/ppt/notesMasters/notesMaster1.xml" Id="R8b93684358bf43d5"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31488e2653124f07" /><Relationship Type="http://schemas.openxmlformats.org/officeDocument/2006/relationships/notesMaster" Target="/ppt/notesMasters/notesMaster1.xml" Id="Rfd0e9cea3b724f14"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7afa82277bad41e2" /><Relationship Type="http://schemas.openxmlformats.org/officeDocument/2006/relationships/notesMaster" Target="/ppt/notesMasters/notesMaster1.xml" Id="R01bef8c7dbfe4c06"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6420fe6c375c484f" /><Relationship Type="http://schemas.openxmlformats.org/officeDocument/2006/relationships/notesMaster" Target="/ppt/notesMasters/notesMaster1.xml" Id="Ra7ef69565b124421"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Hello, we are Team Keel from Westminster International University in Tashkent. Our project for Topic B is Keel, an AI wealth advisor for Chinese retail investors. Before a client invests, Keel lets them live through a market crash with the exact portfolio it recommends. Every number can be traced to the code that computed it. Over the next ten minutes, we will show the client problem, the product journey and the controls that make the advice auditable. Our central idea is simple: simulate the decision before money moves, and keep the model outside the financial decision path.</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Three problems. First, risk questionnaires are easy to game: clients choose answers that unlock the product they want, then may panic-sell in the first crash. Second, language-model advisors can invent numbers or follow instructions that conflict with policy. Third, everyone says their advice is explainable, but clients and auditors need to verify an actual recommendation afterwards. In China, a fluent interface can build trust quickly, so controls must keep pace. Topic B asks for compliant, explainable allocation advice. Keel builds both into the client journey: suitability checks run in code, and the evidence stays visible.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our core insight. What clients say about risk in a questionnaire is not always what they do in a crash. Before any money moves, Keel lets the client live through the 2008 crisis with the exact portfolio it is considering, month by month, and shows the loss behind the Sell button. It spans October 2007 to March 2013. It is a historical rehearsal, not a prediction of the next market decline. We use it to test the client’s response to risk, then let that evidence make the advice more cautious.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Keel follows five steps: risk profile, portfolio, rehearsal, goal planning and investing. The profile separates loss capacity from risk tolerance, and the lower class governs suitability. The client can answer questions in English or Chinese, or use the same short form; both update one client file. Keel compares eligible products, builds a portfolio, and lets the client test a historical crisis or a savings goal. A simulated order is the final step, after disclosure and client confirmation. Comparison and crisis tools are optional. Every underlined number opens its function and audit record.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Here is the rehearsal. The screen goes dark; the client’s proposed portfolio moves month by month on historical market data, and headlines from the period provide context. The Sell button shows the loss the simulated sale would lock in. In one recorded evidence session, a client who said they would buy more in a fall sold in September 2008, 12.5 percent below the peak. Holding would have ended at 133,266 on 100,000; selling ended at 89,601. Keel lowered the class from C5 to C3 and refused the old C5 portfolio. The client can rebuild within that class. This is a behavioral signal, not a penalty: it can reduce the risk Keel recommends, never raise it. The rehearsal only changes a simulated account.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Our design rule is that the model talks and code decides. The language model asks questions and explains results; deterministic server code calculates every figure, assigns the risk class and checks suitability. The output guard compares every number in a reply with this turn’s tool results and blocks unsafe promises. The model has no execution tool and cannot create a confirmation token. Guards, model calls, tools and simulated orders enter a hash-chained log. We anchor its head on FISCO BCOS so reviewers can detect later changes.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catalog contains 24 real Chinese public mutual funds across money market, bond, index, QDII and gold categories. We use distributor risk labels, from R1 to R5, and the funds’ stated fees. A client can only receive recommendations at or below their investor class. The return and volatility figures are estimates from the available NAV history, with returns adjusted toward an asset-class prior; the fee is included in the displayed estimate. The table supports comparison, not a promise or forecast. Data have a collection date, and before real deployment the bank would need an operational freshness process and its own approved product universe.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Security is part of the product flow, not a paragraph in a prompt. T0 provides information, T1 advises, T2 creates draft orders and T3 executes only after a human confirmation token. The token is bound to the exact order summary, expires and can be used once. Suitability, cash, limits, profile expiry and cooling-off checks run on the server before execution. A kill switch caps sessions at advice. Personal identifiers are masked before any model call. Our deterministic red-team suite stopped all 57 attack cases and still handled all eight benign controls. The tests do not replace formal security review or regulatory approval.</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Here is the measured result. All 30 scripted client journeys completed on the live model, balanced across C1 to C5, with six in Chinese. The red-team suite stopped 57 attacks, and eight benign requests still worked. The offline suite passed 156 tests, including a local FISCO BCOS round trip and tamper check. In a backtest from 2008 to 2026, all five classes stayed inside their volatility targets, but losses still exceeded what the volatility number alone might lead a client to expect; C5 lost 34 percent in 2008. One practical limit is speed: a live journey took a median of about 129 seconds. Groq quota or network availability can affect a live demo, so the deterministic replay path remains our backup.</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architecture makes those boundaries explicit. The UI talks to a FastAPI server; a bounded agent loop sees only tools valid for the current stage. Input checks mask identifiers and catch known injection patterns, and output checks ground numbers. Each recommendation is a versioned record that binds the investor profile, goal, catalog snapshot and calculation version. A material change makes that recommendation stale. Consent and any order proposal refer to the same fingerprint, so approval cannot silently carry over to changed advice. Deterministic Python computes the financial results; a separate permission layer controls simulated account actions. Finally, the audit chain records the decisions and anchors its head on FISCO BCOS.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Why does this fit WeBank? Keel already anchors records on FISCO BCOS, the consortium chain associated with WeBank, and uses real Chinese public funds with distributor risk levels. The prototype runs a local four-node chain; a bank would use its approved production infrastructure and controls. The interface supports English and Simplified Chinese. FATE federated learning is a possible next research step: banks could study whether questionnaire answers predict revealed tolerance while keeping raw rehearsal data local. We have not implemented FATE in this prototype, so it remains a proposal rather than a claimed capability.</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Keel gives a client a way to rehearse a hard decision before investing. It grounds every number in code, ties each consent to the exact advice version and leaves a record that can be checked afterwards. The simulated account makes the prototype’s safety boundary clear. Thank you. We would be glad to walk through the live product and answer questions about its data, controls or financial assumptions.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b2e276e92f64c71"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cdfe8cae050f4087"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8b67492825494c3f" /></Relationships>
</file>

<file path=ppt/slideLayouts/slideLayout1.xml><?xml version="1.0" encoding="utf-8"?>
<p:sldLayout xmlns:p="http://schemas.openxmlformats.org/presentationml/2006/main" preserve="1">
  <p:cSld name="DEFAULT">
    <p:bg>
      <p:bgRef idx="1001">
        <a:schemeClr xmlns:a="http://schemas.openxmlformats.org/drawingml/2006/main" val="bg1"/>
      </p:bgRef>
    </p:bg>
    <p:spTree>
      <p:nvGrpSpPr>
        <p:cNvPr id="1" name=""/>
        <p:cNvGrpSpPr/>
        <p:nvPr/>
      </p:nvGrpSpPr>
      <p:grpSpPr>
        <a:xfrm xmlns:a="http://schemas.openxmlformats.org/drawingml/2006/main"/>
      </p:grpSpPr>
    </p:spTree>
  </p:cSld>
</p:sldLayout>
</file>

<file path=ppt/slideLayouts/slideLayout2.xml><?xml version="1.0" encoding="utf-8"?>
<p:sldLayout xmlns:p="http://schemas.openxmlformats.org/presentationml/2006/main" preserve="1">
  <p:cSld name="LIGHT">
    <p:bg>
      <p:bgPr>
        <a:solidFill xmlns:a="http://schemas.openxmlformats.org/drawingml/2006/main">
          <a:schemeClr val="bg2"/>
        </a:solidFill>
      </p:bgPr>
    </p:bg>
    <p:spTree>
      <p:nvGrpSpPr>
        <p:cNvPr id="1" name=""/>
        <p:cNvGrpSpPr/>
        <p:nvPr/>
      </p:nvGrpSpPr>
      <p:grpSpPr>
        <a:xfrm xmlns:a="http://schemas.openxmlformats.org/drawingml/2006/main"/>
      </p:grpSpPr>
      <p:sp>
        <p:nvSpPr>
          <p:cNvPr id="2" name="Shape 0">
            <a:extLst xmlns:a="http://schemas.openxmlformats.org/drawingml/2006/main">
              <a:ext uri="{FF2B5EF4-FFF2-40B4-BE49-F238E27FC236}">
                <a16:creationId xmlns:a16="http://schemas.microsoft.com/office/drawing/2014/main" id="{EBEF9C33-2046-4140-B615-FAEB92330460}"/>
              </a:ext>
            </a:extLst>
          </p:cNvPr>
          <p:cNvSpPr>
            <a:spLocks xmlns:a="http://schemas.openxmlformats.org/drawingml/2006/main" noGrp="1"/>
          </p:cNvSpPr>
          <p:nvPr/>
        </p:nvSpPr>
        <p:spPr>
          <a:xfrm xmlns:a="http://schemas.openxmlformats.org/drawingml/2006/main">
            <a:off x="640080" y="6355080"/>
            <a:ext cx="10911535" cy="0"/>
          </a:xfrm>
          <a:prstGeom xmlns:a="http://schemas.openxmlformats.org/drawingml/2006/main" prst="line">
            <a:avLst/>
          </a:prstGeom>
          <a:noFill xmlns:a="http://schemas.openxmlformats.org/drawingml/2006/main"/>
          <a:ln xmlns:a="http://schemas.openxmlformats.org/drawingml/2006/main" w="9525">
            <a:solidFill>
              <a:srgbClr val="DDE2E7"/>
            </a:solidFill>
            <a:prstDash val="solid"/>
          </a:ln>
        </p:spPr>
      </p:sp>
      <p:sp>
        <p:nvSpPr>
          <p:cNvPr id="3" name="Text 1">
            <a:extLst xmlns:a="http://schemas.openxmlformats.org/drawingml/2006/main">
              <a:ext uri="{FF2B5EF4-FFF2-40B4-BE49-F238E27FC236}">
                <a16:creationId xmlns:a16="http://schemas.microsoft.com/office/drawing/2014/main" id="{CCDCF2E5-ED98-4FE0-83AF-5888C1747FC0}"/>
              </a:ext>
            </a:extLst>
          </p:cNvPr>
          <p:cNvSpPr>
            <a:spLocks xmlns:a="http://schemas.openxmlformats.org/drawingml/2006/main" noGrp="1"/>
          </p:cNvSpPr>
          <p:nvPr/>
        </p:nvSpPr>
        <p:spPr>
          <a:xfrm xmlns:a="http://schemas.openxmlformats.org/drawingml/2006/main">
            <a:off x="640080" y="6419088"/>
            <a:ext cx="7315200" cy="256032"/>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950">
                <a:solidFill>
                  <a:schemeClr val="accent5"/>
                </a:solidFill>
              </a:rPr>
              <a:t>Keel   FinTechathon 2026, International Track, Topic B</a:t>
            </a:r>
            <a:endParaRPr sz="950"/>
          </a:p>
        </p:txBody>
      </p:sp>
      <p:sp>
        <p:nvSpPr>
          <p:cNvPr id="4" name="Text 2">
            <a:extLst xmlns:a="http://schemas.openxmlformats.org/drawingml/2006/main">
              <a:ext uri="{FF2B5EF4-FFF2-40B4-BE49-F238E27FC236}">
                <a16:creationId xmlns:a16="http://schemas.microsoft.com/office/drawing/2014/main" id="{AC0B0679-C48A-43EF-BB9A-007EAF227596}"/>
              </a:ext>
            </a:extLst>
          </p:cNvPr>
          <p:cNvSpPr>
            <a:spLocks xmlns:a="http://schemas.openxmlformats.org/drawingml/2006/main" noGrp="1"/>
          </p:cNvSpPr>
          <p:nvPr>
            <p:ph type="title" idx="102" hasCustomPrompt="1"/>
          </p:nvPr>
        </p:nvSpPr>
        <p:spPr>
          <a:xfrm xmlns:a="http://schemas.openxmlformats.org/drawingml/2006/main">
            <a:off x="640080" y="457200"/>
            <a:ext cx="10911535" cy="731520"/>
          </a:xfrm>
          <a:prstGeom xmlns:a="http://schemas.openxmlformats.org/drawingml/2006/main" prst="rect">
            <a:avLst/>
          </a:prstGeom>
          <a:noFill xmlns:a="http://schemas.openxmlformats.org/drawingml/2006/main"/>
        </p:spPr>
        <p:txBody>
          <a:bodyPr xmlns:a="http://schemas.openxmlformats.org/drawingml/2006/main" wrap="square"/>
          <a:lstStyle xmlns:a="http://schemas.openxmlformats.org/drawingml/2006/main">
            <a:lvl1pPr marL="0" indent="0" algn="l">
              <a:buNone/>
              <a:defRPr sz="3000" b="1">
                <a:solidFill>
                  <a:schemeClr val="tx1"/>
                </a:solidFill>
                <a:latin typeface="Arial"/>
                <a:ea typeface="Arial"/>
                <a:cs typeface="Arial"/>
              </a:defRPr>
            </a:lvl1pPr>
          </a:lstStyle>
          <a:p xmlns:a="http://schemas.openxmlformats.org/drawingml/2006/main">
            <a:pPr marL="0" indent="0" algn="l">
              <a:buNone/>
            </a:pPr>
            <a:endParaRPr sz="3000"/>
          </a:p>
        </p:txBody>
      </p:sp>
      <p:sp>
        <p:nvSpPr>
          <p:cNvPr id="25" name="Slide Number Placeholder 0">
            <a:extLst xmlns:a="http://schemas.openxmlformats.org/drawingml/2006/main">
              <a:ext uri="{FF2B5EF4-FFF2-40B4-BE49-F238E27FC236}">
                <a16:creationId xmlns:a16="http://schemas.microsoft.com/office/drawing/2014/main" id="{C65B5F87-BB8D-4D11-9F18-925A179D10BF}"/>
              </a:ext>
            </a:extLst>
          </p:cNvPr>
          <p:cNvSpPr>
            <a:spLocks xmlns:a="http://schemas.openxmlformats.org/drawingml/2006/main" noGrp="1"/>
          </p:cNvSpPr>
          <p:nvPr>
            <p:ph type="sldNum" idx="4294967295"/>
          </p:nvPr>
        </p:nvSpPr>
        <p:spPr>
          <a:xfrm xmlns:a="http://schemas.openxmlformats.org/drawingml/2006/main">
            <a:off x="11002975" y="6419088"/>
            <a:ext cx="548640" cy="256032"/>
          </a:xfrm>
          <a:prstGeom xmlns:a="http://schemas.openxmlformats.org/drawingml/2006/main" prst="rect">
            <a:avLst/>
          </a:prstGeom>
        </p:spPr>
        <p:txBody>
          <a:bodyPr xmlns:a="http://schemas.openxmlformats.org/drawingml/2006/main"/>
          <a:lstStyle xmlns:a="http://schemas.openxmlformats.org/drawingml/2006/main">
            <a:lvl1pPr>
              <a:buNone/>
              <a:defRPr sz="950">
                <a:solidFill>
                  <a:schemeClr val="accent5"/>
                </a:solidFill>
              </a:defRPr>
            </a:lvl1pPr>
          </a:lstStyle>
          <a:p xmlns:a="http://schemas.openxmlformats.org/drawingml/2006/main">
            <a:pPr algn="r">
              <a:buNone/>
            </a:pPr>
            <a:fld id="{F7021451-1387-4CA6-816F-3879F97B5CBC}" type="slidenum">
              <a:rPr b="0"/>
              <a:t>1002</a:t>
            </a:fld>
            <a:endParaRPr/>
          </a:p>
        </p:txBody>
      </p:sp>
    </p:spTree>
  </p:cSld>
</p:sldLayout>
</file>

<file path=ppt/slideLayouts/slideLayout3.xml><?xml version="1.0" encoding="utf-8"?>
<p:sldLayout xmlns:p="http://schemas.openxmlformats.org/presentationml/2006/main" preserve="1">
  <p:cSld name="DARK">
    <p:bg>
      <p:bgPr>
        <a:solidFill xmlns:a="http://schemas.openxmlformats.org/drawingml/2006/main">
          <a:schemeClr val="tx2"/>
        </a:solidFill>
      </p:bgPr>
    </p:bg>
    <p:spTree>
      <p:nvGrpSpPr>
        <p:cNvPr id="1" name=""/>
        <p:cNvGrpSpPr/>
        <p:nvPr/>
      </p:nvGrpSpPr>
      <p:grpSpPr>
        <a:xfrm xmlns:a="http://schemas.openxmlformats.org/drawingml/2006/main"/>
      </p:grpSpPr>
      <p:sp>
        <p:nvSpPr>
          <p:cNvPr id="25" name="Slide Number Placeholder 0">
            <a:extLst xmlns:a="http://schemas.openxmlformats.org/drawingml/2006/main">
              <a:ext uri="{FF2B5EF4-FFF2-40B4-BE49-F238E27FC236}">
                <a16:creationId xmlns:a16="http://schemas.microsoft.com/office/drawing/2014/main" id="{05B1F098-D2EC-4DDB-A8D7-D501343AB75D}"/>
              </a:ext>
            </a:extLst>
          </p:cNvPr>
          <p:cNvSpPr>
            <a:spLocks xmlns:a="http://schemas.openxmlformats.org/drawingml/2006/main" noGrp="1"/>
          </p:cNvSpPr>
          <p:nvPr>
            <p:ph type="sldNum" idx="4294967295"/>
          </p:nvPr>
        </p:nvSpPr>
        <p:spPr>
          <a:xfrm xmlns:a="http://schemas.openxmlformats.org/drawingml/2006/main">
            <a:off x="11002975" y="6419088"/>
            <a:ext cx="548640" cy="256032"/>
          </a:xfrm>
          <a:prstGeom xmlns:a="http://schemas.openxmlformats.org/drawingml/2006/main" prst="rect">
            <a:avLst/>
          </a:prstGeom>
        </p:spPr>
        <p:txBody>
          <a:bodyPr xmlns:a="http://schemas.openxmlformats.org/drawingml/2006/main"/>
          <a:lstStyle xmlns:a="http://schemas.openxmlformats.org/drawingml/2006/main">
            <a:lvl1pPr>
              <a:buNone/>
              <a:defRPr sz="950">
                <a:solidFill>
                  <a:srgbClr val="A6B1BC"/>
                </a:solidFill>
              </a:defRPr>
            </a:lvl1pPr>
          </a:lstStyle>
          <a:p xmlns:a="http://schemas.openxmlformats.org/drawingml/2006/main">
            <a:pPr algn="r">
              <a:buNone/>
            </a:pPr>
            <a:fld id="{F7021451-1387-4CA6-816F-3879F97B5CBC}" type="slidenum">
              <a:rPr b="0"/>
              <a:t>1003</a:t>
            </a:fld>
            <a:endParaRPr/>
          </a:p>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637236bb3e0548d0" /><Relationship Type="http://schemas.openxmlformats.org/officeDocument/2006/relationships/slideLayout" Target="/ppt/slideLayouts/slideLayout1.xml" Id="R1789376248e5403d" /><Relationship Type="http://schemas.openxmlformats.org/officeDocument/2006/relationships/slideLayout" Target="/ppt/slideLayouts/slideLayout2.xml" Id="R182a7f67cdb44dec" /><Relationship Type="http://schemas.openxmlformats.org/officeDocument/2006/relationships/slideLayout" Target="/ppt/slideLayouts/slideLayout3.xml" Id="R7fbfed82c43840cd" /></Relationships>
</file>

<file path=ppt/slideMasters/slideMaster1.xml><?xml version="1.0" encoding="utf-8"?>
<p:sldMaster xmlns:p="http://schemas.openxmlformats.org/presentationml/2006/main">
  <p:cSld>
    <p:spTree>
      <p:nvGrpSpPr>
        <p:cNvPr id="1" name=""/>
        <p:cNvGrpSpPr/>
        <p:nvPr/>
      </p:nvGrpSpPr>
      <p:grpSpPr>
        <a:xfrm xmlns:a="http://schemas.openxmlformats.org/drawingml/2006/main"/>
      </p:grpSpPr>
      <p:sp>
        <p:nvSpPr>
          <p:cNvPr id="25" name="Slide Number Placeholder 0">
            <a:extLst xmlns:a="http://schemas.openxmlformats.org/drawingml/2006/main">
              <a:ext uri="{FF2B5EF4-FFF2-40B4-BE49-F238E27FC236}">
                <a16:creationId xmlns:a16="http://schemas.microsoft.com/office/drawing/2014/main" id="{ECC3EEC5-3400-4ADD-B777-14B2D2D19073}"/>
              </a:ext>
            </a:extLst>
          </p:cNvPr>
          <p:cNvSpPr>
            <a:spLocks xmlns:a="http://schemas.openxmlformats.org/drawingml/2006/main" noGrp="1"/>
          </p:cNvSpPr>
          <p:nvPr>
            <p:ph type="sldNum" idx="4294967295"/>
          </p:nvPr>
        </p:nvSpPr>
        <p:spPr>
          <a:xfrm xmlns:a="http://schemas.openxmlformats.org/drawingml/2006/main">
            <a:off x="11002975" y="6419088"/>
            <a:ext cx="548640" cy="256032"/>
          </a:xfrm>
          <a:prstGeom xmlns:a="http://schemas.openxmlformats.org/drawingml/2006/main" prst="rect">
            <a:avLst/>
          </a:prstGeom>
        </p:spPr>
        <p:txBody>
          <a:bodyPr xmlns:a="http://schemas.openxmlformats.org/drawingml/2006/main"/>
          <a:lstStyle xmlns:a="http://schemas.openxmlformats.org/drawingml/2006/main">
            <a:lvl1pPr>
              <a:buNone/>
              <a:defRPr sz="950">
                <a:solidFill>
                  <a:schemeClr val="accent5"/>
                </a:solidFill>
              </a:defRPr>
            </a:lvl1pPr>
          </a:lstStyle>
          <a:p xmlns:a="http://schemas.openxmlformats.org/drawingml/2006/main">
            <a:pPr algn="r">
              <a:buNone/>
            </a:pPr>
            <a:fld id="{F7021451-1387-4CA6-816F-3879F97B5CBC}" type="slidenum">
              <a:rPr b="0"/>
              <a:t>null</a:t>
            </a:fld>
            <a:endParaRPr/>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1789376248e5403d"/>
    <p:sldLayoutId xmlns:r="http://schemas.openxmlformats.org/officeDocument/2006/relationships" id="2147483650" r:id="R182a7f67cdb44dec"/>
    <p:sldLayoutId xmlns:r="http://schemas.openxmlformats.org/officeDocument/2006/relationships" id="2147483651" r:id="R7fbfed82c43840cd"/>
  </p:sldLayoutIdLst>
  <p:hf sldNum="0" hdr="0" ftr="0" dt="0"/>
  <p:txStyles>
    <p:titleStyle>
      <a:lvl1pPr xmlns:a="http://schemas.openxmlformats.org/drawingml/2006/main" algn="ctr" defTabSz="914400">
        <a:spcBef>
          <a:spcPct val="0"/>
        </a:spcBef>
        <a:buNone/>
        <a:defRPr sz="4400" kern="1200">
          <a:solidFill>
            <a:schemeClr val="tx1"/>
          </a:solidFill>
          <a:latin typeface="+mj-lt"/>
          <a:ea typeface="+mj-lt"/>
          <a:cs typeface="+mj-lt"/>
        </a:defRPr>
      </a:lvl1pPr>
    </p:titleStyle>
    <p:bodyStyle>
      <a:lvl1pPr xmlns:a="http://schemas.openxmlformats.org/drawingml/2006/main" marL="342900" indent="-342900" algn="l" defTabSz="914400">
        <a:spcBef>
          <a:spcPct val="20000"/>
        </a:spcBef>
        <a:buFont typeface="Arial"/>
        <a:buChar char="•"/>
        <a:defRPr sz="3200" kern="1200">
          <a:solidFill>
            <a:schemeClr val="tx1"/>
          </a:solidFill>
          <a:latin typeface="+mn-lt"/>
          <a:ea typeface="+mn-lt"/>
          <a:cs typeface="+mn-lt"/>
        </a:defRPr>
      </a:lvl1pPr>
      <a:lvl2pPr xmlns:a="http://schemas.openxmlformats.org/drawingml/2006/main" marL="742950" indent="-285750" algn="l" defTabSz="914400">
        <a:spcBef>
          <a:spcPct val="20000"/>
        </a:spcBef>
        <a:buFont typeface="Arial"/>
        <a:buChar char="–"/>
        <a:defRPr sz="2800" kern="1200">
          <a:solidFill>
            <a:schemeClr val="tx1"/>
          </a:solidFill>
          <a:latin typeface="+mn-lt"/>
          <a:ea typeface="+mn-lt"/>
          <a:cs typeface="+mn-lt"/>
        </a:defRPr>
      </a:lvl2pPr>
      <a:lvl3pPr xmlns:a="http://schemas.openxmlformats.org/drawingml/2006/main" marL="1143000" indent="-228600" algn="l" defTabSz="914400">
        <a:spcBef>
          <a:spcPct val="20000"/>
        </a:spcBef>
        <a:buFont typeface="Arial"/>
        <a:buChar char="•"/>
        <a:defRPr sz="2400" kern="1200">
          <a:solidFill>
            <a:schemeClr val="tx1"/>
          </a:solidFill>
          <a:latin typeface="+mn-lt"/>
          <a:ea typeface="+mn-lt"/>
          <a:cs typeface="+mn-lt"/>
        </a:defRPr>
      </a:lvl3pPr>
      <a:lvl4pPr xmlns:a="http://schemas.openxmlformats.org/drawingml/2006/main" marL="1600200" indent="-228600" algn="l" defTabSz="914400">
        <a:spcBef>
          <a:spcPct val="20000"/>
        </a:spcBef>
        <a:buFont typeface="Arial"/>
        <a:buChar char="–"/>
        <a:defRPr sz="2000" kern="1200">
          <a:solidFill>
            <a:schemeClr val="tx1"/>
          </a:solidFill>
          <a:latin typeface="+mn-lt"/>
          <a:ea typeface="+mn-lt"/>
          <a:cs typeface="+mn-lt"/>
        </a:defRPr>
      </a:lvl4pPr>
      <a:lvl5pPr xmlns:a="http://schemas.openxmlformats.org/drawingml/2006/main" marL="2057400" indent="-228600" algn="l" defTabSz="914400">
        <a:spcBef>
          <a:spcPct val="20000"/>
        </a:spcBef>
        <a:buFont typeface="Arial"/>
        <a:buChar char="»"/>
        <a:defRPr sz="2000" kern="1200">
          <a:solidFill>
            <a:schemeClr val="tx1"/>
          </a:solidFill>
          <a:latin typeface="+mn-lt"/>
          <a:ea typeface="+mn-lt"/>
          <a:cs typeface="+mn-lt"/>
        </a:defRPr>
      </a:lvl5pPr>
      <a:lvl6pPr xmlns:a="http://schemas.openxmlformats.org/drawingml/2006/main" marL="2514600" indent="-228600" algn="l" defTabSz="914400">
        <a:spcBef>
          <a:spcPct val="20000"/>
        </a:spcBef>
        <a:buFont typeface="Arial"/>
        <a:buChar char="•"/>
        <a:defRPr sz="2000" kern="1200">
          <a:solidFill>
            <a:schemeClr val="tx1"/>
          </a:solidFill>
          <a:latin typeface="+mn-lt"/>
          <a:ea typeface="+mn-lt"/>
          <a:cs typeface="+mn-lt"/>
        </a:defRPr>
      </a:lvl6pPr>
      <a:lvl7pPr xmlns:a="http://schemas.openxmlformats.org/drawingml/2006/main" marL="2971800" indent="-228600" algn="l" defTabSz="914400">
        <a:spcBef>
          <a:spcPct val="20000"/>
        </a:spcBef>
        <a:buFont typeface="Arial"/>
        <a:buChar char="•"/>
        <a:defRPr sz="2000" kern="1200">
          <a:solidFill>
            <a:schemeClr val="tx1"/>
          </a:solidFill>
          <a:latin typeface="+mn-lt"/>
          <a:ea typeface="+mn-lt"/>
          <a:cs typeface="+mn-lt"/>
        </a:defRPr>
      </a:lvl7pPr>
      <a:lvl8pPr xmlns:a="http://schemas.openxmlformats.org/drawingml/2006/main" marL="3429000" indent="-228600" algn="l" defTabSz="914400">
        <a:spcBef>
          <a:spcPct val="20000"/>
        </a:spcBef>
        <a:buFont typeface="Arial"/>
        <a:buChar char="•"/>
        <a:defRPr sz="2000" kern="1200">
          <a:solidFill>
            <a:schemeClr val="tx1"/>
          </a:solidFill>
          <a:latin typeface="+mn-lt"/>
          <a:ea typeface="+mn-lt"/>
          <a:cs typeface="+mn-lt"/>
        </a:defRPr>
      </a:lvl8pPr>
      <a:lvl9pPr xmlns:a="http://schemas.openxmlformats.org/drawingml/2006/main" marL="3886200" indent="-228600" algn="l" defTabSz="914400">
        <a:spcBef>
          <a:spcPct val="20000"/>
        </a:spcBef>
        <a:buFont typeface="Arial"/>
        <a:buChar char="•"/>
        <a:defRPr sz="20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Keel">
  <a:themeElements>
    <a:clrScheme name="Keel">
      <a:dk1>
        <a:srgbClr val="0F1B26"/>
      </a:dk1>
      <a:lt1>
        <a:srgbClr val="FFFFFF"/>
      </a:lt1>
      <a:dk2>
        <a:srgbClr val="0A1016"/>
      </a:dk2>
      <a:lt2>
        <a:srgbClr val="F5F6F7"/>
      </a:lt2>
      <a:accent1>
        <a:srgbClr val="23476B"/>
      </a:accent1>
      <a:accent2>
        <a:srgbClr val="8A6420"/>
      </a:accent2>
      <a:accent3>
        <a:srgbClr val="0F9A8C"/>
      </a:accent3>
      <a:accent4>
        <a:srgbClr val="C9623A"/>
      </a:accent4>
      <a:accent5>
        <a:srgbClr val="5A6773"/>
      </a:accent5>
      <a:accent6>
        <a:srgbClr val="C9A45C"/>
      </a:accent6>
      <a:hlink>
        <a:srgbClr val="23476B"/>
      </a:hlink>
      <a:folHlink>
        <a:srgbClr val="6E4F16"/>
      </a:folHlink>
    </a:clrScheme>
    <a:fontScheme name="Keel">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Keel">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3.xml" Id="R32736f07d014431d" /><Relationship Type="http://schemas.openxmlformats.org/officeDocument/2006/relationships/image" Target="/ppt/media/image.png" Id="Rf9f33b2536c3419d" /><Relationship Type="http://schemas.openxmlformats.org/officeDocument/2006/relationships/notesSlide" Target="/ppt/notesSlides/notesSlide1.xml" Id="Rebb987627316408e" /></Relationships>
</file>

<file path=ppt/slides/_rels/slide2.xml.rels>&#65279;<?xml version="1.0" encoding="utf-8"?><Relationships xmlns="http://schemas.openxmlformats.org/package/2006/relationships"><Relationship Type="http://schemas.openxmlformats.org/officeDocument/2006/relationships/slideLayout" Target="/ppt/slideLayouts/slideLayout2.xml" Id="R91dafd2c0b1e42b8" /><Relationship Type="http://schemas.openxmlformats.org/officeDocument/2006/relationships/notesSlide" Target="/ppt/notesSlides/notesSlide2.xml" Id="Rd6604ba1883e44f6" /></Relationships>
</file>

<file path=ppt/slides/_rels/slide3.xml.rels>&#65279;<?xml version="1.0" encoding="utf-8"?><Relationships xmlns="http://schemas.openxmlformats.org/package/2006/relationships"><Relationship Type="http://schemas.openxmlformats.org/officeDocument/2006/relationships/slideLayout" Target="/ppt/slideLayouts/slideLayout3.xml" Id="R7e0b192ab19e4423" /><Relationship Type="http://schemas.openxmlformats.org/officeDocument/2006/relationships/notesSlide" Target="/ppt/notesSlides/notesSlide3.xml" Id="Rbe1a97697c7f4be7" /></Relationships>
</file>

<file path=ppt/slides/_rels/slide4.xml.rels>&#65279;<?xml version="1.0" encoding="utf-8"?><Relationships xmlns="http://schemas.openxmlformats.org/package/2006/relationships"><Relationship Type="http://schemas.openxmlformats.org/officeDocument/2006/relationships/slideLayout" Target="/ppt/slideLayouts/slideLayout2.xml" Id="R6dcd5b0851a345d0" /><Relationship Type="http://schemas.openxmlformats.org/officeDocument/2006/relationships/image" Target="/ppt/media/image2.png" Id="Rea52f5c1a1424481" /><Relationship Type="http://schemas.openxmlformats.org/officeDocument/2006/relationships/notesSlide" Target="/ppt/notesSlides/notesSlide4.xml" Id="Rdf8db31fe18e4d62" /></Relationships>
</file>

<file path=ppt/slides/_rels/slide5.xml.rels>&#65279;<?xml version="1.0" encoding="utf-8"?><Relationships xmlns="http://schemas.openxmlformats.org/package/2006/relationships"><Relationship Type="http://schemas.openxmlformats.org/officeDocument/2006/relationships/slideLayout" Target="/ppt/slideLayouts/slideLayout2.xml" Id="R21605079796941eb" /><Relationship Type="http://schemas.openxmlformats.org/officeDocument/2006/relationships/image" Target="/ppt/media/image3.png" Id="R8a46b4acc04c4d38" /><Relationship Type="http://schemas.openxmlformats.org/officeDocument/2006/relationships/notesSlide" Target="/ppt/notesSlides/notesSlide5.xml" Id="R2f86d77877b040a8" /></Relationships>
</file>

<file path=ppt/slides/_rels/slide6.xml.rels>&#65279;<?xml version="1.0" encoding="utf-8"?><Relationships xmlns="http://schemas.openxmlformats.org/package/2006/relationships"><Relationship Type="http://schemas.openxmlformats.org/officeDocument/2006/relationships/slideLayout" Target="/ppt/slideLayouts/slideLayout2.xml" Id="R861de1cf3e3043d7" /><Relationship Type="http://schemas.openxmlformats.org/officeDocument/2006/relationships/notesSlide" Target="/ppt/notesSlides/notesSlide6.xml" Id="R6071f54915cc458d" /></Relationships>
</file>

<file path=ppt/slides/_rels/slide7.xml.rels>&#65279;<?xml version="1.0" encoding="utf-8"?><Relationships xmlns="http://schemas.openxmlformats.org/package/2006/relationships"><Relationship Type="http://schemas.openxmlformats.org/officeDocument/2006/relationships/slideLayout" Target="/ppt/slideLayouts/slideLayout2.xml" Id="Raf7403d9a00d4e11" /><Relationship Type="http://schemas.openxmlformats.org/officeDocument/2006/relationships/notesSlide" Target="/ppt/notesSlides/notesSlide7.xml" Id="R5f425b28e19f4152" /></Relationships>
</file>

<file path=ppt/slides/_rels/slide8.xml.rels>&#65279;<?xml version="1.0" encoding="utf-8"?><Relationships xmlns="http://schemas.openxmlformats.org/package/2006/relationships"><Relationship Type="http://schemas.openxmlformats.org/officeDocument/2006/relationships/slideLayout" Target="/ppt/slideLayouts/slideLayout2.xml" Id="Rda468c46c2d748ee" /><Relationship Type="http://schemas.openxmlformats.org/officeDocument/2006/relationships/notesSlide" Target="/ppt/notesSlides/notesSlide8.xml" Id="R2ba4558f786d46c8" /></Relationships>
</file>

<file path=ppt/slides/_rels/slide9.xml.rels>&#65279;<?xml version="1.0" encoding="utf-8"?><Relationships xmlns="http://schemas.openxmlformats.org/package/2006/relationships"><Relationship Type="http://schemas.openxmlformats.org/officeDocument/2006/relationships/slideLayout" Target="/ppt/slideLayouts/slideLayout2.xml" Id="Re2f4b50ca29b4466" /><Relationship Type="http://schemas.openxmlformats.org/officeDocument/2006/relationships/notesSlide" Target="/ppt/notesSlides/notesSlide9.xml" Id="Rbce39b2326244627" /></Relationships>
</file>

<file path=ppt/slides/_rels/slide10.xml.rels>&#65279;<?xml version="1.0" encoding="utf-8"?><Relationships xmlns="http://schemas.openxmlformats.org/package/2006/relationships"><Relationship Type="http://schemas.openxmlformats.org/officeDocument/2006/relationships/slideLayout" Target="/ppt/slideLayouts/slideLayout2.xml" Id="R1cb2d808a8744989" /><Relationship Type="http://schemas.openxmlformats.org/officeDocument/2006/relationships/image" Target="/ppt/media/image4.png" Id="Rc480e0d4a6ec41be" /><Relationship Type="http://schemas.openxmlformats.org/officeDocument/2006/relationships/notesSlide" Target="/ppt/notesSlides/notesSlide10.xml" Id="Rd0d93fa0947a462d" /></Relationships>
</file>

<file path=ppt/slides/_rels/slide11.xml.rels>&#65279;<?xml version="1.0" encoding="utf-8"?><Relationships xmlns="http://schemas.openxmlformats.org/package/2006/relationships"><Relationship Type="http://schemas.openxmlformats.org/officeDocument/2006/relationships/slideLayout" Target="/ppt/slideLayouts/slideLayout2.xml" Id="R212e791e6582452d" /><Relationship Type="http://schemas.openxmlformats.org/officeDocument/2006/relationships/notesSlide" Target="/ppt/notesSlides/notesSlide11.xml" Id="R573a7e8ecd454dce" /></Relationships>
</file>

<file path=ppt/slides/_rels/slide12.xml.rels>&#65279;<?xml version="1.0" encoding="utf-8"?><Relationships xmlns="http://schemas.openxmlformats.org/package/2006/relationships"><Relationship Type="http://schemas.openxmlformats.org/officeDocument/2006/relationships/slideLayout" Target="/ppt/slideLayouts/slideLayout3.xml" Id="R81caf93cf20d4b6e" /><Relationship Type="http://schemas.openxmlformats.org/officeDocument/2006/relationships/image" Target="/ppt/media/image5.png" Id="R55564371f16b4077" /><Relationship Type="http://schemas.openxmlformats.org/officeDocument/2006/relationships/notesSlide" Target="/ppt/notesSlides/notesSlide12.xml" Id="Raeee6f5edea7402f"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pic>
        <p:nvPicPr>
          <p:cNvPr id="2" name="logo">
            <a:extLst xmlns:a="http://schemas.openxmlformats.org/drawingml/2006/main">
              <a:ext uri="{FF2B5EF4-FFF2-40B4-BE49-F238E27FC236}">
                <a16:creationId xmlns:a16="http://schemas.microsoft.com/office/drawing/2014/main" id="{B93BD993-9FD3-42ED-9E6A-F725C1209002}"/>
              </a:ext>
            </a:extLst>
          </p:cNvPr>
          <p:cNvPicPr>
            <a:picLocks xmlns:a="http://schemas.openxmlformats.org/drawingml/2006/main" noChangeAspect="1"/>
          </p:cNvPicPr>
          <p:nvPr/>
        </p:nvPicPr>
        <p:blipFill>
          <a:blip xmlns:r="http://schemas.openxmlformats.org/officeDocument/2006/relationships" xmlns:a="http://schemas.openxmlformats.org/drawingml/2006/main" r:embed="Rf9f33b2536c3419d"/>
          <a:stretch xmlns:a="http://schemas.openxmlformats.org/drawingml/2006/main">
            <a:fillRect l="0" t="0" r="0" b="0"/>
          </a:stretch>
        </p:blipFill>
        <p:spPr>
          <a:xfrm xmlns:a="http://schemas.openxmlformats.org/drawingml/2006/main">
            <a:off x="640080" y="640080"/>
            <a:ext cx="457200" cy="457200"/>
          </a:xfrm>
          <a:prstGeom xmlns:a="http://schemas.openxmlformats.org/drawingml/2006/main" prst="rect">
            <a:avLst/>
          </a:prstGeom>
        </p:spPr>
      </p:pic>
      <p:sp>
        <p:nvSpPr>
          <p:cNvPr id="3" name="Text 0">
            <a:extLst xmlns:a="http://schemas.openxmlformats.org/drawingml/2006/main">
              <a:ext uri="{FF2B5EF4-FFF2-40B4-BE49-F238E27FC236}">
                <a16:creationId xmlns:a16="http://schemas.microsoft.com/office/drawing/2014/main" id="{BF6C0BA6-AFA7-4176-B55A-91760798AC9E}"/>
              </a:ext>
            </a:extLst>
          </p:cNvPr>
          <p:cNvSpPr>
            <a:spLocks xmlns:a="http://schemas.openxmlformats.org/drawingml/2006/main" noGrp="1"/>
          </p:cNvSpPr>
          <p:nvPr/>
        </p:nvSpPr>
        <p:spPr>
          <a:xfrm xmlns:a="http://schemas.openxmlformats.org/drawingml/2006/main">
            <a:off x="1261872" y="640080"/>
            <a:ext cx="2743200" cy="45720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2200" b="1">
                <a:solidFill>
                  <a:schemeClr val="bg1"/>
                </a:solidFill>
                <a:latin typeface="Arial"/>
                <a:ea typeface="Arial"/>
                <a:cs typeface="Arial"/>
              </a:rPr>
              <a:t>Keel</a:t>
            </a:r>
            <a:endParaRPr sz="2200"/>
          </a:p>
        </p:txBody>
      </p:sp>
      <p:sp>
        <p:nvSpPr>
          <p:cNvPr id="4" name="Text 1">
            <a:extLst xmlns:a="http://schemas.openxmlformats.org/drawingml/2006/main">
              <a:ext uri="{FF2B5EF4-FFF2-40B4-BE49-F238E27FC236}">
                <a16:creationId xmlns:a16="http://schemas.microsoft.com/office/drawing/2014/main" id="{B35A20D1-2FB4-4762-BE8F-1F2E3A33AA54}"/>
              </a:ext>
            </a:extLst>
          </p:cNvPr>
          <p:cNvSpPr>
            <a:spLocks xmlns:a="http://schemas.openxmlformats.org/drawingml/2006/main" noGrp="1"/>
          </p:cNvSpPr>
          <p:nvPr/>
        </p:nvSpPr>
        <p:spPr>
          <a:xfrm xmlns:a="http://schemas.openxmlformats.org/drawingml/2006/main">
            <a:off x="640080" y="1920240"/>
            <a:ext cx="10241280" cy="2194560"/>
          </a:xfrm>
          <a:prstGeom xmlns:a="http://schemas.openxmlformats.org/drawingml/2006/main" prst="rect">
            <a:avLst/>
          </a:prstGeom>
          <a:noFill xmlns:a="http://schemas.openxmlformats.org/drawingml/2006/main"/>
        </p:spPr>
        <p:txBody>
          <a:bodyPr xmlns:a="http://schemas.openxmlformats.org/drawingml/2006/main" wrap="square" lIns="0" tIns="0" rIns="0" bIns="0" anchor="b"/>
          <a:lstStyle xmlns:a="http://schemas.openxmlformats.org/drawingml/2006/main"/>
          <a:p xmlns:a="http://schemas.openxmlformats.org/drawingml/2006/main">
            <a:pPr marL="0" indent="0">
              <a:lnSpc>
                <a:spcPct val="95000"/>
              </a:lnSpc>
              <a:buNone/>
            </a:pPr>
            <a:r>
              <a:rPr sz="4400" b="1">
                <a:solidFill>
                  <a:schemeClr val="bg1"/>
                </a:solidFill>
                <a:latin typeface="Arial"/>
                <a:ea typeface="Arial"/>
                <a:cs typeface="Arial"/>
              </a:rPr>
              <a:t>An AI wealth advisor that lets clients live through a crash before they invest, and can prove every number it shows.</a:t>
            </a:r>
            <a:endParaRPr sz="4400"/>
          </a:p>
        </p:txBody>
      </p:sp>
      <p:sp>
        <p:nvSpPr>
          <p:cNvPr id="5" name="cover-rule">
            <a:extLst xmlns:a="http://schemas.openxmlformats.org/drawingml/2006/main">
              <a:ext uri="{FF2B5EF4-FFF2-40B4-BE49-F238E27FC236}">
                <a16:creationId xmlns:a16="http://schemas.microsoft.com/office/drawing/2014/main" id="{2F8BEA9C-DC09-406D-B322-20A0BCF36DA4}"/>
              </a:ext>
            </a:extLst>
          </p:cNvPr>
          <p:cNvSpPr>
            <a:spLocks xmlns:a="http://schemas.openxmlformats.org/drawingml/2006/main" noGrp="1"/>
          </p:cNvSpPr>
          <p:nvPr/>
        </p:nvSpPr>
        <p:spPr>
          <a:xfrm xmlns:a="http://schemas.openxmlformats.org/drawingml/2006/main">
            <a:off x="640080" y="5257800"/>
            <a:ext cx="10911535" cy="0"/>
          </a:xfrm>
          <a:prstGeom xmlns:a="http://schemas.openxmlformats.org/drawingml/2006/main" prst="line">
            <a:avLst/>
          </a:prstGeom>
          <a:noFill xmlns:a="http://schemas.openxmlformats.org/drawingml/2006/main"/>
          <a:ln xmlns:a="http://schemas.openxmlformats.org/drawingml/2006/main" w="9525">
            <a:solidFill>
              <a:srgbClr val="2E3F4E"/>
            </a:solidFill>
            <a:prstDash val="solid"/>
          </a:ln>
        </p:spPr>
      </p:sp>
      <p:sp>
        <p:nvSpPr>
          <p:cNvPr id="6" name="Text 3">
            <a:extLst xmlns:a="http://schemas.openxmlformats.org/drawingml/2006/main">
              <a:ext uri="{FF2B5EF4-FFF2-40B4-BE49-F238E27FC236}">
                <a16:creationId xmlns:a16="http://schemas.microsoft.com/office/drawing/2014/main" id="{88DBD95D-C5AE-46FA-B796-344759553A51}"/>
              </a:ext>
            </a:extLst>
          </p:cNvPr>
          <p:cNvSpPr>
            <a:spLocks xmlns:a="http://schemas.openxmlformats.org/drawingml/2006/main" noGrp="1"/>
          </p:cNvSpPr>
          <p:nvPr/>
        </p:nvSpPr>
        <p:spPr>
          <a:xfrm xmlns:a="http://schemas.openxmlformats.org/drawingml/2006/main">
            <a:off x="640080" y="5440680"/>
            <a:ext cx="1051560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120000"/>
              </a:lnSpc>
              <a:buNone/>
            </a:pPr>
            <a:r>
              <a:rPr sz="1400">
                <a:solidFill>
                  <a:srgbClr val="A6B1BC"/>
                </a:solidFill>
                <a:latin typeface="Arial"/>
                <a:ea typeface="Arial"/>
                <a:cs typeface="Arial"/>
              </a:rPr>
              <a:t>2026 Shenzhen International FinTech Competition, International Track, Topic B: Wealth Advisory Agent</a:t>
            </a:r>
            <a:endParaRPr sz="1400"/>
          </a:p>
          <a:p xmlns:a="http://schemas.openxmlformats.org/drawingml/2006/main">
            <a:pPr marL="0" indent="0">
              <a:lnSpc>
                <a:spcPct val="120000"/>
              </a:lnSpc>
              <a:buNone/>
            </a:pPr>
            <a:r>
              <a:rPr sz="1400">
                <a:solidFill>
                  <a:srgbClr val="A6B1BC"/>
                </a:solidFill>
                <a:latin typeface="Arial"/>
                <a:ea typeface="Arial"/>
                <a:cs typeface="Arial"/>
              </a:rPr>
              <a:t>Team Keel   Westminster International University in Tashkent</a:t>
            </a:r>
            <a:endParaRPr sz="1400"/>
          </a:p>
        </p:txBody>
      </p:sp>
      <p:sp>
        <p:nvSpPr>
          <p:cNvPr id="25" name="Slide Number Placeholder 0">
            <a:extLst xmlns:a="http://schemas.openxmlformats.org/drawingml/2006/main">
              <a:ext uri="{FF2B5EF4-FFF2-40B4-BE49-F238E27FC236}">
                <a16:creationId xmlns:a16="http://schemas.microsoft.com/office/drawing/2014/main" id="{7D9EC160-EAB7-40FF-936B-71F87AF63254}"/>
              </a:ext>
            </a:extLst>
          </p:cNvPr>
          <p:cNvSpPr>
            <a:spLocks xmlns:a="http://schemas.openxmlformats.org/drawingml/2006/main" noGrp="1"/>
          </p:cNvSpPr>
          <p:nvPr>
            <p:ph type="sldNum" idx="4294967295"/>
          </p:nvPr>
        </p:nvSpPr>
        <p:spPr>
          <a:xfrm xmlns:a="http://schemas.openxmlformats.org/drawingml/2006/main">
            <a:off x="11002975" y="6419088"/>
            <a:ext cx="548640" cy="256032"/>
          </a:xfrm>
          <a:prstGeom xmlns:a="http://schemas.openxmlformats.org/drawingml/2006/main" prst="rect">
            <a:avLst/>
          </a:prstGeom>
        </p:spPr>
        <p:txBody>
          <a:bodyPr xmlns:a="http://schemas.openxmlformats.org/drawingml/2006/main"/>
          <a:lstStyle xmlns:a="http://schemas.openxmlformats.org/drawingml/2006/main">
            <a:lvl1pPr>
              <a:buNone/>
              <a:defRPr sz="950">
                <a:solidFill>
                  <a:srgbClr val="A6B1BC"/>
                </a:solidFill>
              </a:defRPr>
            </a:lvl1pPr>
          </a:lstStyle>
          <a:p xmlns:a="http://schemas.openxmlformats.org/drawingml/2006/main">
            <a:pPr algn="r">
              <a:buNone/>
            </a:pPr>
            <a:fld id="{F7021451-1387-4CA6-816F-3879F97B5CBC}" type="slidenum">
              <a:rPr b="0"/>
              <a:t>1</a:t>
            </a:fld>
            <a:endParaRPr/>
          </a:p>
        </p:txBody>
      </p:sp>
    </p:spTree>
    <p:extLst>
      <p:ext uri="{BB962C8B-B14F-4D97-AF65-F5344CB8AC3E}">
        <p14:creationId xmlns:p14="http://schemas.microsoft.com/office/powerpoint/2010/main" val="1812633397"/>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2" name="Text 2">
            <a:extLst xmlns:a="http://schemas.openxmlformats.org/drawingml/2006/main">
              <a:ext uri="{FF2B5EF4-FFF2-40B4-BE49-F238E27FC236}">
                <a16:creationId xmlns:a16="http://schemas.microsoft.com/office/drawing/2014/main" id="{E3E24173-BD0F-4068-B391-BCCDB3EA6F58}"/>
              </a:ext>
            </a:extLst>
          </p:cNvPr>
          <p:cNvSpPr>
            <a:spLocks xmlns:a="http://schemas.openxmlformats.org/drawingml/2006/main" noGrp="1"/>
          </p:cNvSpPr>
          <p:nvPr>
            <p:ph type="title" idx="102" hasCustomPrompt="1"/>
          </p:nvPr>
        </p:nvSpPr>
        <p:spPr>
          <a:xfrm xmlns:a="http://schemas.openxmlformats.org/drawingml/2006/main">
            <a:off x="640080" y="457200"/>
            <a:ext cx="10911535" cy="7315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buNone/>
            </a:pPr>
            <a:r>
              <a:rPr sz="3000" b="1">
                <a:solidFill>
                  <a:schemeClr val="tx1"/>
                </a:solidFill>
                <a:latin typeface="Arial"/>
                <a:ea typeface="Arial"/>
                <a:cs typeface="Arial"/>
              </a:rPr>
              <a:t>Advice fails at the moment it matters</a:t>
            </a:r>
            <a:endParaRPr sz="3000"/>
          </a:p>
        </p:txBody>
      </p:sp>
      <p:sp>
        <p:nvSpPr>
          <p:cNvPr id="3" name="Text 1">
            <a:extLst xmlns:a="http://schemas.openxmlformats.org/drawingml/2006/main">
              <a:ext uri="{FF2B5EF4-FFF2-40B4-BE49-F238E27FC236}">
                <a16:creationId xmlns:a16="http://schemas.microsoft.com/office/drawing/2014/main" id="{03B7E788-D60F-45EA-8E28-D1605D0B64BE}"/>
              </a:ext>
            </a:extLst>
          </p:cNvPr>
          <p:cNvSpPr>
            <a:spLocks xmlns:a="http://schemas.openxmlformats.org/drawingml/2006/main" noGrp="1"/>
          </p:cNvSpPr>
          <p:nvPr/>
        </p:nvSpPr>
        <p:spPr>
          <a:xfrm xmlns:a="http://schemas.openxmlformats.org/drawingml/2006/main">
            <a:off x="640080" y="1600200"/>
            <a:ext cx="2905658"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400" b="1">
                <a:solidFill>
                  <a:schemeClr val="accent2"/>
                </a:solidFill>
                <a:latin typeface="Arial"/>
                <a:ea typeface="Arial"/>
                <a:cs typeface="Arial"/>
              </a:rPr>
              <a:t>Questionnaires</a:t>
            </a:r>
            <a:endParaRPr sz="1400"/>
          </a:p>
        </p:txBody>
      </p:sp>
      <p:sp>
        <p:nvSpPr>
          <p:cNvPr id="4" name="Text 2">
            <a:extLst xmlns:a="http://schemas.openxmlformats.org/drawingml/2006/main">
              <a:ext uri="{FF2B5EF4-FFF2-40B4-BE49-F238E27FC236}">
                <a16:creationId xmlns:a16="http://schemas.microsoft.com/office/drawing/2014/main" id="{F667279D-8222-42D5-9F74-E00A9F250D10}"/>
              </a:ext>
            </a:extLst>
          </p:cNvPr>
          <p:cNvSpPr>
            <a:spLocks xmlns:a="http://schemas.openxmlformats.org/drawingml/2006/main" noGrp="1"/>
          </p:cNvSpPr>
          <p:nvPr/>
        </p:nvSpPr>
        <p:spPr>
          <a:xfrm xmlns:a="http://schemas.openxmlformats.org/drawingml/2006/main">
            <a:off x="640080" y="2103120"/>
            <a:ext cx="2905658" cy="17373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100000"/>
              </a:lnSpc>
              <a:buNone/>
            </a:pPr>
            <a:r>
              <a:rPr sz="2400" b="1">
                <a:solidFill>
                  <a:schemeClr val="tx1"/>
                </a:solidFill>
                <a:latin typeface="Arial"/>
                <a:ea typeface="Arial"/>
                <a:cs typeface="Arial"/>
              </a:rPr>
              <a:t>Clients pick the answers that unlock the product they want.</a:t>
            </a:r>
            <a:endParaRPr sz="2400"/>
          </a:p>
        </p:txBody>
      </p:sp>
      <p:sp>
        <p:nvSpPr>
          <p:cNvPr id="5" name="Text 3">
            <a:extLst xmlns:a="http://schemas.openxmlformats.org/drawingml/2006/main">
              <a:ext uri="{FF2B5EF4-FFF2-40B4-BE49-F238E27FC236}">
                <a16:creationId xmlns:a16="http://schemas.microsoft.com/office/drawing/2014/main" id="{2BAE13AF-97A2-45A9-9275-FD277DC9511F}"/>
              </a:ext>
            </a:extLst>
          </p:cNvPr>
          <p:cNvSpPr>
            <a:spLocks xmlns:a="http://schemas.openxmlformats.org/drawingml/2006/main" noGrp="1"/>
          </p:cNvSpPr>
          <p:nvPr/>
        </p:nvSpPr>
        <p:spPr>
          <a:xfrm xmlns:a="http://schemas.openxmlformats.org/drawingml/2006/main">
            <a:off x="640080" y="3977640"/>
            <a:ext cx="2905658" cy="14630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600">
                <a:solidFill>
                  <a:schemeClr val="accent5"/>
                </a:solidFill>
                <a:latin typeface="Arial"/>
                <a:ea typeface="Arial"/>
                <a:cs typeface="Arial"/>
              </a:rPr>
              <a:t>Then they sell at the bottom of the first crash and lose money they would have kept by holding.</a:t>
            </a:r>
            <a:endParaRPr sz="1600"/>
          </a:p>
        </p:txBody>
      </p:sp>
      <p:sp>
        <p:nvSpPr>
          <p:cNvPr id="6" name="problem-divider-1">
            <a:extLst xmlns:a="http://schemas.openxmlformats.org/drawingml/2006/main">
              <a:ext uri="{FF2B5EF4-FFF2-40B4-BE49-F238E27FC236}">
                <a16:creationId xmlns:a16="http://schemas.microsoft.com/office/drawing/2014/main" id="{66BFB070-BD6A-422D-9B6A-78EBEB95D0EA}"/>
              </a:ext>
            </a:extLst>
          </p:cNvPr>
          <p:cNvSpPr>
            <a:spLocks xmlns:a="http://schemas.openxmlformats.org/drawingml/2006/main" noGrp="1"/>
          </p:cNvSpPr>
          <p:nvPr/>
        </p:nvSpPr>
        <p:spPr>
          <a:xfrm xmlns:a="http://schemas.openxmlformats.org/drawingml/2006/main">
            <a:off x="4277258" y="1600200"/>
            <a:ext cx="0" cy="3931920"/>
          </a:xfrm>
          <a:prstGeom xmlns:a="http://schemas.openxmlformats.org/drawingml/2006/main" prst="line">
            <a:avLst/>
          </a:prstGeom>
          <a:noFill xmlns:a="http://schemas.openxmlformats.org/drawingml/2006/main"/>
          <a:ln xmlns:a="http://schemas.openxmlformats.org/drawingml/2006/main" w="9525">
            <a:solidFill>
              <a:srgbClr val="DDE2E7"/>
            </a:solidFill>
            <a:prstDash val="solid"/>
          </a:ln>
        </p:spPr>
      </p:sp>
      <p:sp>
        <p:nvSpPr>
          <p:cNvPr id="7" name="Text 5">
            <a:extLst xmlns:a="http://schemas.openxmlformats.org/drawingml/2006/main">
              <a:ext uri="{FF2B5EF4-FFF2-40B4-BE49-F238E27FC236}">
                <a16:creationId xmlns:a16="http://schemas.microsoft.com/office/drawing/2014/main" id="{D441C400-78B0-49DB-9A4A-A470EC55526F}"/>
              </a:ext>
            </a:extLst>
          </p:cNvPr>
          <p:cNvSpPr>
            <a:spLocks xmlns:a="http://schemas.openxmlformats.org/drawingml/2006/main" noGrp="1"/>
          </p:cNvSpPr>
          <p:nvPr/>
        </p:nvSpPr>
        <p:spPr>
          <a:xfrm xmlns:a="http://schemas.openxmlformats.org/drawingml/2006/main">
            <a:off x="4643018" y="1600200"/>
            <a:ext cx="2905658"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400" b="1">
                <a:solidFill>
                  <a:schemeClr val="accent2"/>
                </a:solidFill>
                <a:latin typeface="Arial"/>
                <a:ea typeface="Arial"/>
                <a:cs typeface="Arial"/>
              </a:rPr>
              <a:t>AI advisors</a:t>
            </a:r>
            <a:endParaRPr sz="1400"/>
          </a:p>
        </p:txBody>
      </p:sp>
      <p:sp>
        <p:nvSpPr>
          <p:cNvPr id="8" name="Text 6">
            <a:extLst xmlns:a="http://schemas.openxmlformats.org/drawingml/2006/main">
              <a:ext uri="{FF2B5EF4-FFF2-40B4-BE49-F238E27FC236}">
                <a16:creationId xmlns:a16="http://schemas.microsoft.com/office/drawing/2014/main" id="{AFCE324C-5270-4108-AEF6-65B06978E629}"/>
              </a:ext>
            </a:extLst>
          </p:cNvPr>
          <p:cNvSpPr>
            <a:spLocks xmlns:a="http://schemas.openxmlformats.org/drawingml/2006/main" noGrp="1"/>
          </p:cNvSpPr>
          <p:nvPr/>
        </p:nvSpPr>
        <p:spPr>
          <a:xfrm xmlns:a="http://schemas.openxmlformats.org/drawingml/2006/main">
            <a:off x="4643018" y="2103120"/>
            <a:ext cx="2905658" cy="17373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100000"/>
              </a:lnSpc>
              <a:buNone/>
            </a:pPr>
            <a:r>
              <a:rPr sz="2400" b="1">
                <a:solidFill>
                  <a:schemeClr val="tx1"/>
                </a:solidFill>
                <a:latin typeface="Arial"/>
                <a:ea typeface="Arial"/>
                <a:cs typeface="Arial"/>
              </a:rPr>
              <a:t>Language models invent figures and can be talked into anything.</a:t>
            </a:r>
            <a:endParaRPr sz="2400"/>
          </a:p>
        </p:txBody>
      </p:sp>
      <p:sp>
        <p:nvSpPr>
          <p:cNvPr id="9" name="Text 7">
            <a:extLst xmlns:a="http://schemas.openxmlformats.org/drawingml/2006/main">
              <a:ext uri="{FF2B5EF4-FFF2-40B4-BE49-F238E27FC236}">
                <a16:creationId xmlns:a16="http://schemas.microsoft.com/office/drawing/2014/main" id="{8AA573E8-5F7C-44D5-AF46-8A141A5F43D8}"/>
              </a:ext>
            </a:extLst>
          </p:cNvPr>
          <p:cNvSpPr>
            <a:spLocks xmlns:a="http://schemas.openxmlformats.org/drawingml/2006/main" noGrp="1"/>
          </p:cNvSpPr>
          <p:nvPr/>
        </p:nvSpPr>
        <p:spPr>
          <a:xfrm xmlns:a="http://schemas.openxmlformats.org/drawingml/2006/main">
            <a:off x="4643018" y="3977640"/>
            <a:ext cx="2905658" cy="14630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600">
                <a:solidFill>
                  <a:schemeClr val="accent5"/>
                </a:solidFill>
                <a:latin typeface="Arial"/>
                <a:ea typeface="Arial"/>
                <a:cs typeface="Arial"/>
              </a:rPr>
              <a:t>One confident but wrong return estimate is a compliance incident, not a typo.</a:t>
            </a:r>
            <a:endParaRPr sz="1600"/>
          </a:p>
        </p:txBody>
      </p:sp>
      <p:sp>
        <p:nvSpPr>
          <p:cNvPr id="10" name="problem-divider-2">
            <a:extLst xmlns:a="http://schemas.openxmlformats.org/drawingml/2006/main">
              <a:ext uri="{FF2B5EF4-FFF2-40B4-BE49-F238E27FC236}">
                <a16:creationId xmlns:a16="http://schemas.microsoft.com/office/drawing/2014/main" id="{EEF66FCB-6E7B-4E19-BC16-E948EE2D9402}"/>
              </a:ext>
            </a:extLst>
          </p:cNvPr>
          <p:cNvSpPr>
            <a:spLocks xmlns:a="http://schemas.openxmlformats.org/drawingml/2006/main" noGrp="1"/>
          </p:cNvSpPr>
          <p:nvPr/>
        </p:nvSpPr>
        <p:spPr>
          <a:xfrm xmlns:a="http://schemas.openxmlformats.org/drawingml/2006/main">
            <a:off x="7914437" y="1600200"/>
            <a:ext cx="0" cy="3931920"/>
          </a:xfrm>
          <a:prstGeom xmlns:a="http://schemas.openxmlformats.org/drawingml/2006/main" prst="line">
            <a:avLst/>
          </a:prstGeom>
          <a:noFill xmlns:a="http://schemas.openxmlformats.org/drawingml/2006/main"/>
          <a:ln xmlns:a="http://schemas.openxmlformats.org/drawingml/2006/main" w="9525">
            <a:solidFill>
              <a:srgbClr val="DDE2E7"/>
            </a:solidFill>
            <a:prstDash val="solid"/>
          </a:ln>
        </p:spPr>
      </p:sp>
      <p:sp>
        <p:nvSpPr>
          <p:cNvPr id="11" name="Text 9">
            <a:extLst xmlns:a="http://schemas.openxmlformats.org/drawingml/2006/main">
              <a:ext uri="{FF2B5EF4-FFF2-40B4-BE49-F238E27FC236}">
                <a16:creationId xmlns:a16="http://schemas.microsoft.com/office/drawing/2014/main" id="{89C33806-6F4C-4793-9AA7-1EBFB856922F}"/>
              </a:ext>
            </a:extLst>
          </p:cNvPr>
          <p:cNvSpPr>
            <a:spLocks xmlns:a="http://schemas.openxmlformats.org/drawingml/2006/main" noGrp="1"/>
          </p:cNvSpPr>
          <p:nvPr/>
        </p:nvSpPr>
        <p:spPr>
          <a:xfrm xmlns:a="http://schemas.openxmlformats.org/drawingml/2006/main">
            <a:off x="8280197" y="1600200"/>
            <a:ext cx="2905658"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400" b="1">
                <a:solidFill>
                  <a:schemeClr val="accent2"/>
                </a:solidFill>
                <a:latin typeface="Arial"/>
                <a:ea typeface="Arial"/>
                <a:cs typeface="Arial"/>
              </a:rPr>
              <a:t>Explainability</a:t>
            </a:r>
            <a:endParaRPr sz="1400"/>
          </a:p>
        </p:txBody>
      </p:sp>
      <p:sp>
        <p:nvSpPr>
          <p:cNvPr id="12" name="Text 10">
            <a:extLst xmlns:a="http://schemas.openxmlformats.org/drawingml/2006/main">
              <a:ext uri="{FF2B5EF4-FFF2-40B4-BE49-F238E27FC236}">
                <a16:creationId xmlns:a16="http://schemas.microsoft.com/office/drawing/2014/main" id="{0810E140-2F68-4008-A702-81AC831A6169}"/>
              </a:ext>
            </a:extLst>
          </p:cNvPr>
          <p:cNvSpPr>
            <a:spLocks xmlns:a="http://schemas.openxmlformats.org/drawingml/2006/main" noGrp="1"/>
          </p:cNvSpPr>
          <p:nvPr/>
        </p:nvSpPr>
        <p:spPr>
          <a:xfrm xmlns:a="http://schemas.openxmlformats.org/drawingml/2006/main">
            <a:off x="8280197" y="2103120"/>
            <a:ext cx="2905658" cy="17373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100000"/>
              </a:lnSpc>
              <a:buNone/>
            </a:pPr>
            <a:r>
              <a:rPr sz="2400" b="1">
                <a:solidFill>
                  <a:schemeClr val="tx1"/>
                </a:solidFill>
                <a:latin typeface="Arial"/>
                <a:ea typeface="Arial"/>
                <a:cs typeface="Arial"/>
              </a:rPr>
              <a:t>Every product claims it. Nobody can check it afterwards.</a:t>
            </a:r>
            <a:endParaRPr sz="2400"/>
          </a:p>
        </p:txBody>
      </p:sp>
      <p:sp>
        <p:nvSpPr>
          <p:cNvPr id="13" name="Text 11">
            <a:extLst xmlns:a="http://schemas.openxmlformats.org/drawingml/2006/main">
              <a:ext uri="{FF2B5EF4-FFF2-40B4-BE49-F238E27FC236}">
                <a16:creationId xmlns:a16="http://schemas.microsoft.com/office/drawing/2014/main" id="{6F95C835-4B75-4726-AFD7-FD2C2EE5D7E1}"/>
              </a:ext>
            </a:extLst>
          </p:cNvPr>
          <p:cNvSpPr>
            <a:spLocks xmlns:a="http://schemas.openxmlformats.org/drawingml/2006/main" noGrp="1"/>
          </p:cNvSpPr>
          <p:nvPr/>
        </p:nvSpPr>
        <p:spPr>
          <a:xfrm xmlns:a="http://schemas.openxmlformats.org/drawingml/2006/main">
            <a:off x="8280197" y="3977640"/>
            <a:ext cx="2905658" cy="14630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600">
                <a:solidFill>
                  <a:schemeClr val="accent5"/>
                </a:solidFill>
                <a:latin typeface="Arial"/>
                <a:ea typeface="Arial"/>
                <a:cs typeface="Arial"/>
              </a:rPr>
              <a:t>Regulators, auditors and clients need evidence they can verify themselves.</a:t>
            </a:r>
            <a:endParaRPr sz="1600"/>
          </a:p>
        </p:txBody>
      </p:sp>
      <p:sp>
        <p:nvSpPr>
          <p:cNvPr id="14" name="problem-rule">
            <a:extLst xmlns:a="http://schemas.openxmlformats.org/drawingml/2006/main">
              <a:ext uri="{FF2B5EF4-FFF2-40B4-BE49-F238E27FC236}">
                <a16:creationId xmlns:a16="http://schemas.microsoft.com/office/drawing/2014/main" id="{0C06D0B0-588F-4512-BB04-579D04836CC6}"/>
              </a:ext>
            </a:extLst>
          </p:cNvPr>
          <p:cNvSpPr>
            <a:spLocks xmlns:a="http://schemas.openxmlformats.org/drawingml/2006/main" noGrp="1"/>
          </p:cNvSpPr>
          <p:nvPr/>
        </p:nvSpPr>
        <p:spPr>
          <a:xfrm xmlns:a="http://schemas.openxmlformats.org/drawingml/2006/main">
            <a:off x="640080" y="5715000"/>
            <a:ext cx="10911535" cy="0"/>
          </a:xfrm>
          <a:prstGeom xmlns:a="http://schemas.openxmlformats.org/drawingml/2006/main" prst="line">
            <a:avLst/>
          </a:prstGeom>
          <a:noFill xmlns:a="http://schemas.openxmlformats.org/drawingml/2006/main"/>
          <a:ln xmlns:a="http://schemas.openxmlformats.org/drawingml/2006/main" w="9525">
            <a:solidFill>
              <a:srgbClr val="C5CDD5"/>
            </a:solidFill>
            <a:prstDash val="solid"/>
          </a:ln>
        </p:spPr>
      </p:sp>
      <p:sp>
        <p:nvSpPr>
          <p:cNvPr id="15" name="Text 13">
            <a:extLst xmlns:a="http://schemas.openxmlformats.org/drawingml/2006/main">
              <a:ext uri="{FF2B5EF4-FFF2-40B4-BE49-F238E27FC236}">
                <a16:creationId xmlns:a16="http://schemas.microsoft.com/office/drawing/2014/main" id="{08952036-A56D-4445-90AA-FBE958F11CBC}"/>
              </a:ext>
            </a:extLst>
          </p:cNvPr>
          <p:cNvSpPr>
            <a:spLocks xmlns:a="http://schemas.openxmlformats.org/drawingml/2006/main" noGrp="1"/>
          </p:cNvSpPr>
          <p:nvPr/>
        </p:nvSpPr>
        <p:spPr>
          <a:xfrm xmlns:a="http://schemas.openxmlformats.org/drawingml/2006/main">
            <a:off x="640080" y="5833872"/>
            <a:ext cx="10911535"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600">
                <a:solidFill>
                  <a:schemeClr val="tx1"/>
                </a:solidFill>
                <a:latin typeface="Arial"/>
                <a:ea typeface="Arial"/>
                <a:cs typeface="Arial"/>
              </a:rPr>
              <a:t>Topic B asks for compliant and explainable allocation advice. Keel makes both claims checkable.</a:t>
            </a:r>
            <a:endParaRPr sz="1600"/>
          </a:p>
        </p:txBody>
      </p:sp>
      <p:sp>
        <p:nvSpPr>
          <p:cNvPr id="25" name="Slide Number Placeholder 0">
            <a:extLst xmlns:a="http://schemas.openxmlformats.org/drawingml/2006/main">
              <a:ext uri="{FF2B5EF4-FFF2-40B4-BE49-F238E27FC236}">
                <a16:creationId xmlns:a16="http://schemas.microsoft.com/office/drawing/2014/main" id="{492F72CC-D8F4-47C0-A97D-F3143EFBA216}"/>
              </a:ext>
            </a:extLst>
          </p:cNvPr>
          <p:cNvSpPr>
            <a:spLocks xmlns:a="http://schemas.openxmlformats.org/drawingml/2006/main" noGrp="1"/>
          </p:cNvSpPr>
          <p:nvPr>
            <p:ph type="sldNum" idx="4294967295"/>
          </p:nvPr>
        </p:nvSpPr>
        <p:spPr>
          <a:xfrm xmlns:a="http://schemas.openxmlformats.org/drawingml/2006/main">
            <a:off x="11002975" y="6419088"/>
            <a:ext cx="548640" cy="256032"/>
          </a:xfrm>
          <a:prstGeom xmlns:a="http://schemas.openxmlformats.org/drawingml/2006/main" prst="rect">
            <a:avLst/>
          </a:prstGeom>
        </p:spPr>
        <p:txBody>
          <a:bodyPr xmlns:a="http://schemas.openxmlformats.org/drawingml/2006/main"/>
          <a:lstStyle xmlns:a="http://schemas.openxmlformats.org/drawingml/2006/main">
            <a:lvl1pPr>
              <a:buNone/>
              <a:defRPr sz="950">
                <a:solidFill>
                  <a:schemeClr val="accent5"/>
                </a:solidFill>
              </a:defRPr>
            </a:lvl1pPr>
          </a:lstStyle>
          <a:p xmlns:a="http://schemas.openxmlformats.org/drawingml/2006/main">
            <a:pPr algn="r">
              <a:buNone/>
            </a:pPr>
            <a:fld id="{F7021451-1387-4CA6-816F-3879F97B5CBC}" type="slidenum">
              <a:rPr b="0"/>
              <a:t>2</a:t>
            </a:fld>
            <a:endParaRPr/>
          </a:p>
        </p:txBody>
      </p:sp>
    </p:spTree>
    <p:extLst>
      <p:ext uri="{BB962C8B-B14F-4D97-AF65-F5344CB8AC3E}">
        <p14:creationId xmlns:p14="http://schemas.microsoft.com/office/powerpoint/2010/main" val="1489724751"/>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2" name="Text 0">
            <a:extLst xmlns:a="http://schemas.openxmlformats.org/drawingml/2006/main">
              <a:ext uri="{FF2B5EF4-FFF2-40B4-BE49-F238E27FC236}">
                <a16:creationId xmlns:a16="http://schemas.microsoft.com/office/drawing/2014/main" id="{BC248C7F-69C4-42D5-85BC-5213097A4ED9}"/>
              </a:ext>
            </a:extLst>
          </p:cNvPr>
          <p:cNvSpPr>
            <a:spLocks xmlns:a="http://schemas.openxmlformats.org/drawingml/2006/main" noGrp="1"/>
          </p:cNvSpPr>
          <p:nvPr/>
        </p:nvSpPr>
        <p:spPr>
          <a:xfrm xmlns:a="http://schemas.openxmlformats.org/drawingml/2006/main">
            <a:off x="640080" y="1280160"/>
            <a:ext cx="10607040" cy="2651760"/>
          </a:xfrm>
          <a:prstGeom xmlns:a="http://schemas.openxmlformats.org/drawingml/2006/main" prst="rect">
            <a:avLst/>
          </a:prstGeom>
          <a:noFill xmlns:a="http://schemas.openxmlformats.org/drawingml/2006/main"/>
        </p:spPr>
        <p:txBody>
          <a:bodyPr xmlns:a="http://schemas.openxmlformats.org/drawingml/2006/main" wrap="square" lIns="0" tIns="0" rIns="0" bIns="0" anchor="b"/>
          <a:lstStyle xmlns:a="http://schemas.openxmlformats.org/drawingml/2006/main"/>
          <a:p xmlns:a="http://schemas.openxmlformats.org/drawingml/2006/main">
            <a:pPr marL="0" indent="0">
              <a:lnSpc>
                <a:spcPct val="95000"/>
              </a:lnSpc>
              <a:buNone/>
            </a:pPr>
            <a:r>
              <a:rPr sz="5200" b="1">
                <a:solidFill>
                  <a:schemeClr val="bg1"/>
                </a:solidFill>
                <a:latin typeface="Arial"/>
                <a:ea typeface="Arial"/>
                <a:cs typeface="Arial"/>
              </a:rPr>
              <a:t>What clients say about risk </a:t>
            </a:r>
            <a:r>
              <a:rPr sz="5200" b="1">
                <a:solidFill>
                  <a:schemeClr val="accent6"/>
                </a:solidFill>
                <a:latin typeface="Arial"/>
                <a:ea typeface="Arial"/>
                <a:cs typeface="Arial"/>
              </a:rPr>
              <a:t>is not what they do in a crash.</a:t>
            </a:r>
            <a:endParaRPr sz="5200"/>
          </a:p>
        </p:txBody>
      </p:sp>
      <p:sp>
        <p:nvSpPr>
          <p:cNvPr id="3" name="Text 1">
            <a:extLst xmlns:a="http://schemas.openxmlformats.org/drawingml/2006/main">
              <a:ext uri="{FF2B5EF4-FFF2-40B4-BE49-F238E27FC236}">
                <a16:creationId xmlns:a16="http://schemas.microsoft.com/office/drawing/2014/main" id="{5153B1AD-E4AF-4A84-AEE2-4441D9CDD71D}"/>
              </a:ext>
            </a:extLst>
          </p:cNvPr>
          <p:cNvSpPr>
            <a:spLocks xmlns:a="http://schemas.openxmlformats.org/drawingml/2006/main" noGrp="1"/>
          </p:cNvSpPr>
          <p:nvPr/>
        </p:nvSpPr>
        <p:spPr>
          <a:xfrm xmlns:a="http://schemas.openxmlformats.org/drawingml/2006/main">
            <a:off x="640080" y="4343400"/>
            <a:ext cx="9692640" cy="10058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100">
                <a:solidFill>
                  <a:srgbClr val="A6B1BC"/>
                </a:solidFill>
                <a:latin typeface="Arial"/>
                <a:ea typeface="Arial"/>
                <a:cs typeface="Arial"/>
              </a:rPr>
              <a:t>So before any money moves, Keel has the client live through 2008 with the exact portfolio it recommends, and lets them press Sell at any moment.</a:t>
            </a:r>
            <a:endParaRPr sz="2100"/>
          </a:p>
        </p:txBody>
      </p:sp>
      <p:sp>
        <p:nvSpPr>
          <p:cNvPr id="25" name="Slide Number Placeholder 0">
            <a:extLst xmlns:a="http://schemas.openxmlformats.org/drawingml/2006/main">
              <a:ext uri="{FF2B5EF4-FFF2-40B4-BE49-F238E27FC236}">
                <a16:creationId xmlns:a16="http://schemas.microsoft.com/office/drawing/2014/main" id="{DDA960AC-38B6-479E-A9D2-FCFE8025EADF}"/>
              </a:ext>
            </a:extLst>
          </p:cNvPr>
          <p:cNvSpPr>
            <a:spLocks xmlns:a="http://schemas.openxmlformats.org/drawingml/2006/main" noGrp="1"/>
          </p:cNvSpPr>
          <p:nvPr>
            <p:ph type="sldNum" idx="4294967295"/>
          </p:nvPr>
        </p:nvSpPr>
        <p:spPr>
          <a:xfrm xmlns:a="http://schemas.openxmlformats.org/drawingml/2006/main">
            <a:off x="11002975" y="6419088"/>
            <a:ext cx="548640" cy="256032"/>
          </a:xfrm>
          <a:prstGeom xmlns:a="http://schemas.openxmlformats.org/drawingml/2006/main" prst="rect">
            <a:avLst/>
          </a:prstGeom>
        </p:spPr>
        <p:txBody>
          <a:bodyPr xmlns:a="http://schemas.openxmlformats.org/drawingml/2006/main"/>
          <a:lstStyle xmlns:a="http://schemas.openxmlformats.org/drawingml/2006/main">
            <a:lvl1pPr>
              <a:buNone/>
              <a:defRPr sz="950">
                <a:solidFill>
                  <a:srgbClr val="A6B1BC"/>
                </a:solidFill>
              </a:defRPr>
            </a:lvl1pPr>
          </a:lstStyle>
          <a:p xmlns:a="http://schemas.openxmlformats.org/drawingml/2006/main">
            <a:pPr algn="r">
              <a:buNone/>
            </a:pPr>
            <a:fld id="{F7021451-1387-4CA6-816F-3879F97B5CBC}" type="slidenum">
              <a:rPr b="0"/>
              <a:t>3</a:t>
            </a:fld>
            <a:endParaRPr/>
          </a:p>
        </p:txBody>
      </p:sp>
    </p:spTree>
    <p:extLst>
      <p:ext uri="{BB962C8B-B14F-4D97-AF65-F5344CB8AC3E}">
        <p14:creationId xmlns:p14="http://schemas.microsoft.com/office/powerpoint/2010/main" val="984385564"/>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2" name="Text 2">
            <a:extLst xmlns:a="http://schemas.openxmlformats.org/drawingml/2006/main">
              <a:ext uri="{FF2B5EF4-FFF2-40B4-BE49-F238E27FC236}">
                <a16:creationId xmlns:a16="http://schemas.microsoft.com/office/drawing/2014/main" id="{7025BC0E-6E60-492D-9729-8935E190767A}"/>
              </a:ext>
            </a:extLst>
          </p:cNvPr>
          <p:cNvSpPr>
            <a:spLocks xmlns:a="http://schemas.openxmlformats.org/drawingml/2006/main" noGrp="1"/>
          </p:cNvSpPr>
          <p:nvPr>
            <p:ph type="title" idx="102" hasCustomPrompt="1"/>
          </p:nvPr>
        </p:nvSpPr>
        <p:spPr>
          <a:xfrm xmlns:a="http://schemas.openxmlformats.org/drawingml/2006/main">
            <a:off x="640080" y="457200"/>
            <a:ext cx="10911535" cy="7315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buNone/>
            </a:pPr>
            <a:r>
              <a:rPr sz="3000" b="1">
                <a:solidFill>
                  <a:schemeClr val="tx1"/>
                </a:solidFill>
                <a:latin typeface="Arial"/>
                <a:ea typeface="Arial"/>
                <a:cs typeface="Arial"/>
              </a:rPr>
              <a:t>A licensed advisor's workflow, in five steps</a:t>
            </a:r>
            <a:endParaRPr sz="3000"/>
          </a:p>
        </p:txBody>
      </p:sp>
      <p:sp>
        <p:nvSpPr>
          <p:cNvPr id="3" name="steps-top">
            <a:extLst xmlns:a="http://schemas.openxmlformats.org/drawingml/2006/main">
              <a:ext uri="{FF2B5EF4-FFF2-40B4-BE49-F238E27FC236}">
                <a16:creationId xmlns:a16="http://schemas.microsoft.com/office/drawing/2014/main" id="{7E010403-D911-4A6B-9F56-646F23C03487}"/>
              </a:ext>
            </a:extLst>
          </p:cNvPr>
          <p:cNvSpPr>
            <a:spLocks xmlns:a="http://schemas.openxmlformats.org/drawingml/2006/main" noGrp="1"/>
          </p:cNvSpPr>
          <p:nvPr/>
        </p:nvSpPr>
        <p:spPr>
          <a:xfrm xmlns:a="http://schemas.openxmlformats.org/drawingml/2006/main">
            <a:off x="640080" y="1417320"/>
            <a:ext cx="10911535" cy="0"/>
          </a:xfrm>
          <a:prstGeom xmlns:a="http://schemas.openxmlformats.org/drawingml/2006/main" prst="line">
            <a:avLst/>
          </a:prstGeom>
          <a:noFill xmlns:a="http://schemas.openxmlformats.org/drawingml/2006/main"/>
          <a:ln xmlns:a="http://schemas.openxmlformats.org/drawingml/2006/main" w="9525">
            <a:solidFill>
              <a:srgbClr val="C5CDD5"/>
            </a:solidFill>
            <a:prstDash val="solid"/>
          </a:ln>
        </p:spPr>
      </p:sp>
      <p:sp>
        <p:nvSpPr>
          <p:cNvPr id="4" name="Text 2">
            <a:extLst xmlns:a="http://schemas.openxmlformats.org/drawingml/2006/main">
              <a:ext uri="{FF2B5EF4-FFF2-40B4-BE49-F238E27FC236}">
                <a16:creationId xmlns:a16="http://schemas.microsoft.com/office/drawing/2014/main" id="{CC3260FF-A4BA-45C7-914A-B1EC2B4D59A8}"/>
              </a:ext>
            </a:extLst>
          </p:cNvPr>
          <p:cNvSpPr>
            <a:spLocks xmlns:a="http://schemas.openxmlformats.org/drawingml/2006/main" noGrp="1"/>
          </p:cNvSpPr>
          <p:nvPr/>
        </p:nvSpPr>
        <p:spPr>
          <a:xfrm xmlns:a="http://schemas.openxmlformats.org/drawingml/2006/main">
            <a:off x="640080" y="1572768"/>
            <a:ext cx="45720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400" b="1">
                <a:solidFill>
                  <a:schemeClr val="accent5"/>
                </a:solidFill>
                <a:latin typeface="Arial"/>
                <a:ea typeface="Arial"/>
                <a:cs typeface="Arial"/>
              </a:rPr>
              <a:t>1</a:t>
            </a:r>
            <a:endParaRPr sz="1400"/>
          </a:p>
        </p:txBody>
      </p:sp>
      <p:sp>
        <p:nvSpPr>
          <p:cNvPr id="5" name="Text 3">
            <a:extLst xmlns:a="http://schemas.openxmlformats.org/drawingml/2006/main">
              <a:ext uri="{FF2B5EF4-FFF2-40B4-BE49-F238E27FC236}">
                <a16:creationId xmlns:a16="http://schemas.microsoft.com/office/drawing/2014/main" id="{8A116D41-E240-447B-9C8F-7525471CF6E4}"/>
              </a:ext>
            </a:extLst>
          </p:cNvPr>
          <p:cNvSpPr>
            <a:spLocks xmlns:a="http://schemas.openxmlformats.org/drawingml/2006/main" noGrp="1"/>
          </p:cNvSpPr>
          <p:nvPr/>
        </p:nvSpPr>
        <p:spPr>
          <a:xfrm xmlns:a="http://schemas.openxmlformats.org/drawingml/2006/main">
            <a:off x="960120" y="1572768"/>
            <a:ext cx="1633667" cy="3200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600" b="1">
                <a:solidFill>
                  <a:schemeClr val="tx1"/>
                </a:solidFill>
                <a:latin typeface="Arial"/>
                <a:ea typeface="Arial"/>
                <a:cs typeface="Arial"/>
              </a:rPr>
              <a:t>Risk profile</a:t>
            </a:r>
            <a:endParaRPr sz="1600"/>
          </a:p>
        </p:txBody>
      </p:sp>
      <p:sp>
        <p:nvSpPr>
          <p:cNvPr id="6" name="Text 4">
            <a:extLst xmlns:a="http://schemas.openxmlformats.org/drawingml/2006/main">
              <a:ext uri="{FF2B5EF4-FFF2-40B4-BE49-F238E27FC236}">
                <a16:creationId xmlns:a16="http://schemas.microsoft.com/office/drawing/2014/main" id="{B5EAE98C-C46F-4319-8127-4005687A7311}"/>
              </a:ext>
            </a:extLst>
          </p:cNvPr>
          <p:cNvSpPr>
            <a:spLocks xmlns:a="http://schemas.openxmlformats.org/drawingml/2006/main" noGrp="1"/>
          </p:cNvSpPr>
          <p:nvPr/>
        </p:nvSpPr>
        <p:spPr>
          <a:xfrm xmlns:a="http://schemas.openxmlformats.org/drawingml/2006/main">
            <a:off x="640080" y="1965960"/>
            <a:ext cx="1862267" cy="5486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00">
                <a:solidFill>
                  <a:schemeClr val="accent5"/>
                </a:solidFill>
                <a:latin typeface="Arial"/>
                <a:ea typeface="Arial"/>
                <a:cs typeface="Arial"/>
              </a:rPr>
              <a:t>C1 to C5, the lower of loss capacity and risk tolerance</a:t>
            </a:r>
            <a:endParaRPr sz="1200"/>
          </a:p>
        </p:txBody>
      </p:sp>
      <p:sp>
        <p:nvSpPr>
          <p:cNvPr id="7" name="step-divider-1">
            <a:extLst xmlns:a="http://schemas.openxmlformats.org/drawingml/2006/main">
              <a:ext uri="{FF2B5EF4-FFF2-40B4-BE49-F238E27FC236}">
                <a16:creationId xmlns:a16="http://schemas.microsoft.com/office/drawing/2014/main" id="{AB0B9248-8556-4268-8C42-A4F76770D685}"/>
              </a:ext>
            </a:extLst>
          </p:cNvPr>
          <p:cNvSpPr>
            <a:spLocks xmlns:a="http://schemas.openxmlformats.org/drawingml/2006/main" noGrp="1"/>
          </p:cNvSpPr>
          <p:nvPr/>
        </p:nvSpPr>
        <p:spPr>
          <a:xfrm xmlns:a="http://schemas.openxmlformats.org/drawingml/2006/main">
            <a:off x="2822387" y="1417320"/>
            <a:ext cx="0" cy="1143000"/>
          </a:xfrm>
          <a:prstGeom xmlns:a="http://schemas.openxmlformats.org/drawingml/2006/main" prst="line">
            <a:avLst/>
          </a:prstGeom>
          <a:noFill xmlns:a="http://schemas.openxmlformats.org/drawingml/2006/main"/>
          <a:ln xmlns:a="http://schemas.openxmlformats.org/drawingml/2006/main" w="9525">
            <a:solidFill>
              <a:srgbClr val="DDE2E7"/>
            </a:solidFill>
            <a:prstDash val="solid"/>
          </a:ln>
        </p:spPr>
      </p:sp>
      <p:sp>
        <p:nvSpPr>
          <p:cNvPr id="8" name="Text 6">
            <a:extLst xmlns:a="http://schemas.openxmlformats.org/drawingml/2006/main">
              <a:ext uri="{FF2B5EF4-FFF2-40B4-BE49-F238E27FC236}">
                <a16:creationId xmlns:a16="http://schemas.microsoft.com/office/drawing/2014/main" id="{E750F491-9638-42A4-BD1F-AD50E0170EBF}"/>
              </a:ext>
            </a:extLst>
          </p:cNvPr>
          <p:cNvSpPr>
            <a:spLocks xmlns:a="http://schemas.openxmlformats.org/drawingml/2006/main" noGrp="1"/>
          </p:cNvSpPr>
          <p:nvPr/>
        </p:nvSpPr>
        <p:spPr>
          <a:xfrm xmlns:a="http://schemas.openxmlformats.org/drawingml/2006/main">
            <a:off x="3005267" y="1572768"/>
            <a:ext cx="45720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400" b="1">
                <a:solidFill>
                  <a:schemeClr val="accent5"/>
                </a:solidFill>
                <a:latin typeface="Arial"/>
                <a:ea typeface="Arial"/>
                <a:cs typeface="Arial"/>
              </a:rPr>
              <a:t>2</a:t>
            </a:r>
            <a:endParaRPr sz="1400"/>
          </a:p>
        </p:txBody>
      </p:sp>
      <p:sp>
        <p:nvSpPr>
          <p:cNvPr id="9" name="Text 7">
            <a:extLst xmlns:a="http://schemas.openxmlformats.org/drawingml/2006/main">
              <a:ext uri="{FF2B5EF4-FFF2-40B4-BE49-F238E27FC236}">
                <a16:creationId xmlns:a16="http://schemas.microsoft.com/office/drawing/2014/main" id="{DD7D7268-7C5E-473F-8135-648554D828C6}"/>
              </a:ext>
            </a:extLst>
          </p:cNvPr>
          <p:cNvSpPr>
            <a:spLocks xmlns:a="http://schemas.openxmlformats.org/drawingml/2006/main" noGrp="1"/>
          </p:cNvSpPr>
          <p:nvPr/>
        </p:nvSpPr>
        <p:spPr>
          <a:xfrm xmlns:a="http://schemas.openxmlformats.org/drawingml/2006/main">
            <a:off x="3325307" y="1572768"/>
            <a:ext cx="1633667" cy="3200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600" b="1">
                <a:solidFill>
                  <a:schemeClr val="tx1"/>
                </a:solidFill>
                <a:latin typeface="Arial"/>
                <a:ea typeface="Arial"/>
                <a:cs typeface="Arial"/>
              </a:rPr>
              <a:t>Portfolio</a:t>
            </a:r>
            <a:endParaRPr sz="1600"/>
          </a:p>
        </p:txBody>
      </p:sp>
      <p:sp>
        <p:nvSpPr>
          <p:cNvPr id="10" name="Text 8">
            <a:extLst xmlns:a="http://schemas.openxmlformats.org/drawingml/2006/main">
              <a:ext uri="{FF2B5EF4-FFF2-40B4-BE49-F238E27FC236}">
                <a16:creationId xmlns:a16="http://schemas.microsoft.com/office/drawing/2014/main" id="{FAEA3F1D-D329-44CD-8728-88B51B7B79F4}"/>
              </a:ext>
            </a:extLst>
          </p:cNvPr>
          <p:cNvSpPr>
            <a:spLocks xmlns:a="http://schemas.openxmlformats.org/drawingml/2006/main" noGrp="1"/>
          </p:cNvSpPr>
          <p:nvPr/>
        </p:nvSpPr>
        <p:spPr>
          <a:xfrm xmlns:a="http://schemas.openxmlformats.org/drawingml/2006/main">
            <a:off x="3005267" y="1965960"/>
            <a:ext cx="1862267" cy="5486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00">
                <a:solidFill>
                  <a:schemeClr val="accent5"/>
                </a:solidFill>
                <a:latin typeface="Arial"/>
                <a:ea typeface="Arial"/>
                <a:cs typeface="Arial"/>
              </a:rPr>
              <a:t>real funds, a reason for every holding</a:t>
            </a:r>
            <a:endParaRPr sz="1200"/>
          </a:p>
        </p:txBody>
      </p:sp>
      <p:sp>
        <p:nvSpPr>
          <p:cNvPr id="11" name="step-divider-2">
            <a:extLst xmlns:a="http://schemas.openxmlformats.org/drawingml/2006/main">
              <a:ext uri="{FF2B5EF4-FFF2-40B4-BE49-F238E27FC236}">
                <a16:creationId xmlns:a16="http://schemas.microsoft.com/office/drawing/2014/main" id="{0ADFDECC-5D43-4F54-B717-209236738EA3}"/>
              </a:ext>
            </a:extLst>
          </p:cNvPr>
          <p:cNvSpPr>
            <a:spLocks xmlns:a="http://schemas.openxmlformats.org/drawingml/2006/main" noGrp="1"/>
          </p:cNvSpPr>
          <p:nvPr/>
        </p:nvSpPr>
        <p:spPr>
          <a:xfrm xmlns:a="http://schemas.openxmlformats.org/drawingml/2006/main">
            <a:off x="5004694" y="1417320"/>
            <a:ext cx="0" cy="1143000"/>
          </a:xfrm>
          <a:prstGeom xmlns:a="http://schemas.openxmlformats.org/drawingml/2006/main" prst="line">
            <a:avLst/>
          </a:prstGeom>
          <a:noFill xmlns:a="http://schemas.openxmlformats.org/drawingml/2006/main"/>
          <a:ln xmlns:a="http://schemas.openxmlformats.org/drawingml/2006/main" w="9525">
            <a:solidFill>
              <a:srgbClr val="DDE2E7"/>
            </a:solidFill>
            <a:prstDash val="solid"/>
          </a:ln>
        </p:spPr>
      </p:sp>
      <p:sp>
        <p:nvSpPr>
          <p:cNvPr id="12" name="Text 10">
            <a:extLst xmlns:a="http://schemas.openxmlformats.org/drawingml/2006/main">
              <a:ext uri="{FF2B5EF4-FFF2-40B4-BE49-F238E27FC236}">
                <a16:creationId xmlns:a16="http://schemas.microsoft.com/office/drawing/2014/main" id="{ADA65B06-A4C0-4A22-BE11-5FD5D3EA85E6}"/>
              </a:ext>
            </a:extLst>
          </p:cNvPr>
          <p:cNvSpPr>
            <a:spLocks xmlns:a="http://schemas.openxmlformats.org/drawingml/2006/main" noGrp="1"/>
          </p:cNvSpPr>
          <p:nvPr/>
        </p:nvSpPr>
        <p:spPr>
          <a:xfrm xmlns:a="http://schemas.openxmlformats.org/drawingml/2006/main">
            <a:off x="5187574" y="1572768"/>
            <a:ext cx="45720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400" b="1">
                <a:solidFill>
                  <a:schemeClr val="accent2"/>
                </a:solidFill>
                <a:latin typeface="Arial"/>
                <a:ea typeface="Arial"/>
                <a:cs typeface="Arial"/>
              </a:rPr>
              <a:t>3</a:t>
            </a:r>
            <a:endParaRPr sz="1400"/>
          </a:p>
        </p:txBody>
      </p:sp>
      <p:sp>
        <p:nvSpPr>
          <p:cNvPr id="13" name="Text 11">
            <a:extLst xmlns:a="http://schemas.openxmlformats.org/drawingml/2006/main">
              <a:ext uri="{FF2B5EF4-FFF2-40B4-BE49-F238E27FC236}">
                <a16:creationId xmlns:a16="http://schemas.microsoft.com/office/drawing/2014/main" id="{4CB6D08B-BB6A-4A04-B65E-1E5AD76351BA}"/>
              </a:ext>
            </a:extLst>
          </p:cNvPr>
          <p:cNvSpPr>
            <a:spLocks xmlns:a="http://schemas.openxmlformats.org/drawingml/2006/main" noGrp="1"/>
          </p:cNvSpPr>
          <p:nvPr/>
        </p:nvSpPr>
        <p:spPr>
          <a:xfrm xmlns:a="http://schemas.openxmlformats.org/drawingml/2006/main">
            <a:off x="5507614" y="1572768"/>
            <a:ext cx="1633667" cy="3200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600" b="1">
                <a:solidFill>
                  <a:schemeClr val="accent2"/>
                </a:solidFill>
                <a:latin typeface="Arial"/>
                <a:ea typeface="Arial"/>
                <a:cs typeface="Arial"/>
              </a:rPr>
              <a:t>Rehearse</a:t>
            </a:r>
            <a:endParaRPr sz="1600"/>
          </a:p>
        </p:txBody>
      </p:sp>
      <p:sp>
        <p:nvSpPr>
          <p:cNvPr id="14" name="Text 12">
            <a:extLst xmlns:a="http://schemas.openxmlformats.org/drawingml/2006/main">
              <a:ext uri="{FF2B5EF4-FFF2-40B4-BE49-F238E27FC236}">
                <a16:creationId xmlns:a16="http://schemas.microsoft.com/office/drawing/2014/main" id="{E6F35379-E914-4C93-8928-69A64EA7F0A6}"/>
              </a:ext>
            </a:extLst>
          </p:cNvPr>
          <p:cNvSpPr>
            <a:spLocks xmlns:a="http://schemas.openxmlformats.org/drawingml/2006/main" noGrp="1"/>
          </p:cNvSpPr>
          <p:nvPr/>
        </p:nvSpPr>
        <p:spPr>
          <a:xfrm xmlns:a="http://schemas.openxmlformats.org/drawingml/2006/main">
            <a:off x="5187574" y="1965960"/>
            <a:ext cx="1862267" cy="5486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00">
                <a:solidFill>
                  <a:schemeClr val="accent5"/>
                </a:solidFill>
                <a:latin typeface="Arial"/>
                <a:ea typeface="Arial"/>
                <a:cs typeface="Arial"/>
              </a:rPr>
              <a:t>live through 2008 before investing</a:t>
            </a:r>
            <a:endParaRPr sz="1200"/>
          </a:p>
        </p:txBody>
      </p:sp>
      <p:sp>
        <p:nvSpPr>
          <p:cNvPr id="15" name="step-divider-3">
            <a:extLst xmlns:a="http://schemas.openxmlformats.org/drawingml/2006/main">
              <a:ext uri="{FF2B5EF4-FFF2-40B4-BE49-F238E27FC236}">
                <a16:creationId xmlns:a16="http://schemas.microsoft.com/office/drawing/2014/main" id="{CBBCA5F1-67D1-4249-AAB5-91F22C8DBA7C}"/>
              </a:ext>
            </a:extLst>
          </p:cNvPr>
          <p:cNvSpPr>
            <a:spLocks xmlns:a="http://schemas.openxmlformats.org/drawingml/2006/main" noGrp="1"/>
          </p:cNvSpPr>
          <p:nvPr/>
        </p:nvSpPr>
        <p:spPr>
          <a:xfrm xmlns:a="http://schemas.openxmlformats.org/drawingml/2006/main">
            <a:off x="7187001" y="1417320"/>
            <a:ext cx="0" cy="1143000"/>
          </a:xfrm>
          <a:prstGeom xmlns:a="http://schemas.openxmlformats.org/drawingml/2006/main" prst="line">
            <a:avLst/>
          </a:prstGeom>
          <a:noFill xmlns:a="http://schemas.openxmlformats.org/drawingml/2006/main"/>
          <a:ln xmlns:a="http://schemas.openxmlformats.org/drawingml/2006/main" w="9525">
            <a:solidFill>
              <a:srgbClr val="DDE2E7"/>
            </a:solidFill>
            <a:prstDash val="solid"/>
          </a:ln>
        </p:spPr>
      </p:sp>
      <p:sp>
        <p:nvSpPr>
          <p:cNvPr id="16" name="Text 14">
            <a:extLst xmlns:a="http://schemas.openxmlformats.org/drawingml/2006/main">
              <a:ext uri="{FF2B5EF4-FFF2-40B4-BE49-F238E27FC236}">
                <a16:creationId xmlns:a16="http://schemas.microsoft.com/office/drawing/2014/main" id="{F9F998EC-92B9-4332-8405-E3939ABBD383}"/>
              </a:ext>
            </a:extLst>
          </p:cNvPr>
          <p:cNvSpPr>
            <a:spLocks xmlns:a="http://schemas.openxmlformats.org/drawingml/2006/main" noGrp="1"/>
          </p:cNvSpPr>
          <p:nvPr/>
        </p:nvSpPr>
        <p:spPr>
          <a:xfrm xmlns:a="http://schemas.openxmlformats.org/drawingml/2006/main">
            <a:off x="7369881" y="1572768"/>
            <a:ext cx="45720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400" b="1">
                <a:solidFill>
                  <a:schemeClr val="accent5"/>
                </a:solidFill>
                <a:latin typeface="Arial"/>
                <a:ea typeface="Arial"/>
                <a:cs typeface="Arial"/>
              </a:rPr>
              <a:t>4</a:t>
            </a:r>
            <a:endParaRPr sz="1400"/>
          </a:p>
        </p:txBody>
      </p:sp>
      <p:sp>
        <p:nvSpPr>
          <p:cNvPr id="17" name="Text 15">
            <a:extLst xmlns:a="http://schemas.openxmlformats.org/drawingml/2006/main">
              <a:ext uri="{FF2B5EF4-FFF2-40B4-BE49-F238E27FC236}">
                <a16:creationId xmlns:a16="http://schemas.microsoft.com/office/drawing/2014/main" id="{C1828733-440D-45C6-AA2E-406620208E77}"/>
              </a:ext>
            </a:extLst>
          </p:cNvPr>
          <p:cNvSpPr>
            <a:spLocks xmlns:a="http://schemas.openxmlformats.org/drawingml/2006/main" noGrp="1"/>
          </p:cNvSpPr>
          <p:nvPr/>
        </p:nvSpPr>
        <p:spPr>
          <a:xfrm xmlns:a="http://schemas.openxmlformats.org/drawingml/2006/main">
            <a:off x="7689921" y="1572768"/>
            <a:ext cx="1633667" cy="3200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600" b="1">
                <a:solidFill>
                  <a:schemeClr val="tx1"/>
                </a:solidFill>
                <a:latin typeface="Arial"/>
                <a:ea typeface="Arial"/>
                <a:cs typeface="Arial"/>
              </a:rPr>
              <a:t>Goal</a:t>
            </a:r>
            <a:endParaRPr sz="1600"/>
          </a:p>
        </p:txBody>
      </p:sp>
      <p:sp>
        <p:nvSpPr>
          <p:cNvPr id="18" name="Text 16">
            <a:extLst xmlns:a="http://schemas.openxmlformats.org/drawingml/2006/main">
              <a:ext uri="{FF2B5EF4-FFF2-40B4-BE49-F238E27FC236}">
                <a16:creationId xmlns:a16="http://schemas.microsoft.com/office/drawing/2014/main" id="{98CE2F0D-0F55-48CD-8319-26A24AEF81B9}"/>
              </a:ext>
            </a:extLst>
          </p:cNvPr>
          <p:cNvSpPr>
            <a:spLocks xmlns:a="http://schemas.openxmlformats.org/drawingml/2006/main" noGrp="1"/>
          </p:cNvSpPr>
          <p:nvPr/>
        </p:nvSpPr>
        <p:spPr>
          <a:xfrm xmlns:a="http://schemas.openxmlformats.org/drawingml/2006/main">
            <a:off x="7369881" y="1965960"/>
            <a:ext cx="1862267" cy="5486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00">
                <a:solidFill>
                  <a:schemeClr val="accent5"/>
                </a:solidFill>
                <a:latin typeface="Arial"/>
                <a:ea typeface="Arial"/>
                <a:cs typeface="Arial"/>
              </a:rPr>
              <a:t>the chance of reaching it, from 5,000 futures</a:t>
            </a:r>
            <a:endParaRPr sz="1200"/>
          </a:p>
        </p:txBody>
      </p:sp>
      <p:sp>
        <p:nvSpPr>
          <p:cNvPr id="19" name="step-divider-4">
            <a:extLst xmlns:a="http://schemas.openxmlformats.org/drawingml/2006/main">
              <a:ext uri="{FF2B5EF4-FFF2-40B4-BE49-F238E27FC236}">
                <a16:creationId xmlns:a16="http://schemas.microsoft.com/office/drawing/2014/main" id="{C9F7EB78-010F-428C-8A2D-873861B17D49}"/>
              </a:ext>
            </a:extLst>
          </p:cNvPr>
          <p:cNvSpPr>
            <a:spLocks xmlns:a="http://schemas.openxmlformats.org/drawingml/2006/main" noGrp="1"/>
          </p:cNvSpPr>
          <p:nvPr/>
        </p:nvSpPr>
        <p:spPr>
          <a:xfrm xmlns:a="http://schemas.openxmlformats.org/drawingml/2006/main">
            <a:off x="9369308" y="1417320"/>
            <a:ext cx="0" cy="1143000"/>
          </a:xfrm>
          <a:prstGeom xmlns:a="http://schemas.openxmlformats.org/drawingml/2006/main" prst="line">
            <a:avLst/>
          </a:prstGeom>
          <a:noFill xmlns:a="http://schemas.openxmlformats.org/drawingml/2006/main"/>
          <a:ln xmlns:a="http://schemas.openxmlformats.org/drawingml/2006/main" w="9525">
            <a:solidFill>
              <a:srgbClr val="DDE2E7"/>
            </a:solidFill>
            <a:prstDash val="solid"/>
          </a:ln>
        </p:spPr>
      </p:sp>
      <p:sp>
        <p:nvSpPr>
          <p:cNvPr id="20" name="Text 18">
            <a:extLst xmlns:a="http://schemas.openxmlformats.org/drawingml/2006/main">
              <a:ext uri="{FF2B5EF4-FFF2-40B4-BE49-F238E27FC236}">
                <a16:creationId xmlns:a16="http://schemas.microsoft.com/office/drawing/2014/main" id="{E6284375-6DA9-4A0F-A3B6-8DD5ED6EFDDB}"/>
              </a:ext>
            </a:extLst>
          </p:cNvPr>
          <p:cNvSpPr>
            <a:spLocks xmlns:a="http://schemas.openxmlformats.org/drawingml/2006/main" noGrp="1"/>
          </p:cNvSpPr>
          <p:nvPr/>
        </p:nvSpPr>
        <p:spPr>
          <a:xfrm xmlns:a="http://schemas.openxmlformats.org/drawingml/2006/main">
            <a:off x="9552188" y="1572768"/>
            <a:ext cx="45720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400" b="1">
                <a:solidFill>
                  <a:schemeClr val="accent5"/>
                </a:solidFill>
                <a:latin typeface="Arial"/>
                <a:ea typeface="Arial"/>
                <a:cs typeface="Arial"/>
              </a:rPr>
              <a:t>5</a:t>
            </a:r>
            <a:endParaRPr sz="1400"/>
          </a:p>
        </p:txBody>
      </p:sp>
      <p:sp>
        <p:nvSpPr>
          <p:cNvPr id="21" name="Text 19">
            <a:extLst xmlns:a="http://schemas.openxmlformats.org/drawingml/2006/main">
              <a:ext uri="{FF2B5EF4-FFF2-40B4-BE49-F238E27FC236}">
                <a16:creationId xmlns:a16="http://schemas.microsoft.com/office/drawing/2014/main" id="{AAD08697-123F-475A-89C0-2099E47F1CFD}"/>
              </a:ext>
            </a:extLst>
          </p:cNvPr>
          <p:cNvSpPr>
            <a:spLocks xmlns:a="http://schemas.openxmlformats.org/drawingml/2006/main" noGrp="1"/>
          </p:cNvSpPr>
          <p:nvPr/>
        </p:nvSpPr>
        <p:spPr>
          <a:xfrm xmlns:a="http://schemas.openxmlformats.org/drawingml/2006/main">
            <a:off x="9872228" y="1572768"/>
            <a:ext cx="1633667" cy="3200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600" b="1">
                <a:solidFill>
                  <a:schemeClr val="tx1"/>
                </a:solidFill>
                <a:latin typeface="Arial"/>
                <a:ea typeface="Arial"/>
                <a:cs typeface="Arial"/>
              </a:rPr>
              <a:t>Invest</a:t>
            </a:r>
            <a:endParaRPr sz="1600"/>
          </a:p>
        </p:txBody>
      </p:sp>
      <p:sp>
        <p:nvSpPr>
          <p:cNvPr id="22" name="Text 20">
            <a:extLst xmlns:a="http://schemas.openxmlformats.org/drawingml/2006/main">
              <a:ext uri="{FF2B5EF4-FFF2-40B4-BE49-F238E27FC236}">
                <a16:creationId xmlns:a16="http://schemas.microsoft.com/office/drawing/2014/main" id="{12606968-C688-4E3E-85CE-070AEFA12028}"/>
              </a:ext>
            </a:extLst>
          </p:cNvPr>
          <p:cNvSpPr>
            <a:spLocks xmlns:a="http://schemas.openxmlformats.org/drawingml/2006/main" noGrp="1"/>
          </p:cNvSpPr>
          <p:nvPr/>
        </p:nvSpPr>
        <p:spPr>
          <a:xfrm xmlns:a="http://schemas.openxmlformats.org/drawingml/2006/main">
            <a:off x="9552188" y="1965960"/>
            <a:ext cx="1862267" cy="5486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00">
                <a:solidFill>
                  <a:schemeClr val="accent5"/>
                </a:solidFill>
                <a:latin typeface="Arial"/>
                <a:ea typeface="Arial"/>
                <a:cs typeface="Arial"/>
              </a:rPr>
              <a:t>signed, held to confirm, recorded on chain</a:t>
            </a:r>
            <a:endParaRPr sz="1200"/>
          </a:p>
        </p:txBody>
      </p:sp>
      <p:sp>
        <p:nvSpPr>
          <p:cNvPr id="23" name="steps-bottom">
            <a:extLst xmlns:a="http://schemas.openxmlformats.org/drawingml/2006/main">
              <a:ext uri="{FF2B5EF4-FFF2-40B4-BE49-F238E27FC236}">
                <a16:creationId xmlns:a16="http://schemas.microsoft.com/office/drawing/2014/main" id="{38D11A8A-0C54-4F4E-893D-974620663D01}"/>
              </a:ext>
            </a:extLst>
          </p:cNvPr>
          <p:cNvSpPr>
            <a:spLocks xmlns:a="http://schemas.openxmlformats.org/drawingml/2006/main" noGrp="1"/>
          </p:cNvSpPr>
          <p:nvPr/>
        </p:nvSpPr>
        <p:spPr>
          <a:xfrm xmlns:a="http://schemas.openxmlformats.org/drawingml/2006/main">
            <a:off x="640080" y="2560320"/>
            <a:ext cx="10911535" cy="0"/>
          </a:xfrm>
          <a:prstGeom xmlns:a="http://schemas.openxmlformats.org/drawingml/2006/main" prst="line">
            <a:avLst/>
          </a:prstGeom>
          <a:noFill xmlns:a="http://schemas.openxmlformats.org/drawingml/2006/main"/>
          <a:ln xmlns:a="http://schemas.openxmlformats.org/drawingml/2006/main" w="9525">
            <a:solidFill>
              <a:srgbClr val="DDE2E7"/>
            </a:solidFill>
            <a:prstDash val="solid"/>
          </a:ln>
        </p:spPr>
      </p:sp>
      <p:pic>
        <p:nvPicPr>
          <p:cNvPr id="24" name="screenshot-portfolio">
            <a:extLst xmlns:a="http://schemas.openxmlformats.org/drawingml/2006/main">
              <a:ext uri="{FF2B5EF4-FFF2-40B4-BE49-F238E27FC236}">
                <a16:creationId xmlns:a16="http://schemas.microsoft.com/office/drawing/2014/main" id="{CC92CB00-3E6D-401C-9784-461C3B1398F5}"/>
              </a:ext>
            </a:extLst>
          </p:cNvPr>
          <p:cNvPicPr>
            <a:picLocks xmlns:a="http://schemas.openxmlformats.org/drawingml/2006/main" noChangeAspect="1"/>
          </p:cNvPicPr>
          <p:nvPr/>
        </p:nvPicPr>
        <p:blipFill>
          <a:blip xmlns:r="http://schemas.openxmlformats.org/officeDocument/2006/relationships" xmlns:a="http://schemas.openxmlformats.org/drawingml/2006/main" r:embed="Rea52f5c1a1424481"/>
          <a:stretch xmlns:a="http://schemas.openxmlformats.org/drawingml/2006/main">
            <a:fillRect l="0" t="0" r="0" b="0"/>
          </a:stretch>
        </p:blipFill>
        <p:spPr>
          <a:xfrm xmlns:a="http://schemas.openxmlformats.org/drawingml/2006/main">
            <a:off x="640080" y="2834640"/>
            <a:ext cx="5486400" cy="3429000"/>
          </a:xfrm>
          <a:prstGeom xmlns:a="http://schemas.openxmlformats.org/drawingml/2006/main" prst="rect">
            <a:avLst/>
          </a:prstGeom>
        </p:spPr>
      </p:pic>
      <p:sp>
        <p:nvSpPr>
          <p:cNvPr id="25" name="screenshot-portfolio-frame">
            <a:extLst xmlns:a="http://schemas.openxmlformats.org/drawingml/2006/main">
              <a:ext uri="{FF2B5EF4-FFF2-40B4-BE49-F238E27FC236}">
                <a16:creationId xmlns:a16="http://schemas.microsoft.com/office/drawing/2014/main" id="{64254DA8-3CEB-40E3-8EAA-FD03D1B09A7D}"/>
              </a:ext>
            </a:extLst>
          </p:cNvPr>
          <p:cNvSpPr>
            <a:spLocks xmlns:a="http://schemas.openxmlformats.org/drawingml/2006/main" noGrp="1"/>
          </p:cNvSpPr>
          <p:nvPr/>
        </p:nvSpPr>
        <p:spPr>
          <a:xfrm xmlns:a="http://schemas.openxmlformats.org/drawingml/2006/main">
            <a:off x="640080" y="2834640"/>
            <a:ext cx="5486400" cy="3429000"/>
          </a:xfrm>
          <a:prstGeom xmlns:a="http://schemas.openxmlformats.org/drawingml/2006/main" prst="rect">
            <a:avLst/>
          </a:prstGeom>
          <a:ln xmlns:a="http://schemas.openxmlformats.org/drawingml/2006/main" w="9525">
            <a:solidFill>
              <a:srgbClr val="C5CDD5"/>
            </a:solidFill>
            <a:prstDash val="solid"/>
          </a:ln>
        </p:spPr>
      </p:sp>
      <p:sp>
        <p:nvSpPr>
          <p:cNvPr id="26" name="Text 23">
            <a:extLst xmlns:a="http://schemas.openxmlformats.org/drawingml/2006/main">
              <a:ext uri="{FF2B5EF4-FFF2-40B4-BE49-F238E27FC236}">
                <a16:creationId xmlns:a16="http://schemas.microsoft.com/office/drawing/2014/main" id="{9456D4D1-2E08-4973-A962-D2CA532A6F28}"/>
              </a:ext>
            </a:extLst>
          </p:cNvPr>
          <p:cNvSpPr>
            <a:spLocks xmlns:a="http://schemas.openxmlformats.org/drawingml/2006/main" noGrp="1"/>
          </p:cNvSpPr>
          <p:nvPr/>
        </p:nvSpPr>
        <p:spPr>
          <a:xfrm xmlns:a="http://schemas.openxmlformats.org/drawingml/2006/main">
            <a:off x="6583680" y="2834640"/>
            <a:ext cx="4967935" cy="3200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500" b="1">
                <a:solidFill>
                  <a:schemeClr val="tx1"/>
                </a:solidFill>
                <a:latin typeface="Arial"/>
                <a:ea typeface="Arial"/>
                <a:cs typeface="Arial"/>
              </a:rPr>
              <a:t>Chat or form</a:t>
            </a:r>
            <a:endParaRPr sz="1500"/>
          </a:p>
        </p:txBody>
      </p:sp>
      <p:sp>
        <p:nvSpPr>
          <p:cNvPr id="27" name="Text 24">
            <a:extLst xmlns:a="http://schemas.openxmlformats.org/drawingml/2006/main">
              <a:ext uri="{FF2B5EF4-FFF2-40B4-BE49-F238E27FC236}">
                <a16:creationId xmlns:a16="http://schemas.microsoft.com/office/drawing/2014/main" id="{7EE82B4E-E3EC-4FC5-ADF0-CD749EBAB249}"/>
              </a:ext>
            </a:extLst>
          </p:cNvPr>
          <p:cNvSpPr>
            <a:spLocks xmlns:a="http://schemas.openxmlformats.org/drawingml/2006/main" noGrp="1"/>
          </p:cNvSpPr>
          <p:nvPr/>
        </p:nvSpPr>
        <p:spPr>
          <a:xfrm xmlns:a="http://schemas.openxmlformats.org/drawingml/2006/main">
            <a:off x="6583680" y="3182112"/>
            <a:ext cx="4967935" cy="6400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300">
                <a:solidFill>
                  <a:schemeClr val="accent5"/>
                </a:solidFill>
                <a:latin typeface="Arial"/>
                <a:ea typeface="Arial"/>
                <a:cs typeface="Arial"/>
              </a:rPr>
              <a:t>The client can talk in English or 中文, or answer eight short questions. Both fill the same client file.</a:t>
            </a:r>
            <a:endParaRPr sz="1300"/>
          </a:p>
        </p:txBody>
      </p:sp>
      <p:sp>
        <p:nvSpPr>
          <p:cNvPr id="28" name="workflow-note-rule-1">
            <a:extLst xmlns:a="http://schemas.openxmlformats.org/drawingml/2006/main">
              <a:ext uri="{FF2B5EF4-FFF2-40B4-BE49-F238E27FC236}">
                <a16:creationId xmlns:a16="http://schemas.microsoft.com/office/drawing/2014/main" id="{63F9112E-1B42-4D46-9009-DE96E14494F4}"/>
              </a:ext>
            </a:extLst>
          </p:cNvPr>
          <p:cNvSpPr>
            <a:spLocks xmlns:a="http://schemas.openxmlformats.org/drawingml/2006/main" noGrp="1"/>
          </p:cNvSpPr>
          <p:nvPr/>
        </p:nvSpPr>
        <p:spPr>
          <a:xfrm xmlns:a="http://schemas.openxmlformats.org/drawingml/2006/main">
            <a:off x="6583680" y="3867912"/>
            <a:ext cx="4967935" cy="0"/>
          </a:xfrm>
          <a:prstGeom xmlns:a="http://schemas.openxmlformats.org/drawingml/2006/main" prst="line">
            <a:avLst/>
          </a:prstGeom>
          <a:noFill xmlns:a="http://schemas.openxmlformats.org/drawingml/2006/main"/>
          <a:ln xmlns:a="http://schemas.openxmlformats.org/drawingml/2006/main" w="9525">
            <a:solidFill>
              <a:srgbClr val="DDE2E7"/>
            </a:solidFill>
            <a:prstDash val="solid"/>
          </a:ln>
        </p:spPr>
      </p:sp>
      <p:sp>
        <p:nvSpPr>
          <p:cNvPr id="29" name="Text 26">
            <a:extLst xmlns:a="http://schemas.openxmlformats.org/drawingml/2006/main">
              <a:ext uri="{FF2B5EF4-FFF2-40B4-BE49-F238E27FC236}">
                <a16:creationId xmlns:a16="http://schemas.microsoft.com/office/drawing/2014/main" id="{E82B9C49-2CE1-4829-9EF6-4C4315B3C41B}"/>
              </a:ext>
            </a:extLst>
          </p:cNvPr>
          <p:cNvSpPr>
            <a:spLocks xmlns:a="http://schemas.openxmlformats.org/drawingml/2006/main" noGrp="1"/>
          </p:cNvSpPr>
          <p:nvPr/>
        </p:nvSpPr>
        <p:spPr>
          <a:xfrm xmlns:a="http://schemas.openxmlformats.org/drawingml/2006/main">
            <a:off x="6583680" y="3977640"/>
            <a:ext cx="4967935" cy="3200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500" b="1">
                <a:solidFill>
                  <a:schemeClr val="tx1"/>
                </a:solidFill>
                <a:latin typeface="Arial"/>
                <a:ea typeface="Arial"/>
                <a:cs typeface="Arial"/>
              </a:rPr>
              <a:t>Every number has a source</a:t>
            </a:r>
            <a:endParaRPr sz="1500"/>
          </a:p>
        </p:txBody>
      </p:sp>
      <p:sp>
        <p:nvSpPr>
          <p:cNvPr id="30" name="Text 27">
            <a:extLst xmlns:a="http://schemas.openxmlformats.org/drawingml/2006/main">
              <a:ext uri="{FF2B5EF4-FFF2-40B4-BE49-F238E27FC236}">
                <a16:creationId xmlns:a16="http://schemas.microsoft.com/office/drawing/2014/main" id="{CDA6A76A-DA15-42FA-B574-FF7FD8391593}"/>
              </a:ext>
            </a:extLst>
          </p:cNvPr>
          <p:cNvSpPr>
            <a:spLocks xmlns:a="http://schemas.openxmlformats.org/drawingml/2006/main" noGrp="1"/>
          </p:cNvSpPr>
          <p:nvPr/>
        </p:nvSpPr>
        <p:spPr>
          <a:xfrm xmlns:a="http://schemas.openxmlformats.org/drawingml/2006/main">
            <a:off x="6583680" y="4325112"/>
            <a:ext cx="4967935" cy="6400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300">
                <a:solidFill>
                  <a:schemeClr val="accent5"/>
                </a:solidFill>
                <a:latin typeface="Arial"/>
                <a:ea typeface="Arial"/>
                <a:cs typeface="Arial"/>
              </a:rPr>
              <a:t>Tap any figure to see the function that computed it and its audit record.</a:t>
            </a:r>
            <a:endParaRPr sz="1300"/>
          </a:p>
        </p:txBody>
      </p:sp>
      <p:sp>
        <p:nvSpPr>
          <p:cNvPr id="31" name="workflow-note-rule-2">
            <a:extLst xmlns:a="http://schemas.openxmlformats.org/drawingml/2006/main">
              <a:ext uri="{FF2B5EF4-FFF2-40B4-BE49-F238E27FC236}">
                <a16:creationId xmlns:a16="http://schemas.microsoft.com/office/drawing/2014/main" id="{1ACD2128-78FC-4B6C-AEF6-C291427E2201}"/>
              </a:ext>
            </a:extLst>
          </p:cNvPr>
          <p:cNvSpPr>
            <a:spLocks xmlns:a="http://schemas.openxmlformats.org/drawingml/2006/main" noGrp="1"/>
          </p:cNvSpPr>
          <p:nvPr/>
        </p:nvSpPr>
        <p:spPr>
          <a:xfrm xmlns:a="http://schemas.openxmlformats.org/drawingml/2006/main">
            <a:off x="6583680" y="5010912"/>
            <a:ext cx="4967935" cy="0"/>
          </a:xfrm>
          <a:prstGeom xmlns:a="http://schemas.openxmlformats.org/drawingml/2006/main" prst="line">
            <a:avLst/>
          </a:prstGeom>
          <a:noFill xmlns:a="http://schemas.openxmlformats.org/drawingml/2006/main"/>
          <a:ln xmlns:a="http://schemas.openxmlformats.org/drawingml/2006/main" w="9525">
            <a:solidFill>
              <a:srgbClr val="DDE2E7"/>
            </a:solidFill>
            <a:prstDash val="solid"/>
          </a:ln>
        </p:spPr>
      </p:sp>
      <p:sp>
        <p:nvSpPr>
          <p:cNvPr id="32" name="Text 29">
            <a:extLst xmlns:a="http://schemas.openxmlformats.org/drawingml/2006/main">
              <a:ext uri="{FF2B5EF4-FFF2-40B4-BE49-F238E27FC236}">
                <a16:creationId xmlns:a16="http://schemas.microsoft.com/office/drawing/2014/main" id="{3D7B7FC7-C3AD-4B75-A6FD-2A7C77B9958D}"/>
              </a:ext>
            </a:extLst>
          </p:cNvPr>
          <p:cNvSpPr>
            <a:spLocks xmlns:a="http://schemas.openxmlformats.org/drawingml/2006/main" noGrp="1"/>
          </p:cNvSpPr>
          <p:nvPr/>
        </p:nvSpPr>
        <p:spPr>
          <a:xfrm xmlns:a="http://schemas.openxmlformats.org/drawingml/2006/main">
            <a:off x="6583680" y="5120640"/>
            <a:ext cx="4967935" cy="3200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500" b="1">
                <a:solidFill>
                  <a:schemeClr val="tx1"/>
                </a:solidFill>
                <a:latin typeface="Arial"/>
                <a:ea typeface="Arial"/>
                <a:cs typeface="Arial"/>
              </a:rPr>
              <a:t>Two optional tools</a:t>
            </a:r>
            <a:endParaRPr sz="1500"/>
          </a:p>
        </p:txBody>
      </p:sp>
      <p:sp>
        <p:nvSpPr>
          <p:cNvPr id="33" name="Text 30">
            <a:extLst xmlns:a="http://schemas.openxmlformats.org/drawingml/2006/main">
              <a:ext uri="{FF2B5EF4-FFF2-40B4-BE49-F238E27FC236}">
                <a16:creationId xmlns:a16="http://schemas.microsoft.com/office/drawing/2014/main" id="{34ECCF5C-36BE-48EF-B428-306A57B84A9C}"/>
              </a:ext>
            </a:extLst>
          </p:cNvPr>
          <p:cNvSpPr>
            <a:spLocks xmlns:a="http://schemas.openxmlformats.org/drawingml/2006/main" noGrp="1"/>
          </p:cNvSpPr>
          <p:nvPr/>
        </p:nvSpPr>
        <p:spPr>
          <a:xfrm xmlns:a="http://schemas.openxmlformats.org/drawingml/2006/main">
            <a:off x="6583680" y="5468112"/>
            <a:ext cx="4967935" cy="6400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300">
                <a:solidFill>
                  <a:schemeClr val="accent5"/>
                </a:solidFill>
                <a:latin typeface="Arial"/>
                <a:ea typeface="Arial"/>
                <a:cs typeface="Arial"/>
              </a:rPr>
              <a:t>Compare products and run crisis tests when needed.</a:t>
            </a:r>
            <a:endParaRPr sz="1300"/>
          </a:p>
        </p:txBody>
      </p:sp>
      <p:sp>
        <p:nvSpPr>
          <p:cNvPr id="34" name="Slide Number Placeholder 0">
            <a:extLst xmlns:a="http://schemas.openxmlformats.org/drawingml/2006/main">
              <a:ext uri="{FF2B5EF4-FFF2-40B4-BE49-F238E27FC236}">
                <a16:creationId xmlns:a16="http://schemas.microsoft.com/office/drawing/2014/main" id="{E82AB3D5-81C6-4CE3-9F86-0261592392F3}"/>
              </a:ext>
            </a:extLst>
          </p:cNvPr>
          <p:cNvSpPr>
            <a:spLocks xmlns:a="http://schemas.openxmlformats.org/drawingml/2006/main" noGrp="1"/>
          </p:cNvSpPr>
          <p:nvPr>
            <p:ph type="sldNum" idx="4294967295"/>
          </p:nvPr>
        </p:nvSpPr>
        <p:spPr>
          <a:xfrm xmlns:a="http://schemas.openxmlformats.org/drawingml/2006/main">
            <a:off x="11002975" y="6419088"/>
            <a:ext cx="548640" cy="256032"/>
          </a:xfrm>
          <a:prstGeom xmlns:a="http://schemas.openxmlformats.org/drawingml/2006/main" prst="rect">
            <a:avLst/>
          </a:prstGeom>
        </p:spPr>
        <p:txBody>
          <a:bodyPr xmlns:a="http://schemas.openxmlformats.org/drawingml/2006/main"/>
          <a:lstStyle xmlns:a="http://schemas.openxmlformats.org/drawingml/2006/main">
            <a:lvl1pPr>
              <a:buNone/>
              <a:defRPr sz="950">
                <a:solidFill>
                  <a:schemeClr val="accent5"/>
                </a:solidFill>
              </a:defRPr>
            </a:lvl1pPr>
          </a:lstStyle>
          <a:p xmlns:a="http://schemas.openxmlformats.org/drawingml/2006/main">
            <a:pPr algn="r">
              <a:buNone/>
            </a:pPr>
            <a:fld id="{F7021451-1387-4CA6-816F-3879F97B5CBC}" type="slidenum">
              <a:rPr b="0"/>
              <a:t>4</a:t>
            </a:fld>
            <a:endParaRPr/>
          </a:p>
        </p:txBody>
      </p:sp>
    </p:spTree>
    <p:extLst>
      <p:ext uri="{BB962C8B-B14F-4D97-AF65-F5344CB8AC3E}">
        <p14:creationId xmlns:p14="http://schemas.microsoft.com/office/powerpoint/2010/main" val="2125958968"/>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2" name="Text 2">
            <a:extLst xmlns:a="http://schemas.openxmlformats.org/drawingml/2006/main">
              <a:ext uri="{FF2B5EF4-FFF2-40B4-BE49-F238E27FC236}">
                <a16:creationId xmlns:a16="http://schemas.microsoft.com/office/drawing/2014/main" id="{3566E124-512E-4A2D-9757-7E444F5082C2}"/>
              </a:ext>
            </a:extLst>
          </p:cNvPr>
          <p:cNvSpPr>
            <a:spLocks xmlns:a="http://schemas.openxmlformats.org/drawingml/2006/main" noGrp="1"/>
          </p:cNvSpPr>
          <p:nvPr>
            <p:ph type="title" idx="102" hasCustomPrompt="1"/>
          </p:nvPr>
        </p:nvSpPr>
        <p:spPr>
          <a:xfrm xmlns:a="http://schemas.openxmlformats.org/drawingml/2006/main">
            <a:off x="640080" y="457200"/>
            <a:ext cx="10911535" cy="7315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buNone/>
            </a:pPr>
            <a:r>
              <a:rPr sz="3000" b="1">
                <a:solidFill>
                  <a:schemeClr val="tx1"/>
                </a:solidFill>
                <a:latin typeface="Arial"/>
                <a:ea typeface="Arial"/>
                <a:cs typeface="Arial"/>
              </a:rPr>
              <a:t>Crash Rehearsal: what clients do, not what they say</a:t>
            </a:r>
            <a:endParaRPr sz="3000"/>
          </a:p>
        </p:txBody>
      </p:sp>
      <p:pic>
        <p:nvPicPr>
          <p:cNvPr id="3" name="screenshot-rehearsal">
            <a:extLst xmlns:a="http://schemas.openxmlformats.org/drawingml/2006/main">
              <a:ext uri="{FF2B5EF4-FFF2-40B4-BE49-F238E27FC236}">
                <a16:creationId xmlns:a16="http://schemas.microsoft.com/office/drawing/2014/main" id="{31C02405-55D1-409D-9216-6F5C2BD59061}"/>
              </a:ext>
            </a:extLst>
          </p:cNvPr>
          <p:cNvPicPr>
            <a:picLocks xmlns:a="http://schemas.openxmlformats.org/drawingml/2006/main" noChangeAspect="1"/>
          </p:cNvPicPr>
          <p:nvPr/>
        </p:nvPicPr>
        <p:blipFill>
          <a:blip xmlns:r="http://schemas.openxmlformats.org/officeDocument/2006/relationships" xmlns:a="http://schemas.openxmlformats.org/drawingml/2006/main" r:embed="R8a46b4acc04c4d38"/>
          <a:stretch xmlns:a="http://schemas.openxmlformats.org/drawingml/2006/main">
            <a:fillRect l="0" t="0" r="0" b="0"/>
          </a:stretch>
        </p:blipFill>
        <p:spPr>
          <a:xfrm xmlns:a="http://schemas.openxmlformats.org/drawingml/2006/main">
            <a:off x="640080" y="1417320"/>
            <a:ext cx="6035040" cy="3771900"/>
          </a:xfrm>
          <a:prstGeom xmlns:a="http://schemas.openxmlformats.org/drawingml/2006/main" prst="rect">
            <a:avLst/>
          </a:prstGeom>
        </p:spPr>
      </p:pic>
      <p:sp>
        <p:nvSpPr>
          <p:cNvPr id="4" name="screenshot-rehearsal-frame">
            <a:extLst xmlns:a="http://schemas.openxmlformats.org/drawingml/2006/main">
              <a:ext uri="{FF2B5EF4-FFF2-40B4-BE49-F238E27FC236}">
                <a16:creationId xmlns:a16="http://schemas.microsoft.com/office/drawing/2014/main" id="{4CED80AD-E96B-4450-BC1D-1F62E6E1C3F5}"/>
              </a:ext>
            </a:extLst>
          </p:cNvPr>
          <p:cNvSpPr>
            <a:spLocks xmlns:a="http://schemas.openxmlformats.org/drawingml/2006/main" noGrp="1"/>
          </p:cNvSpPr>
          <p:nvPr/>
        </p:nvSpPr>
        <p:spPr>
          <a:xfrm xmlns:a="http://schemas.openxmlformats.org/drawingml/2006/main">
            <a:off x="640080" y="1417320"/>
            <a:ext cx="6035040" cy="3771900"/>
          </a:xfrm>
          <a:prstGeom xmlns:a="http://schemas.openxmlformats.org/drawingml/2006/main" prst="rect">
            <a:avLst/>
          </a:prstGeom>
          <a:ln xmlns:a="http://schemas.openxmlformats.org/drawingml/2006/main" w="9525">
            <a:solidFill>
              <a:srgbClr val="C5CDD5"/>
            </a:solidFill>
            <a:prstDash val="solid"/>
          </a:ln>
        </p:spPr>
      </p:sp>
      <p:sp>
        <p:nvSpPr>
          <p:cNvPr id="5" name="Text 2">
            <a:extLst xmlns:a="http://schemas.openxmlformats.org/drawingml/2006/main">
              <a:ext uri="{FF2B5EF4-FFF2-40B4-BE49-F238E27FC236}">
                <a16:creationId xmlns:a16="http://schemas.microsoft.com/office/drawing/2014/main" id="{C1A2AC8C-FCC3-4BAB-B544-D054C515E9CB}"/>
              </a:ext>
            </a:extLst>
          </p:cNvPr>
          <p:cNvSpPr>
            <a:spLocks xmlns:a="http://schemas.openxmlformats.org/drawingml/2006/main" noGrp="1"/>
          </p:cNvSpPr>
          <p:nvPr/>
        </p:nvSpPr>
        <p:spPr>
          <a:xfrm xmlns:a="http://schemas.openxmlformats.org/drawingml/2006/main">
            <a:off x="7132320" y="1417320"/>
            <a:ext cx="4419295" cy="3200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500" b="1">
                <a:solidFill>
                  <a:schemeClr val="tx1"/>
                </a:solidFill>
                <a:latin typeface="Arial"/>
                <a:ea typeface="Arial"/>
                <a:cs typeface="Arial"/>
              </a:rPr>
              <a:t>Real history</a:t>
            </a:r>
            <a:endParaRPr sz="1500"/>
          </a:p>
        </p:txBody>
      </p:sp>
      <p:sp>
        <p:nvSpPr>
          <p:cNvPr id="6" name="Text 3">
            <a:extLst xmlns:a="http://schemas.openxmlformats.org/drawingml/2006/main">
              <a:ext uri="{FF2B5EF4-FFF2-40B4-BE49-F238E27FC236}">
                <a16:creationId xmlns:a16="http://schemas.microsoft.com/office/drawing/2014/main" id="{F7203EB1-60BD-4946-8063-B55CE90843F6}"/>
              </a:ext>
            </a:extLst>
          </p:cNvPr>
          <p:cNvSpPr>
            <a:spLocks xmlns:a="http://schemas.openxmlformats.org/drawingml/2006/main" noGrp="1"/>
          </p:cNvSpPr>
          <p:nvPr/>
        </p:nvSpPr>
        <p:spPr>
          <a:xfrm xmlns:a="http://schemas.openxmlformats.org/drawingml/2006/main">
            <a:off x="7132320" y="1764792"/>
            <a:ext cx="4419295" cy="8229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300">
                <a:solidFill>
                  <a:schemeClr val="accent5"/>
                </a:solidFill>
                <a:latin typeface="Arial"/>
                <a:ea typeface="Arial"/>
                <a:cs typeface="Arial"/>
              </a:rPr>
              <a:t>October 2007 to March 2013, month by month, on Kenneth R. French, FRED and World Bank data, with the headlines of the time.</a:t>
            </a:r>
            <a:endParaRPr sz="1300"/>
          </a:p>
        </p:txBody>
      </p:sp>
      <p:sp>
        <p:nvSpPr>
          <p:cNvPr id="7" name="rehearsal-rule-1">
            <a:extLst xmlns:a="http://schemas.openxmlformats.org/drawingml/2006/main">
              <a:ext uri="{FF2B5EF4-FFF2-40B4-BE49-F238E27FC236}">
                <a16:creationId xmlns:a16="http://schemas.microsoft.com/office/drawing/2014/main" id="{9E1A7CF1-D037-4D7A-959F-CE1BF4C1E9B9}"/>
              </a:ext>
            </a:extLst>
          </p:cNvPr>
          <p:cNvSpPr>
            <a:spLocks xmlns:a="http://schemas.openxmlformats.org/drawingml/2006/main" noGrp="1"/>
          </p:cNvSpPr>
          <p:nvPr/>
        </p:nvSpPr>
        <p:spPr>
          <a:xfrm xmlns:a="http://schemas.openxmlformats.org/drawingml/2006/main">
            <a:off x="7132320" y="2564892"/>
            <a:ext cx="4419295" cy="0"/>
          </a:xfrm>
          <a:prstGeom xmlns:a="http://schemas.openxmlformats.org/drawingml/2006/main" prst="line">
            <a:avLst/>
          </a:prstGeom>
          <a:noFill xmlns:a="http://schemas.openxmlformats.org/drawingml/2006/main"/>
          <a:ln xmlns:a="http://schemas.openxmlformats.org/drawingml/2006/main" w="9525">
            <a:solidFill>
              <a:srgbClr val="DDE2E7"/>
            </a:solidFill>
            <a:prstDash val="solid"/>
          </a:ln>
        </p:spPr>
      </p:sp>
      <p:sp>
        <p:nvSpPr>
          <p:cNvPr id="8" name="Text 5">
            <a:extLst xmlns:a="http://schemas.openxmlformats.org/drawingml/2006/main">
              <a:ext uri="{FF2B5EF4-FFF2-40B4-BE49-F238E27FC236}">
                <a16:creationId xmlns:a16="http://schemas.microsoft.com/office/drawing/2014/main" id="{E9D1A3B2-981A-4C47-813A-B626C07880C5}"/>
              </a:ext>
            </a:extLst>
          </p:cNvPr>
          <p:cNvSpPr>
            <a:spLocks xmlns:a="http://schemas.openxmlformats.org/drawingml/2006/main" noGrp="1"/>
          </p:cNvSpPr>
          <p:nvPr/>
        </p:nvSpPr>
        <p:spPr>
          <a:xfrm xmlns:a="http://schemas.openxmlformats.org/drawingml/2006/main">
            <a:off x="7132320" y="2674620"/>
            <a:ext cx="4419295" cy="3200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500" b="1">
                <a:solidFill>
                  <a:schemeClr val="tx1"/>
                </a:solidFill>
                <a:latin typeface="Arial"/>
                <a:ea typeface="Arial"/>
                <a:cs typeface="Arial"/>
              </a:rPr>
              <a:t>Revealed tolerance</a:t>
            </a:r>
            <a:endParaRPr sz="1500"/>
          </a:p>
        </p:txBody>
      </p:sp>
      <p:sp>
        <p:nvSpPr>
          <p:cNvPr id="9" name="Text 6">
            <a:extLst xmlns:a="http://schemas.openxmlformats.org/drawingml/2006/main">
              <a:ext uri="{FF2B5EF4-FFF2-40B4-BE49-F238E27FC236}">
                <a16:creationId xmlns:a16="http://schemas.microsoft.com/office/drawing/2014/main" id="{DFD0A46A-E429-4E07-978E-812D6E383FA2}"/>
              </a:ext>
            </a:extLst>
          </p:cNvPr>
          <p:cNvSpPr>
            <a:spLocks xmlns:a="http://schemas.openxmlformats.org/drawingml/2006/main" noGrp="1"/>
          </p:cNvSpPr>
          <p:nvPr/>
        </p:nvSpPr>
        <p:spPr>
          <a:xfrm xmlns:a="http://schemas.openxmlformats.org/drawingml/2006/main">
            <a:off x="7132320" y="3022092"/>
            <a:ext cx="4419295" cy="8229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300">
                <a:solidFill>
                  <a:schemeClr val="accent5"/>
                </a:solidFill>
                <a:latin typeface="Arial"/>
                <a:ea typeface="Arial"/>
                <a:cs typeface="Arial"/>
              </a:rPr>
              <a:t>Where the client sells sets the risk class their behaviour supports.</a:t>
            </a:r>
            <a:endParaRPr sz="1300"/>
          </a:p>
        </p:txBody>
      </p:sp>
      <p:sp>
        <p:nvSpPr>
          <p:cNvPr id="10" name="rehearsal-rule-2">
            <a:extLst xmlns:a="http://schemas.openxmlformats.org/drawingml/2006/main">
              <a:ext uri="{FF2B5EF4-FFF2-40B4-BE49-F238E27FC236}">
                <a16:creationId xmlns:a16="http://schemas.microsoft.com/office/drawing/2014/main" id="{1301E5CB-8102-4694-B38B-D56682703D5B}"/>
              </a:ext>
            </a:extLst>
          </p:cNvPr>
          <p:cNvSpPr>
            <a:spLocks xmlns:a="http://schemas.openxmlformats.org/drawingml/2006/main" noGrp="1"/>
          </p:cNvSpPr>
          <p:nvPr/>
        </p:nvSpPr>
        <p:spPr>
          <a:xfrm xmlns:a="http://schemas.openxmlformats.org/drawingml/2006/main">
            <a:off x="7132320" y="3822192"/>
            <a:ext cx="4419295" cy="0"/>
          </a:xfrm>
          <a:prstGeom xmlns:a="http://schemas.openxmlformats.org/drawingml/2006/main" prst="line">
            <a:avLst/>
          </a:prstGeom>
          <a:noFill xmlns:a="http://schemas.openxmlformats.org/drawingml/2006/main"/>
          <a:ln xmlns:a="http://schemas.openxmlformats.org/drawingml/2006/main" w="9525">
            <a:solidFill>
              <a:srgbClr val="DDE2E7"/>
            </a:solidFill>
            <a:prstDash val="solid"/>
          </a:ln>
        </p:spPr>
      </p:sp>
      <p:sp>
        <p:nvSpPr>
          <p:cNvPr id="11" name="Text 8">
            <a:extLst xmlns:a="http://schemas.openxmlformats.org/drawingml/2006/main">
              <a:ext uri="{FF2B5EF4-FFF2-40B4-BE49-F238E27FC236}">
                <a16:creationId xmlns:a16="http://schemas.microsoft.com/office/drawing/2014/main" id="{FDDDC370-2296-429D-982D-BAE601A72918}"/>
              </a:ext>
            </a:extLst>
          </p:cNvPr>
          <p:cNvSpPr>
            <a:spLocks xmlns:a="http://schemas.openxmlformats.org/drawingml/2006/main" noGrp="1"/>
          </p:cNvSpPr>
          <p:nvPr/>
        </p:nvSpPr>
        <p:spPr>
          <a:xfrm xmlns:a="http://schemas.openxmlformats.org/drawingml/2006/main">
            <a:off x="7132320" y="3931920"/>
            <a:ext cx="4419295" cy="3200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500" b="1">
                <a:solidFill>
                  <a:schemeClr val="tx1"/>
                </a:solidFill>
                <a:latin typeface="Arial"/>
                <a:ea typeface="Arial"/>
                <a:cs typeface="Arial"/>
              </a:rPr>
              <a:t>Only ever safer</a:t>
            </a:r>
            <a:endParaRPr sz="1500"/>
          </a:p>
        </p:txBody>
      </p:sp>
      <p:sp>
        <p:nvSpPr>
          <p:cNvPr id="12" name="Text 9">
            <a:extLst xmlns:a="http://schemas.openxmlformats.org/drawingml/2006/main">
              <a:ext uri="{FF2B5EF4-FFF2-40B4-BE49-F238E27FC236}">
                <a16:creationId xmlns:a16="http://schemas.microsoft.com/office/drawing/2014/main" id="{1CCF7E26-D9C7-49EA-8478-A3DF2E36BD9E}"/>
              </a:ext>
            </a:extLst>
          </p:cNvPr>
          <p:cNvSpPr>
            <a:spLocks xmlns:a="http://schemas.openxmlformats.org/drawingml/2006/main" noGrp="1"/>
          </p:cNvSpPr>
          <p:nvPr/>
        </p:nvSpPr>
        <p:spPr>
          <a:xfrm xmlns:a="http://schemas.openxmlformats.org/drawingml/2006/main">
            <a:off x="7132320" y="4279392"/>
            <a:ext cx="4419295" cy="8229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300">
                <a:solidFill>
                  <a:schemeClr val="accent5"/>
                </a:solidFill>
                <a:latin typeface="Arial"/>
                <a:ea typeface="Arial"/>
                <a:cs typeface="Arial"/>
              </a:rPr>
              <a:t>The new class is the lower of stated and revealed. Holding never raises it. The result is logged and printed on the client's report.</a:t>
            </a:r>
            <a:endParaRPr sz="1300"/>
          </a:p>
        </p:txBody>
      </p:sp>
      <p:sp>
        <p:nvSpPr>
          <p:cNvPr id="13" name="rehearsal-example-rule">
            <a:extLst xmlns:a="http://schemas.openxmlformats.org/drawingml/2006/main">
              <a:ext uri="{FF2B5EF4-FFF2-40B4-BE49-F238E27FC236}">
                <a16:creationId xmlns:a16="http://schemas.microsoft.com/office/drawing/2014/main" id="{51BD1E2A-1F48-43AB-BDFC-490A74F13233}"/>
              </a:ext>
            </a:extLst>
          </p:cNvPr>
          <p:cNvSpPr>
            <a:spLocks xmlns:a="http://schemas.openxmlformats.org/drawingml/2006/main" noGrp="1"/>
          </p:cNvSpPr>
          <p:nvPr/>
        </p:nvSpPr>
        <p:spPr>
          <a:xfrm xmlns:a="http://schemas.openxmlformats.org/drawingml/2006/main">
            <a:off x="640080" y="5440680"/>
            <a:ext cx="10911535" cy="0"/>
          </a:xfrm>
          <a:prstGeom xmlns:a="http://schemas.openxmlformats.org/drawingml/2006/main" prst="line">
            <a:avLst/>
          </a:prstGeom>
          <a:noFill xmlns:a="http://schemas.openxmlformats.org/drawingml/2006/main"/>
          <a:ln xmlns:a="http://schemas.openxmlformats.org/drawingml/2006/main" w="9525">
            <a:solidFill>
              <a:srgbClr val="C5CDD5"/>
            </a:solidFill>
            <a:prstDash val="solid"/>
          </a:ln>
        </p:spPr>
      </p:sp>
      <p:sp>
        <p:nvSpPr>
          <p:cNvPr id="14" name="Text 11">
            <a:extLst xmlns:a="http://schemas.openxmlformats.org/drawingml/2006/main">
              <a:ext uri="{FF2B5EF4-FFF2-40B4-BE49-F238E27FC236}">
                <a16:creationId xmlns:a16="http://schemas.microsoft.com/office/drawing/2014/main" id="{236F7B15-8872-42C5-AF79-4E0680D06C16}"/>
              </a:ext>
            </a:extLst>
          </p:cNvPr>
          <p:cNvSpPr>
            <a:spLocks xmlns:a="http://schemas.openxmlformats.org/drawingml/2006/main" noGrp="1"/>
          </p:cNvSpPr>
          <p:nvPr/>
        </p:nvSpPr>
        <p:spPr>
          <a:xfrm xmlns:a="http://schemas.openxmlformats.org/drawingml/2006/main">
            <a:off x="640080" y="5577840"/>
            <a:ext cx="10911535" cy="6858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400" b="1">
                <a:solidFill>
                  <a:schemeClr val="tx1"/>
                </a:solidFill>
                <a:latin typeface="Arial"/>
                <a:ea typeface="Arial"/>
                <a:cs typeface="Arial"/>
              </a:rPr>
              <a:t>Evidence session 02:  </a:t>
            </a:r>
            <a:r>
              <a:rPr sz="1400">
                <a:solidFill>
                  <a:schemeClr val="accent5"/>
                </a:solidFill>
                <a:latin typeface="Arial"/>
                <a:ea typeface="Arial"/>
                <a:cs typeface="Arial"/>
              </a:rPr>
              <a:t>the client said they would buy more in a fall, then sold in September 2008, 12.5% below the peak. Holding would have ended at 133,266 on 100,000; selling ended at 89,601. Class lowered from C5 to C3, and the old C5 portfolio was refused.</a:t>
            </a:r>
            <a:endParaRPr sz="1400"/>
          </a:p>
        </p:txBody>
      </p:sp>
      <p:sp>
        <p:nvSpPr>
          <p:cNvPr id="25" name="Slide Number Placeholder 0">
            <a:extLst xmlns:a="http://schemas.openxmlformats.org/drawingml/2006/main">
              <a:ext uri="{FF2B5EF4-FFF2-40B4-BE49-F238E27FC236}">
                <a16:creationId xmlns:a16="http://schemas.microsoft.com/office/drawing/2014/main" id="{D682A2B4-B24D-43B1-ACD2-7DA91464BD4A}"/>
              </a:ext>
            </a:extLst>
          </p:cNvPr>
          <p:cNvSpPr>
            <a:spLocks xmlns:a="http://schemas.openxmlformats.org/drawingml/2006/main" noGrp="1"/>
          </p:cNvSpPr>
          <p:nvPr>
            <p:ph type="sldNum" idx="4294967295"/>
          </p:nvPr>
        </p:nvSpPr>
        <p:spPr>
          <a:xfrm xmlns:a="http://schemas.openxmlformats.org/drawingml/2006/main">
            <a:off x="11002975" y="6419088"/>
            <a:ext cx="548640" cy="256032"/>
          </a:xfrm>
          <a:prstGeom xmlns:a="http://schemas.openxmlformats.org/drawingml/2006/main" prst="rect">
            <a:avLst/>
          </a:prstGeom>
        </p:spPr>
        <p:txBody>
          <a:bodyPr xmlns:a="http://schemas.openxmlformats.org/drawingml/2006/main"/>
          <a:lstStyle xmlns:a="http://schemas.openxmlformats.org/drawingml/2006/main">
            <a:lvl1pPr>
              <a:buNone/>
              <a:defRPr sz="950">
                <a:solidFill>
                  <a:schemeClr val="accent5"/>
                </a:solidFill>
              </a:defRPr>
            </a:lvl1pPr>
          </a:lstStyle>
          <a:p xmlns:a="http://schemas.openxmlformats.org/drawingml/2006/main">
            <a:pPr algn="r">
              <a:buNone/>
            </a:pPr>
            <a:fld id="{F7021451-1387-4CA6-816F-3879F97B5CBC}" type="slidenum">
              <a:rPr b="0"/>
              <a:t>5</a:t>
            </a:fld>
            <a:endParaRPr/>
          </a:p>
        </p:txBody>
      </p:sp>
    </p:spTree>
    <p:extLst>
      <p:ext uri="{BB962C8B-B14F-4D97-AF65-F5344CB8AC3E}">
        <p14:creationId xmlns:p14="http://schemas.microsoft.com/office/powerpoint/2010/main" val="1719855684"/>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2" name="Text 2">
            <a:extLst xmlns:a="http://schemas.openxmlformats.org/drawingml/2006/main">
              <a:ext uri="{FF2B5EF4-FFF2-40B4-BE49-F238E27FC236}">
                <a16:creationId xmlns:a16="http://schemas.microsoft.com/office/drawing/2014/main" id="{DC063870-D077-4719-907D-F5CE04085EB1}"/>
              </a:ext>
            </a:extLst>
          </p:cNvPr>
          <p:cNvSpPr>
            <a:spLocks xmlns:a="http://schemas.openxmlformats.org/drawingml/2006/main" noGrp="1"/>
          </p:cNvSpPr>
          <p:nvPr>
            <p:ph type="title" idx="102" hasCustomPrompt="1"/>
          </p:nvPr>
        </p:nvSpPr>
        <p:spPr>
          <a:xfrm xmlns:a="http://schemas.openxmlformats.org/drawingml/2006/main">
            <a:off x="640080" y="457200"/>
            <a:ext cx="10911535" cy="7315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buNone/>
            </a:pPr>
            <a:r>
              <a:rPr sz="3000" b="1">
                <a:solidFill>
                  <a:schemeClr val="tx1"/>
                </a:solidFill>
                <a:latin typeface="Arial"/>
                <a:ea typeface="Arial"/>
                <a:cs typeface="Arial"/>
              </a:rPr>
              <a:t>The model talks. Code decides.</a:t>
            </a:r>
            <a:endParaRPr sz="3000"/>
          </a:p>
        </p:txBody>
      </p:sp>
      <p:graphicFrame>
        <p:nvGraphicFramePr>
          <p:cNvPr id="7" name="boundary-table">
            <a:extLst xmlns:a="http://schemas.openxmlformats.org/drawingml/2006/main">
              <a:ext uri="{FF2B5EF4-FFF2-40B4-BE49-F238E27FC236}">
                <a16:creationId xmlns:a16="http://schemas.microsoft.com/office/drawing/2014/main" id="{8F6BE8CF-BC0F-4721-A404-F435B8E95934}"/>
              </a:ext>
            </a:extLst>
          </p:cNvPr>
          <p:cNvGraphicFramePr/>
          <p:nvPr/>
        </p:nvGraphicFramePr>
        <p:xfrm>
          <a:off xmlns:a="http://schemas.openxmlformats.org/drawingml/2006/main" x="640080" y="1417320"/>
          <a:ext xmlns:a="http://schemas.openxmlformats.org/drawingml/2006/main" cx="7040880" cy="914400"/>
        </p:xfrm>
        <a:graphic xmlns:a="http://schemas.openxmlformats.org/drawingml/2006/main">
          <a:graphicData uri="http://schemas.openxmlformats.org/drawingml/2006/table">
            <a:tbl>
              <a:tblPr/>
              <a:tblGrid>
                <a:gridCol w="2651760"/>
                <a:gridCol w="2286000"/>
                <a:gridCol w="2103120"/>
              </a:tblGrid>
              <a:tr h="566928">
                <a:tc>
                  <a:txBody>
                    <a:bodyPr/>
                    <a:lstStyle/>
                    <a:p>
                      <a:pPr marL="0" indent="0">
                        <a:buNone/>
                      </a:pPr>
                      <a:r>
                        <a:rPr sz="1200" b="1">
                          <a:solidFill>
                            <a:schemeClr val="accent5"/>
                          </a:solidFill>
                          <a:latin typeface="Arial"/>
                          <a:ea typeface="Arial"/>
                          <a:cs typeface="Arial"/>
                        </a:rPr>
                        <a:t>Concern</a:t>
                      </a:r>
                      <a:endParaRPr sz="1200">
                        <a:latin typeface="Arial"/>
                        <a:ea typeface="Arial"/>
                        <a:cs typeface="Arial"/>
                      </a:endParaRPr>
                    </a:p>
                  </a:txBody>
                  <a:tcPr marL="0" marR="109728" marT="54864" marB="54864" anchor="ctr">
                    <a:lnL w="0" cmpd="sng">
                      <a:noFill/>
                    </a:lnL>
                    <a:lnR w="0" cmpd="sng">
                      <a:noFill/>
                    </a:lnR>
                    <a:lnT w="0" cmpd="sng">
                      <a:noFill/>
                    </a:lnT>
                    <a:lnB w="12700" cmpd="sng">
                      <a:solidFill>
                        <a:srgbClr val="C5CDD5"/>
                      </a:solidFill>
                      <a:prstDash val="solid"/>
                    </a:lnB>
                  </a:tcPr>
                </a:tc>
                <a:tc>
                  <a:txBody>
                    <a:bodyPr/>
                    <a:lstStyle/>
                    <a:p>
                      <a:pPr marL="0" indent="0">
                        <a:buNone/>
                      </a:pPr>
                      <a:r>
                        <a:rPr sz="1200" b="1">
                          <a:solidFill>
                            <a:schemeClr val="accent5"/>
                          </a:solidFill>
                          <a:latin typeface="Arial"/>
                          <a:ea typeface="Arial"/>
                          <a:cs typeface="Arial"/>
                        </a:rPr>
                        <a:t>Owned by</a:t>
                      </a:r>
                      <a:endParaRPr sz="1200">
                        <a:latin typeface="Arial"/>
                        <a:ea typeface="Arial"/>
                        <a:cs typeface="Arial"/>
                      </a:endParaRPr>
                    </a:p>
                  </a:txBody>
                  <a:tcPr marL="0" marR="109728" marT="54864" marB="54864" anchor="ctr">
                    <a:lnL w="0" cmpd="sng">
                      <a:noFill/>
                    </a:lnL>
                    <a:lnR w="0" cmpd="sng">
                      <a:noFill/>
                    </a:lnR>
                    <a:lnT w="0" cmpd="sng">
                      <a:noFill/>
                    </a:lnT>
                    <a:lnB w="12700" cmpd="sng">
                      <a:solidFill>
                        <a:srgbClr val="C5CDD5"/>
                      </a:solidFill>
                      <a:prstDash val="solid"/>
                    </a:lnB>
                  </a:tcPr>
                </a:tc>
                <a:tc>
                  <a:txBody>
                    <a:bodyPr/>
                    <a:lstStyle/>
                    <a:p>
                      <a:pPr marL="0" indent="0">
                        <a:buNone/>
                      </a:pPr>
                      <a:r>
                        <a:rPr sz="1200" b="1">
                          <a:solidFill>
                            <a:schemeClr val="accent5"/>
                          </a:solidFill>
                          <a:latin typeface="Arial"/>
                          <a:ea typeface="Arial"/>
                          <a:cs typeface="Arial"/>
                        </a:rPr>
                        <a:t>Why</a:t>
                      </a:r>
                      <a:endParaRPr sz="1200">
                        <a:latin typeface="Arial"/>
                        <a:ea typeface="Arial"/>
                        <a:cs typeface="Arial"/>
                      </a:endParaRPr>
                    </a:p>
                  </a:txBody>
                  <a:tcPr marL="0" marR="109728" marT="54864" marB="54864" anchor="ctr">
                    <a:lnL w="0" cmpd="sng">
                      <a:noFill/>
                    </a:lnL>
                    <a:lnR w="0" cmpd="sng">
                      <a:noFill/>
                    </a:lnR>
                    <a:lnT w="0" cmpd="sng">
                      <a:noFill/>
                    </a:lnT>
                    <a:lnB w="12700" cmpd="sng">
                      <a:solidFill>
                        <a:srgbClr val="C5CDD5"/>
                      </a:solidFill>
                      <a:prstDash val="solid"/>
                    </a:lnB>
                  </a:tcPr>
                </a:tc>
              </a:tr>
              <a:tr h="566928">
                <a:tc>
                  <a:txBody>
                    <a:bodyPr/>
                    <a:lstStyle/>
                    <a:p>
                      <a:pPr marL="0" indent="0">
                        <a:buNone/>
                      </a:pPr>
                      <a:r>
                        <a:rPr sz="1300">
                          <a:solidFill>
                            <a:schemeClr val="tx1"/>
                          </a:solidFill>
                          <a:latin typeface="Arial"/>
                          <a:ea typeface="Arial"/>
                          <a:cs typeface="Arial"/>
                        </a:rPr>
                        <a:t>Conversation and explanations</a:t>
                      </a:r>
                      <a:endParaRPr sz="1300">
                        <a:latin typeface="Arial"/>
                        <a:ea typeface="Arial"/>
                        <a:cs typeface="Arial"/>
                      </a:endParaRPr>
                    </a:p>
                  </a:txBody>
                  <a:tcPr marL="0" marR="109728" marT="54864" marB="54864" anchor="ctr">
                    <a:lnL w="0" cmpd="sng">
                      <a:noFill/>
                    </a:lnL>
                    <a:lnR w="0" cmpd="sng">
                      <a:noFill/>
                    </a:lnR>
                    <a:lnT w="0" cmpd="sng">
                      <a:noFill/>
                    </a:lnT>
                    <a:lnB w="9525" cmpd="sng">
                      <a:solidFill>
                        <a:srgbClr val="DDE2E7"/>
                      </a:solidFill>
                      <a:prstDash val="solid"/>
                    </a:lnB>
                  </a:tcPr>
                </a:tc>
                <a:tc>
                  <a:txBody>
                    <a:bodyPr/>
                    <a:lstStyle/>
                    <a:p>
                      <a:pPr marL="0" indent="0">
                        <a:buNone/>
                      </a:pPr>
                      <a:r>
                        <a:rPr sz="1300">
                          <a:solidFill>
                            <a:schemeClr val="tx1"/>
                          </a:solidFill>
                          <a:latin typeface="Arial"/>
                          <a:ea typeface="Arial"/>
                          <a:cs typeface="Arial"/>
                        </a:rPr>
                        <a:t>Language model (Groq)</a:t>
                      </a:r>
                      <a:endParaRPr sz="1300">
                        <a:latin typeface="Arial"/>
                        <a:ea typeface="Arial"/>
                        <a:cs typeface="Arial"/>
                      </a:endParaRPr>
                    </a:p>
                  </a:txBody>
                  <a:tcPr marL="0" marR="109728" marT="54864" marB="54864" anchor="ctr">
                    <a:lnL w="0" cmpd="sng">
                      <a:noFill/>
                    </a:lnL>
                    <a:lnR w="0" cmpd="sng">
                      <a:noFill/>
                    </a:lnR>
                    <a:lnT w="0" cmpd="sng">
                      <a:noFill/>
                    </a:lnT>
                    <a:lnB w="9525" cmpd="sng">
                      <a:solidFill>
                        <a:srgbClr val="DDE2E7"/>
                      </a:solidFill>
                      <a:prstDash val="solid"/>
                    </a:lnB>
                  </a:tcPr>
                </a:tc>
                <a:tc>
                  <a:txBody>
                    <a:bodyPr/>
                    <a:lstStyle/>
                    <a:p>
                      <a:pPr marL="0" indent="0">
                        <a:buNone/>
                      </a:pPr>
                      <a:r>
                        <a:rPr sz="1300">
                          <a:solidFill>
                            <a:schemeClr val="tx1"/>
                          </a:solidFill>
                          <a:latin typeface="Arial"/>
                          <a:ea typeface="Arial"/>
                          <a:cs typeface="Arial"/>
                        </a:rPr>
                        <a:t>Language is what models do well</a:t>
                      </a:r>
                      <a:endParaRPr sz="1300">
                        <a:latin typeface="Arial"/>
                        <a:ea typeface="Arial"/>
                        <a:cs typeface="Arial"/>
                      </a:endParaRPr>
                    </a:p>
                  </a:txBody>
                  <a:tcPr marL="0" marR="109728" marT="54864" marB="54864" anchor="ctr">
                    <a:lnL w="0" cmpd="sng">
                      <a:noFill/>
                    </a:lnL>
                    <a:lnR w="0" cmpd="sng">
                      <a:noFill/>
                    </a:lnR>
                    <a:lnT w="0" cmpd="sng">
                      <a:noFill/>
                    </a:lnT>
                    <a:lnB w="9525" cmpd="sng">
                      <a:solidFill>
                        <a:srgbClr val="DDE2E7"/>
                      </a:solidFill>
                      <a:prstDash val="solid"/>
                    </a:lnB>
                  </a:tcPr>
                </a:tc>
              </a:tr>
              <a:tr h="566928">
                <a:tc>
                  <a:txBody>
                    <a:bodyPr/>
                    <a:lstStyle/>
                    <a:p>
                      <a:pPr marL="0" indent="0">
                        <a:buNone/>
                      </a:pPr>
                      <a:r>
                        <a:rPr sz="1300">
                          <a:solidFill>
                            <a:schemeClr val="tx1"/>
                          </a:solidFill>
                          <a:latin typeface="Arial"/>
                          <a:ea typeface="Arial"/>
                          <a:cs typeface="Arial"/>
                        </a:rPr>
                        <a:t>Risk class, weights, returns, fees, stress losses, goal odds</a:t>
                      </a:r>
                      <a:endParaRPr sz="1300">
                        <a:latin typeface="Arial"/>
                        <a:ea typeface="Arial"/>
                        <a:cs typeface="Arial"/>
                      </a:endParaRPr>
                    </a:p>
                  </a:txBody>
                  <a:tcPr marL="0" marR="109728" marT="54864" marB="54864" anchor="ctr">
                    <a:lnL w="0" cmpd="sng">
                      <a:noFill/>
                    </a:lnL>
                    <a:lnR w="0" cmpd="sng">
                      <a:noFill/>
                    </a:lnR>
                    <a:lnT w="0" cmpd="sng">
                      <a:noFill/>
                    </a:lnT>
                    <a:lnB w="9525" cmpd="sng">
                      <a:solidFill>
                        <a:srgbClr val="DDE2E7"/>
                      </a:solidFill>
                      <a:prstDash val="solid"/>
                    </a:lnB>
                  </a:tcPr>
                </a:tc>
                <a:tc>
                  <a:txBody>
                    <a:bodyPr/>
                    <a:lstStyle/>
                    <a:p>
                      <a:pPr marL="0" indent="0">
                        <a:buNone/>
                      </a:pPr>
                      <a:r>
                        <a:rPr sz="1300">
                          <a:solidFill>
                            <a:schemeClr val="tx1"/>
                          </a:solidFill>
                          <a:latin typeface="Arial"/>
                          <a:ea typeface="Arial"/>
                          <a:cs typeface="Arial"/>
                        </a:rPr>
                        <a:t>Deterministic, tested Python</a:t>
                      </a:r>
                      <a:endParaRPr sz="1300">
                        <a:latin typeface="Arial"/>
                        <a:ea typeface="Arial"/>
                        <a:cs typeface="Arial"/>
                      </a:endParaRPr>
                    </a:p>
                  </a:txBody>
                  <a:tcPr marL="0" marR="109728" marT="54864" marB="54864" anchor="ctr">
                    <a:lnL w="0" cmpd="sng">
                      <a:noFill/>
                    </a:lnL>
                    <a:lnR w="0" cmpd="sng">
                      <a:noFill/>
                    </a:lnR>
                    <a:lnT w="0" cmpd="sng">
                      <a:noFill/>
                    </a:lnT>
                    <a:lnB w="9525" cmpd="sng">
                      <a:solidFill>
                        <a:srgbClr val="DDE2E7"/>
                      </a:solidFill>
                      <a:prstDash val="solid"/>
                    </a:lnB>
                  </a:tcPr>
                </a:tc>
                <a:tc>
                  <a:txBody>
                    <a:bodyPr/>
                    <a:lstStyle/>
                    <a:p>
                      <a:pPr marL="0" indent="0">
                        <a:buNone/>
                      </a:pPr>
                      <a:r>
                        <a:rPr sz="1300">
                          <a:solidFill>
                            <a:schemeClr val="tx1"/>
                          </a:solidFill>
                          <a:latin typeface="Arial"/>
                          <a:ea typeface="Arial"/>
                          <a:cs typeface="Arial"/>
                        </a:rPr>
                        <a:t>Reproducible, no invented figures</a:t>
                      </a:r>
                      <a:endParaRPr sz="1300">
                        <a:latin typeface="Arial"/>
                        <a:ea typeface="Arial"/>
                        <a:cs typeface="Arial"/>
                      </a:endParaRPr>
                    </a:p>
                  </a:txBody>
                  <a:tcPr marL="0" marR="109728" marT="54864" marB="54864" anchor="ctr">
                    <a:lnL w="0" cmpd="sng">
                      <a:noFill/>
                    </a:lnL>
                    <a:lnR w="0" cmpd="sng">
                      <a:noFill/>
                    </a:lnR>
                    <a:lnT w="0" cmpd="sng">
                      <a:noFill/>
                    </a:lnT>
                    <a:lnB w="9525" cmpd="sng">
                      <a:solidFill>
                        <a:srgbClr val="DDE2E7"/>
                      </a:solidFill>
                      <a:prstDash val="solid"/>
                    </a:lnB>
                  </a:tcPr>
                </a:tc>
              </a:tr>
              <a:tr h="566928">
                <a:tc>
                  <a:txBody>
                    <a:bodyPr/>
                    <a:lstStyle/>
                    <a:p>
                      <a:pPr marL="0" indent="0">
                        <a:buNone/>
                      </a:pPr>
                      <a:r>
                        <a:rPr sz="1300">
                          <a:solidFill>
                            <a:schemeClr val="tx1"/>
                          </a:solidFill>
                          <a:latin typeface="Arial"/>
                          <a:ea typeface="Arial"/>
                          <a:cs typeface="Arial"/>
                        </a:rPr>
                        <a:t>Suitability, liquidity, limits, cooling-off</a:t>
                      </a:r>
                      <a:endParaRPr sz="1300">
                        <a:latin typeface="Arial"/>
                        <a:ea typeface="Arial"/>
                        <a:cs typeface="Arial"/>
                      </a:endParaRPr>
                    </a:p>
                  </a:txBody>
                  <a:tcPr marL="0" marR="109728" marT="54864" marB="54864" anchor="ctr">
                    <a:lnL w="0" cmpd="sng">
                      <a:noFill/>
                    </a:lnL>
                    <a:lnR w="0" cmpd="sng">
                      <a:noFill/>
                    </a:lnR>
                    <a:lnT w="0" cmpd="sng">
                      <a:noFill/>
                    </a:lnT>
                    <a:lnB w="9525" cmpd="sng">
                      <a:solidFill>
                        <a:srgbClr val="DDE2E7"/>
                      </a:solidFill>
                      <a:prstDash val="solid"/>
                    </a:lnB>
                  </a:tcPr>
                </a:tc>
                <a:tc>
                  <a:txBody>
                    <a:bodyPr/>
                    <a:lstStyle/>
                    <a:p>
                      <a:pPr marL="0" indent="0">
                        <a:buNone/>
                      </a:pPr>
                      <a:r>
                        <a:rPr sz="1300">
                          <a:solidFill>
                            <a:schemeClr val="tx1"/>
                          </a:solidFill>
                          <a:latin typeface="Arial"/>
                          <a:ea typeface="Arial"/>
                          <a:cs typeface="Arial"/>
                        </a:rPr>
                        <a:t>Server code</a:t>
                      </a:r>
                      <a:endParaRPr sz="1300">
                        <a:latin typeface="Arial"/>
                        <a:ea typeface="Arial"/>
                        <a:cs typeface="Arial"/>
                      </a:endParaRPr>
                    </a:p>
                  </a:txBody>
                  <a:tcPr marL="0" marR="109728" marT="54864" marB="54864" anchor="ctr">
                    <a:lnL w="0" cmpd="sng">
                      <a:noFill/>
                    </a:lnL>
                    <a:lnR w="0" cmpd="sng">
                      <a:noFill/>
                    </a:lnR>
                    <a:lnT w="0" cmpd="sng">
                      <a:noFill/>
                    </a:lnT>
                    <a:lnB w="9525" cmpd="sng">
                      <a:solidFill>
                        <a:srgbClr val="DDE2E7"/>
                      </a:solidFill>
                      <a:prstDash val="solid"/>
                    </a:lnB>
                  </a:tcPr>
                </a:tc>
                <a:tc>
                  <a:txBody>
                    <a:bodyPr/>
                    <a:lstStyle/>
                    <a:p>
                      <a:pPr marL="0" indent="0">
                        <a:buNone/>
                      </a:pPr>
                      <a:r>
                        <a:rPr sz="1300">
                          <a:solidFill>
                            <a:schemeClr val="tx1"/>
                          </a:solidFill>
                          <a:latin typeface="Arial"/>
                          <a:ea typeface="Arial"/>
                          <a:cs typeface="Arial"/>
                        </a:rPr>
                        <a:t>Cannot be talked around</a:t>
                      </a:r>
                      <a:endParaRPr sz="1300">
                        <a:latin typeface="Arial"/>
                        <a:ea typeface="Arial"/>
                        <a:cs typeface="Arial"/>
                      </a:endParaRPr>
                    </a:p>
                  </a:txBody>
                  <a:tcPr marL="0" marR="109728" marT="54864" marB="54864" anchor="ctr">
                    <a:lnL w="0" cmpd="sng">
                      <a:noFill/>
                    </a:lnL>
                    <a:lnR w="0" cmpd="sng">
                      <a:noFill/>
                    </a:lnR>
                    <a:lnT w="0" cmpd="sng">
                      <a:noFill/>
                    </a:lnT>
                    <a:lnB w="9525" cmpd="sng">
                      <a:solidFill>
                        <a:srgbClr val="DDE2E7"/>
                      </a:solidFill>
                      <a:prstDash val="solid"/>
                    </a:lnB>
                  </a:tcPr>
                </a:tc>
              </a:tr>
              <a:tr h="566928">
                <a:tc>
                  <a:txBody>
                    <a:bodyPr/>
                    <a:lstStyle/>
                    <a:p>
                      <a:pPr marL="0" indent="0">
                        <a:buNone/>
                      </a:pPr>
                      <a:r>
                        <a:rPr sz="1300">
                          <a:solidFill>
                            <a:schemeClr val="tx1"/>
                          </a:solidFill>
                          <a:latin typeface="Arial"/>
                          <a:ea typeface="Arial"/>
                          <a:cs typeface="Arial"/>
                        </a:rPr>
                        <a:t>Placing an order</a:t>
                      </a:r>
                      <a:endParaRPr sz="1300">
                        <a:latin typeface="Arial"/>
                        <a:ea typeface="Arial"/>
                        <a:cs typeface="Arial"/>
                      </a:endParaRPr>
                    </a:p>
                  </a:txBody>
                  <a:tcPr marL="0" marR="109728" marT="54864" marB="54864" anchor="ctr">
                    <a:lnL w="0" cmpd="sng">
                      <a:noFill/>
                    </a:lnL>
                    <a:lnR w="0" cmpd="sng">
                      <a:noFill/>
                    </a:lnR>
                    <a:lnT w="0" cmpd="sng">
                      <a:noFill/>
                    </a:lnT>
                    <a:lnB w="9525" cmpd="sng">
                      <a:solidFill>
                        <a:srgbClr val="DDE2E7"/>
                      </a:solidFill>
                      <a:prstDash val="solid"/>
                    </a:lnB>
                  </a:tcPr>
                </a:tc>
                <a:tc>
                  <a:txBody>
                    <a:bodyPr/>
                    <a:lstStyle/>
                    <a:p>
                      <a:pPr marL="0" indent="0">
                        <a:buNone/>
                      </a:pPr>
                      <a:r>
                        <a:rPr sz="1300" b="1">
                          <a:solidFill>
                            <a:schemeClr val="accent2"/>
                          </a:solidFill>
                          <a:latin typeface="Arial"/>
                          <a:ea typeface="Arial"/>
                          <a:cs typeface="Arial"/>
                        </a:rPr>
                        <a:t>The client only, with a one-time token</a:t>
                      </a:r>
                      <a:endParaRPr sz="1300">
                        <a:latin typeface="Arial"/>
                        <a:ea typeface="Arial"/>
                        <a:cs typeface="Arial"/>
                      </a:endParaRPr>
                    </a:p>
                  </a:txBody>
                  <a:tcPr marL="0" marR="109728" marT="54864" marB="54864" anchor="ctr">
                    <a:lnL w="0" cmpd="sng">
                      <a:noFill/>
                    </a:lnL>
                    <a:lnR w="0" cmpd="sng">
                      <a:noFill/>
                    </a:lnR>
                    <a:lnT w="0" cmpd="sng">
                      <a:noFill/>
                    </a:lnT>
                    <a:lnB w="9525" cmpd="sng">
                      <a:solidFill>
                        <a:srgbClr val="DDE2E7"/>
                      </a:solidFill>
                      <a:prstDash val="solid"/>
                    </a:lnB>
                  </a:tcPr>
                </a:tc>
                <a:tc>
                  <a:txBody>
                    <a:bodyPr/>
                    <a:lstStyle/>
                    <a:p>
                      <a:pPr marL="0" indent="0">
                        <a:buNone/>
                      </a:pPr>
                      <a:r>
                        <a:rPr sz="1300">
                          <a:solidFill>
                            <a:schemeClr val="tx1"/>
                          </a:solidFill>
                          <a:latin typeface="Arial"/>
                          <a:ea typeface="Arial"/>
                          <a:cs typeface="Arial"/>
                        </a:rPr>
                        <a:t>The model has no tool that can trade</a:t>
                      </a:r>
                      <a:endParaRPr sz="1300">
                        <a:latin typeface="Arial"/>
                        <a:ea typeface="Arial"/>
                        <a:cs typeface="Arial"/>
                      </a:endParaRPr>
                    </a:p>
                  </a:txBody>
                  <a:tcPr marL="0" marR="109728" marT="54864" marB="54864" anchor="ctr">
                    <a:lnL w="0" cmpd="sng">
                      <a:noFill/>
                    </a:lnL>
                    <a:lnR w="0" cmpd="sng">
                      <a:noFill/>
                    </a:lnR>
                    <a:lnT w="0" cmpd="sng">
                      <a:noFill/>
                    </a:lnT>
                    <a:lnB w="9525" cmpd="sng">
                      <a:solidFill>
                        <a:srgbClr val="DDE2E7"/>
                      </a:solidFill>
                      <a:prstDash val="solid"/>
                    </a:lnB>
                  </a:tcPr>
                </a:tc>
              </a:tr>
              <a:tr h="566928">
                <a:tc>
                  <a:txBody>
                    <a:bodyPr/>
                    <a:lstStyle/>
                    <a:p>
                      <a:pPr marL="0" indent="0">
                        <a:buNone/>
                      </a:pPr>
                      <a:r>
                        <a:rPr sz="1300">
                          <a:solidFill>
                            <a:schemeClr val="tx1"/>
                          </a:solidFill>
                          <a:latin typeface="Arial"/>
                          <a:ea typeface="Arial"/>
                          <a:cs typeface="Arial"/>
                        </a:rPr>
                        <a:t>Record of what happened</a:t>
                      </a:r>
                      <a:endParaRPr sz="1300">
                        <a:latin typeface="Arial"/>
                        <a:ea typeface="Arial"/>
                        <a:cs typeface="Arial"/>
                      </a:endParaRPr>
                    </a:p>
                  </a:txBody>
                  <a:tcPr marL="0" marR="109728" marT="54864" marB="54864" anchor="ctr">
                    <a:lnL w="0" cmpd="sng">
                      <a:noFill/>
                    </a:lnL>
                    <a:lnR w="0" cmpd="sng">
                      <a:noFill/>
                    </a:lnR>
                    <a:lnT w="0" cmpd="sng">
                      <a:noFill/>
                    </a:lnT>
                    <a:lnB w="9525" cmpd="sng">
                      <a:solidFill>
                        <a:srgbClr val="DDE2E7"/>
                      </a:solidFill>
                      <a:prstDash val="solid"/>
                    </a:lnB>
                  </a:tcPr>
                </a:tc>
                <a:tc>
                  <a:txBody>
                    <a:bodyPr/>
                    <a:lstStyle/>
                    <a:p>
                      <a:pPr marL="0" indent="0">
                        <a:buNone/>
                      </a:pPr>
                      <a:r>
                        <a:rPr sz="1300">
                          <a:solidFill>
                            <a:schemeClr val="tx1"/>
                          </a:solidFill>
                          <a:latin typeface="Arial"/>
                          <a:ea typeface="Arial"/>
                          <a:cs typeface="Arial"/>
                        </a:rPr>
                        <a:t>Hash-chained log, anchored on FISCO BCOS</a:t>
                      </a:r>
                      <a:endParaRPr sz="1300">
                        <a:latin typeface="Arial"/>
                        <a:ea typeface="Arial"/>
                        <a:cs typeface="Arial"/>
                      </a:endParaRPr>
                    </a:p>
                  </a:txBody>
                  <a:tcPr marL="0" marR="109728" marT="54864" marB="54864" anchor="ctr">
                    <a:lnL w="0" cmpd="sng">
                      <a:noFill/>
                    </a:lnL>
                    <a:lnR w="0" cmpd="sng">
                      <a:noFill/>
                    </a:lnR>
                    <a:lnT w="0" cmpd="sng">
                      <a:noFill/>
                    </a:lnT>
                    <a:lnB w="9525" cmpd="sng">
                      <a:solidFill>
                        <a:srgbClr val="DDE2E7"/>
                      </a:solidFill>
                      <a:prstDash val="solid"/>
                    </a:lnB>
                  </a:tcPr>
                </a:tc>
                <a:tc>
                  <a:txBody>
                    <a:bodyPr/>
                    <a:lstStyle/>
                    <a:p>
                      <a:pPr marL="0" indent="0">
                        <a:buNone/>
                      </a:pPr>
                      <a:r>
                        <a:rPr sz="1300">
                          <a:solidFill>
                            <a:schemeClr val="tx1"/>
                          </a:solidFill>
                          <a:latin typeface="Arial"/>
                          <a:ea typeface="Arial"/>
                          <a:cs typeface="Arial"/>
                        </a:rPr>
                        <a:t>Tamper-evident, checkable by anyone</a:t>
                      </a:r>
                      <a:endParaRPr sz="1300">
                        <a:latin typeface="Arial"/>
                        <a:ea typeface="Arial"/>
                        <a:cs typeface="Arial"/>
                      </a:endParaRPr>
                    </a:p>
                  </a:txBody>
                  <a:tcPr marL="0" marR="109728" marT="54864" marB="54864" anchor="ctr">
                    <a:lnL w="0" cmpd="sng">
                      <a:noFill/>
                    </a:lnL>
                    <a:lnR w="0" cmpd="sng">
                      <a:noFill/>
                    </a:lnR>
                    <a:lnT w="0" cmpd="sng">
                      <a:noFill/>
                    </a:lnT>
                    <a:lnB w="9525" cmpd="sng">
                      <a:solidFill>
                        <a:srgbClr val="DDE2E7"/>
                      </a:solidFill>
                      <a:prstDash val="solid"/>
                    </a:lnB>
                  </a:tcPr>
                </a:tc>
              </a:tr>
            </a:tbl>
          </a:graphicData>
        </a:graphic>
      </p:graphicFrame>
      <p:sp>
        <p:nvSpPr>
          <p:cNvPr id="4" name="proof-divider">
            <a:extLst xmlns:a="http://schemas.openxmlformats.org/drawingml/2006/main">
              <a:ext uri="{FF2B5EF4-FFF2-40B4-BE49-F238E27FC236}">
                <a16:creationId xmlns:a16="http://schemas.microsoft.com/office/drawing/2014/main" id="{A4AC3961-01C9-4391-96E8-96444FB71B64}"/>
              </a:ext>
            </a:extLst>
          </p:cNvPr>
          <p:cNvSpPr>
            <a:spLocks xmlns:a="http://schemas.openxmlformats.org/drawingml/2006/main" noGrp="1"/>
          </p:cNvSpPr>
          <p:nvPr/>
        </p:nvSpPr>
        <p:spPr>
          <a:xfrm xmlns:a="http://schemas.openxmlformats.org/drawingml/2006/main">
            <a:off x="7955280" y="1417320"/>
            <a:ext cx="0" cy="4206240"/>
          </a:xfrm>
          <a:prstGeom xmlns:a="http://schemas.openxmlformats.org/drawingml/2006/main" prst="line">
            <a:avLst/>
          </a:prstGeom>
          <a:noFill xmlns:a="http://schemas.openxmlformats.org/drawingml/2006/main"/>
          <a:ln xmlns:a="http://schemas.openxmlformats.org/drawingml/2006/main" w="9525">
            <a:solidFill>
              <a:srgbClr val="DDE2E7"/>
            </a:solidFill>
            <a:prstDash val="solid"/>
          </a:ln>
        </p:spPr>
      </p:sp>
      <p:sp>
        <p:nvSpPr>
          <p:cNvPr id="5" name="Text 2">
            <a:extLst xmlns:a="http://schemas.openxmlformats.org/drawingml/2006/main">
              <a:ext uri="{FF2B5EF4-FFF2-40B4-BE49-F238E27FC236}">
                <a16:creationId xmlns:a16="http://schemas.microsoft.com/office/drawing/2014/main" id="{C47D2684-2F6D-4229-A651-C9647DF91433}"/>
              </a:ext>
            </a:extLst>
          </p:cNvPr>
          <p:cNvSpPr>
            <a:spLocks xmlns:a="http://schemas.openxmlformats.org/drawingml/2006/main" noGrp="1"/>
          </p:cNvSpPr>
          <p:nvPr/>
        </p:nvSpPr>
        <p:spPr>
          <a:xfrm xmlns:a="http://schemas.openxmlformats.org/drawingml/2006/main">
            <a:off x="8229600" y="1417320"/>
            <a:ext cx="3322015" cy="3200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500" b="1">
                <a:solidFill>
                  <a:schemeClr val="tx1"/>
                </a:solidFill>
                <a:latin typeface="Arial"/>
                <a:ea typeface="Arial"/>
                <a:cs typeface="Arial"/>
              </a:rPr>
              <a:t>Every number shows its source</a:t>
            </a:r>
            <a:endParaRPr sz="1500"/>
          </a:p>
        </p:txBody>
      </p:sp>
      <p:sp>
        <p:nvSpPr>
          <p:cNvPr id="6" name="Text 3">
            <a:extLst xmlns:a="http://schemas.openxmlformats.org/drawingml/2006/main">
              <a:ext uri="{FF2B5EF4-FFF2-40B4-BE49-F238E27FC236}">
                <a16:creationId xmlns:a16="http://schemas.microsoft.com/office/drawing/2014/main" id="{65872F42-1151-4EEC-9760-DF8D9700F9E8}"/>
              </a:ext>
            </a:extLst>
          </p:cNvPr>
          <p:cNvSpPr>
            <a:spLocks xmlns:a="http://schemas.openxmlformats.org/drawingml/2006/main" noGrp="1"/>
          </p:cNvSpPr>
          <p:nvPr/>
        </p:nvSpPr>
        <p:spPr>
          <a:xfrm xmlns:a="http://schemas.openxmlformats.org/drawingml/2006/main">
            <a:off x="8229600" y="1783080"/>
            <a:ext cx="3322015" cy="9144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300">
                <a:solidFill>
                  <a:schemeClr val="accent5"/>
                </a:solidFill>
                <a:latin typeface="Arial"/>
                <a:ea typeface="Arial"/>
                <a:cs typeface="Arial"/>
              </a:rPr>
              <a:t>Tap 7.43% and Keel shows: computed by allocation.build_allocation(), audit record cfbe5d57.</a:t>
            </a:r>
            <a:endParaRPr sz="1300"/>
          </a:p>
        </p:txBody>
      </p:sp>
      <p:sp>
        <p:nvSpPr>
          <p:cNvPr id="26" name="proof-rule-1">
            <a:extLst xmlns:a="http://schemas.openxmlformats.org/drawingml/2006/main">
              <a:ext uri="{FF2B5EF4-FFF2-40B4-BE49-F238E27FC236}">
                <a16:creationId xmlns:a16="http://schemas.microsoft.com/office/drawing/2014/main" id="{4646D549-5F53-4B88-B1A7-F036FDFD5370}"/>
              </a:ext>
            </a:extLst>
          </p:cNvPr>
          <p:cNvSpPr>
            <a:spLocks xmlns:a="http://schemas.openxmlformats.org/drawingml/2006/main" noGrp="1"/>
          </p:cNvSpPr>
          <p:nvPr/>
        </p:nvSpPr>
        <p:spPr>
          <a:xfrm xmlns:a="http://schemas.openxmlformats.org/drawingml/2006/main">
            <a:off x="8229600" y="2697480"/>
            <a:ext cx="3322015" cy="0"/>
          </a:xfrm>
          <a:prstGeom xmlns:a="http://schemas.openxmlformats.org/drawingml/2006/main" prst="line">
            <a:avLst/>
          </a:prstGeom>
          <a:noFill xmlns:a="http://schemas.openxmlformats.org/drawingml/2006/main"/>
          <a:ln xmlns:a="http://schemas.openxmlformats.org/drawingml/2006/main" w="9525">
            <a:solidFill>
              <a:srgbClr val="DDE2E7"/>
            </a:solidFill>
            <a:prstDash val="solid"/>
          </a:ln>
        </p:spPr>
      </p:sp>
      <p:sp>
        <p:nvSpPr>
          <p:cNvPr id="8" name="Text 5">
            <a:extLst xmlns:a="http://schemas.openxmlformats.org/drawingml/2006/main">
              <a:ext uri="{FF2B5EF4-FFF2-40B4-BE49-F238E27FC236}">
                <a16:creationId xmlns:a16="http://schemas.microsoft.com/office/drawing/2014/main" id="{24C9461D-5DDD-4C87-A512-D284CFEE81B9}"/>
              </a:ext>
            </a:extLst>
          </p:cNvPr>
          <p:cNvSpPr>
            <a:spLocks xmlns:a="http://schemas.openxmlformats.org/drawingml/2006/main" noGrp="1"/>
          </p:cNvSpPr>
          <p:nvPr/>
        </p:nvSpPr>
        <p:spPr>
          <a:xfrm xmlns:a="http://schemas.openxmlformats.org/drawingml/2006/main">
            <a:off x="8229600" y="2834640"/>
            <a:ext cx="3322015" cy="3200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500" b="1">
                <a:solidFill>
                  <a:schemeClr val="tx1"/>
                </a:solidFill>
                <a:latin typeface="Arial"/>
                <a:ea typeface="Arial"/>
                <a:cs typeface="Arial"/>
              </a:rPr>
              <a:t>No ungrounded figures</a:t>
            </a:r>
            <a:endParaRPr sz="1500"/>
          </a:p>
        </p:txBody>
      </p:sp>
      <p:sp>
        <p:nvSpPr>
          <p:cNvPr id="9" name="Text 6">
            <a:extLst xmlns:a="http://schemas.openxmlformats.org/drawingml/2006/main">
              <a:ext uri="{FF2B5EF4-FFF2-40B4-BE49-F238E27FC236}">
                <a16:creationId xmlns:a16="http://schemas.microsoft.com/office/drawing/2014/main" id="{FC8B5F12-D3E7-43C4-965C-2CBB20526B09}"/>
              </a:ext>
            </a:extLst>
          </p:cNvPr>
          <p:cNvSpPr>
            <a:spLocks xmlns:a="http://schemas.openxmlformats.org/drawingml/2006/main" noGrp="1"/>
          </p:cNvSpPr>
          <p:nvPr/>
        </p:nvSpPr>
        <p:spPr>
          <a:xfrm xmlns:a="http://schemas.openxmlformats.org/drawingml/2006/main">
            <a:off x="8229600" y="3200400"/>
            <a:ext cx="3322015" cy="9144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300">
                <a:solidFill>
                  <a:schemeClr val="accent5"/>
                </a:solidFill>
                <a:latin typeface="Arial"/>
                <a:ea typeface="Arial"/>
                <a:cs typeface="Arial"/>
              </a:rPr>
              <a:t>An output guard checks each number in a reply against this session's tool results, and blocks promises such as "guaranteed".</a:t>
            </a:r>
            <a:endParaRPr sz="1300"/>
          </a:p>
        </p:txBody>
      </p:sp>
      <p:sp>
        <p:nvSpPr>
          <p:cNvPr id="10" name="proof-rule-2">
            <a:extLst xmlns:a="http://schemas.openxmlformats.org/drawingml/2006/main">
              <a:ext uri="{FF2B5EF4-FFF2-40B4-BE49-F238E27FC236}">
                <a16:creationId xmlns:a16="http://schemas.microsoft.com/office/drawing/2014/main" id="{90941CF4-6BAC-4900-98A4-DEC55D8E41C5}"/>
              </a:ext>
            </a:extLst>
          </p:cNvPr>
          <p:cNvSpPr>
            <a:spLocks xmlns:a="http://schemas.openxmlformats.org/drawingml/2006/main" noGrp="1"/>
          </p:cNvSpPr>
          <p:nvPr/>
        </p:nvSpPr>
        <p:spPr>
          <a:xfrm xmlns:a="http://schemas.openxmlformats.org/drawingml/2006/main">
            <a:off x="8229600" y="4114800"/>
            <a:ext cx="3322015" cy="0"/>
          </a:xfrm>
          <a:prstGeom xmlns:a="http://schemas.openxmlformats.org/drawingml/2006/main" prst="line">
            <a:avLst/>
          </a:prstGeom>
          <a:noFill xmlns:a="http://schemas.openxmlformats.org/drawingml/2006/main"/>
          <a:ln xmlns:a="http://schemas.openxmlformats.org/drawingml/2006/main" w="9525">
            <a:solidFill>
              <a:srgbClr val="DDE2E7"/>
            </a:solidFill>
            <a:prstDash val="solid"/>
          </a:ln>
        </p:spPr>
      </p:sp>
      <p:sp>
        <p:nvSpPr>
          <p:cNvPr id="11" name="Text 8">
            <a:extLst xmlns:a="http://schemas.openxmlformats.org/drawingml/2006/main">
              <a:ext uri="{FF2B5EF4-FFF2-40B4-BE49-F238E27FC236}">
                <a16:creationId xmlns:a16="http://schemas.microsoft.com/office/drawing/2014/main" id="{5BEF1034-B0DF-4D67-8909-CA666D56903E}"/>
              </a:ext>
            </a:extLst>
          </p:cNvPr>
          <p:cNvSpPr>
            <a:spLocks xmlns:a="http://schemas.openxmlformats.org/drawingml/2006/main" noGrp="1"/>
          </p:cNvSpPr>
          <p:nvPr/>
        </p:nvSpPr>
        <p:spPr>
          <a:xfrm xmlns:a="http://schemas.openxmlformats.org/drawingml/2006/main">
            <a:off x="8229600" y="4251960"/>
            <a:ext cx="3322015" cy="3200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500" b="1">
                <a:solidFill>
                  <a:schemeClr val="tx1"/>
                </a:solidFill>
                <a:latin typeface="Arial"/>
                <a:ea typeface="Arial"/>
                <a:cs typeface="Arial"/>
              </a:rPr>
              <a:t>Verifiable afterwards</a:t>
            </a:r>
            <a:endParaRPr sz="1500"/>
          </a:p>
        </p:txBody>
      </p:sp>
      <p:sp>
        <p:nvSpPr>
          <p:cNvPr id="12" name="Text 9">
            <a:extLst xmlns:a="http://schemas.openxmlformats.org/drawingml/2006/main">
              <a:ext uri="{FF2B5EF4-FFF2-40B4-BE49-F238E27FC236}">
                <a16:creationId xmlns:a16="http://schemas.microsoft.com/office/drawing/2014/main" id="{EC8837CC-0423-4EA3-8766-DDFCF4C7AF36}"/>
              </a:ext>
            </a:extLst>
          </p:cNvPr>
          <p:cNvSpPr>
            <a:spLocks xmlns:a="http://schemas.openxmlformats.org/drawingml/2006/main" noGrp="1"/>
          </p:cNvSpPr>
          <p:nvPr/>
        </p:nvSpPr>
        <p:spPr>
          <a:xfrm xmlns:a="http://schemas.openxmlformats.org/drawingml/2006/main">
            <a:off x="8229600" y="4617720"/>
            <a:ext cx="3322015" cy="9144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300">
                <a:solidFill>
                  <a:schemeClr val="accent5"/>
                </a:solidFill>
                <a:latin typeface="Arial"/>
                <a:ea typeface="Arial"/>
                <a:cs typeface="Arial"/>
              </a:rPr>
              <a:t>The audit-log head is written to a smart contract on WeBank's FISCO BCOS. Verify recomputes the log; one edited record fails.</a:t>
            </a:r>
            <a:endParaRPr sz="1300"/>
          </a:p>
        </p:txBody>
      </p:sp>
      <p:sp>
        <p:nvSpPr>
          <p:cNvPr id="25" name="Slide Number Placeholder 0">
            <a:extLst xmlns:a="http://schemas.openxmlformats.org/drawingml/2006/main">
              <a:ext uri="{FF2B5EF4-FFF2-40B4-BE49-F238E27FC236}">
                <a16:creationId xmlns:a16="http://schemas.microsoft.com/office/drawing/2014/main" id="{0C75A532-30E6-43E3-9F32-BD77FEABBCFA}"/>
              </a:ext>
            </a:extLst>
          </p:cNvPr>
          <p:cNvSpPr>
            <a:spLocks xmlns:a="http://schemas.openxmlformats.org/drawingml/2006/main" noGrp="1"/>
          </p:cNvSpPr>
          <p:nvPr>
            <p:ph type="sldNum" idx="4294967295"/>
          </p:nvPr>
        </p:nvSpPr>
        <p:spPr>
          <a:xfrm xmlns:a="http://schemas.openxmlformats.org/drawingml/2006/main">
            <a:off x="11002975" y="6419088"/>
            <a:ext cx="548640" cy="256032"/>
          </a:xfrm>
          <a:prstGeom xmlns:a="http://schemas.openxmlformats.org/drawingml/2006/main" prst="rect">
            <a:avLst/>
          </a:prstGeom>
        </p:spPr>
        <p:txBody>
          <a:bodyPr xmlns:a="http://schemas.openxmlformats.org/drawingml/2006/main"/>
          <a:lstStyle xmlns:a="http://schemas.openxmlformats.org/drawingml/2006/main">
            <a:lvl1pPr>
              <a:buNone/>
              <a:defRPr sz="950">
                <a:solidFill>
                  <a:schemeClr val="accent5"/>
                </a:solidFill>
              </a:defRPr>
            </a:lvl1pPr>
          </a:lstStyle>
          <a:p xmlns:a="http://schemas.openxmlformats.org/drawingml/2006/main">
            <a:pPr algn="r">
              <a:buNone/>
            </a:pPr>
            <a:fld id="{F7021451-1387-4CA6-816F-3879F97B5CBC}" type="slidenum">
              <a:rPr b="0"/>
              <a:t>6</a:t>
            </a:fld>
            <a:endParaRPr/>
          </a:p>
        </p:txBody>
      </p:sp>
    </p:spTree>
    <p:extLst>
      <p:ext uri="{BB962C8B-B14F-4D97-AF65-F5344CB8AC3E}">
        <p14:creationId xmlns:p14="http://schemas.microsoft.com/office/powerpoint/2010/main" val="1853503467"/>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2" name="Text 2">
            <a:extLst xmlns:a="http://schemas.openxmlformats.org/drawingml/2006/main">
              <a:ext uri="{FF2B5EF4-FFF2-40B4-BE49-F238E27FC236}">
                <a16:creationId xmlns:a16="http://schemas.microsoft.com/office/drawing/2014/main" id="{CF5BFECD-3ACE-44F7-A332-ADAE39E6983E}"/>
              </a:ext>
            </a:extLst>
          </p:cNvPr>
          <p:cNvSpPr>
            <a:spLocks xmlns:a="http://schemas.openxmlformats.org/drawingml/2006/main" noGrp="1"/>
          </p:cNvSpPr>
          <p:nvPr>
            <p:ph type="title" idx="102" hasCustomPrompt="1"/>
          </p:nvPr>
        </p:nvSpPr>
        <p:spPr>
          <a:xfrm xmlns:a="http://schemas.openxmlformats.org/drawingml/2006/main">
            <a:off x="640080" y="457200"/>
            <a:ext cx="10911535" cy="7315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buNone/>
            </a:pPr>
            <a:r>
              <a:rPr sz="3000" b="1">
                <a:solidFill>
                  <a:schemeClr val="tx1"/>
                </a:solidFill>
                <a:latin typeface="Arial"/>
                <a:ea typeface="Arial"/>
                <a:cs typeface="Arial"/>
              </a:rPr>
              <a:t>Advice on 24 real Chinese public funds</a:t>
            </a:r>
            <a:endParaRPr sz="3000"/>
          </a:p>
        </p:txBody>
      </p:sp>
      <p:sp>
        <p:nvSpPr>
          <p:cNvPr id="3" name="Text 1">
            <a:extLst xmlns:a="http://schemas.openxmlformats.org/drawingml/2006/main">
              <a:ext uri="{FF2B5EF4-FFF2-40B4-BE49-F238E27FC236}">
                <a16:creationId xmlns:a16="http://schemas.microsoft.com/office/drawing/2014/main" id="{3CBDF7D1-EE0C-4C3C-B96A-09F6A446CB10}"/>
              </a:ext>
            </a:extLst>
          </p:cNvPr>
          <p:cNvSpPr>
            <a:spLocks xmlns:a="http://schemas.openxmlformats.org/drawingml/2006/main" noGrp="1"/>
          </p:cNvSpPr>
          <p:nvPr/>
        </p:nvSpPr>
        <p:spPr>
          <a:xfrm xmlns:a="http://schemas.openxmlformats.org/drawingml/2006/main">
            <a:off x="640080" y="1417320"/>
            <a:ext cx="493776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500" b="1">
                <a:solidFill>
                  <a:schemeClr val="tx1"/>
                </a:solidFill>
                <a:latin typeface="Arial"/>
                <a:ea typeface="Arial"/>
                <a:cs typeface="Arial"/>
              </a:rPr>
              <a:t>Public data</a:t>
            </a:r>
            <a:endParaRPr sz="1500"/>
          </a:p>
        </p:txBody>
      </p:sp>
      <p:sp>
        <p:nvSpPr>
          <p:cNvPr id="4" name="Text 2">
            <a:extLst xmlns:a="http://schemas.openxmlformats.org/drawingml/2006/main">
              <a:ext uri="{FF2B5EF4-FFF2-40B4-BE49-F238E27FC236}">
                <a16:creationId xmlns:a16="http://schemas.microsoft.com/office/drawing/2014/main" id="{921FB82F-6850-4190-AA6F-B821EDE8ABDC}"/>
              </a:ext>
            </a:extLst>
          </p:cNvPr>
          <p:cNvSpPr>
            <a:spLocks xmlns:a="http://schemas.openxmlformats.org/drawingml/2006/main" noGrp="1"/>
          </p:cNvSpPr>
          <p:nvPr/>
        </p:nvSpPr>
        <p:spPr>
          <a:xfrm xmlns:a="http://schemas.openxmlformats.org/drawingml/2006/main">
            <a:off x="640080" y="1764792"/>
            <a:ext cx="493776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300">
                <a:solidFill>
                  <a:schemeClr val="accent5"/>
                </a:solidFill>
                <a:latin typeface="Arial"/>
                <a:ea typeface="Arial"/>
                <a:cs typeface="Arial"/>
              </a:rPr>
              <a:t>Fund pages on East Money and Tiantian Fund, the source the open-source AkShare library uses.</a:t>
            </a:r>
            <a:endParaRPr sz="1300"/>
          </a:p>
        </p:txBody>
      </p:sp>
      <p:sp>
        <p:nvSpPr>
          <p:cNvPr id="5" name="fact-rule-1">
            <a:extLst xmlns:a="http://schemas.openxmlformats.org/drawingml/2006/main">
              <a:ext uri="{FF2B5EF4-FFF2-40B4-BE49-F238E27FC236}">
                <a16:creationId xmlns:a16="http://schemas.microsoft.com/office/drawing/2014/main" id="{98CA6CE6-5DB2-4F61-99A3-77123B52D13F}"/>
              </a:ext>
            </a:extLst>
          </p:cNvPr>
          <p:cNvSpPr>
            <a:spLocks xmlns:a="http://schemas.openxmlformats.org/drawingml/2006/main" noGrp="1"/>
          </p:cNvSpPr>
          <p:nvPr/>
        </p:nvSpPr>
        <p:spPr>
          <a:xfrm xmlns:a="http://schemas.openxmlformats.org/drawingml/2006/main">
            <a:off x="640080" y="2368296"/>
            <a:ext cx="4937760" cy="0"/>
          </a:xfrm>
          <a:prstGeom xmlns:a="http://schemas.openxmlformats.org/drawingml/2006/main" prst="line">
            <a:avLst/>
          </a:prstGeom>
          <a:noFill xmlns:a="http://schemas.openxmlformats.org/drawingml/2006/main"/>
          <a:ln xmlns:a="http://schemas.openxmlformats.org/drawingml/2006/main" w="9525">
            <a:solidFill>
              <a:srgbClr val="DDE2E7"/>
            </a:solidFill>
            <a:prstDash val="solid"/>
          </a:ln>
        </p:spPr>
      </p:sp>
      <p:sp>
        <p:nvSpPr>
          <p:cNvPr id="6" name="Text 4">
            <a:extLst xmlns:a="http://schemas.openxmlformats.org/drawingml/2006/main">
              <a:ext uri="{FF2B5EF4-FFF2-40B4-BE49-F238E27FC236}">
                <a16:creationId xmlns:a16="http://schemas.microsoft.com/office/drawing/2014/main" id="{F732FC38-E481-46AB-9F66-00152E3370BE}"/>
              </a:ext>
            </a:extLst>
          </p:cNvPr>
          <p:cNvSpPr>
            <a:spLocks xmlns:a="http://schemas.openxmlformats.org/drawingml/2006/main" noGrp="1"/>
          </p:cNvSpPr>
          <p:nvPr/>
        </p:nvSpPr>
        <p:spPr>
          <a:xfrm xmlns:a="http://schemas.openxmlformats.org/drawingml/2006/main">
            <a:off x="640080" y="2496312"/>
            <a:ext cx="493776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500" b="1">
                <a:solidFill>
                  <a:schemeClr val="tx1"/>
                </a:solidFill>
                <a:latin typeface="Arial"/>
                <a:ea typeface="Arial"/>
                <a:cs typeface="Arial"/>
              </a:rPr>
              <a:t>Real risk levels</a:t>
            </a:r>
            <a:endParaRPr sz="1500"/>
          </a:p>
        </p:txBody>
      </p:sp>
      <p:sp>
        <p:nvSpPr>
          <p:cNvPr id="7" name="Text 5">
            <a:extLst xmlns:a="http://schemas.openxmlformats.org/drawingml/2006/main">
              <a:ext uri="{FF2B5EF4-FFF2-40B4-BE49-F238E27FC236}">
                <a16:creationId xmlns:a16="http://schemas.microsoft.com/office/drawing/2014/main" id="{595F7E45-DF39-4670-9EB5-128A6EAF5780}"/>
              </a:ext>
            </a:extLst>
          </p:cNvPr>
          <p:cNvSpPr>
            <a:spLocks xmlns:a="http://schemas.openxmlformats.org/drawingml/2006/main" noGrp="1"/>
          </p:cNvSpPr>
          <p:nvPr/>
        </p:nvSpPr>
        <p:spPr>
          <a:xfrm xmlns:a="http://schemas.openxmlformats.org/drawingml/2006/main">
            <a:off x="640080" y="2843784"/>
            <a:ext cx="493776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300">
                <a:solidFill>
                  <a:schemeClr val="accent5"/>
                </a:solidFill>
                <a:latin typeface="Arial"/>
                <a:ea typeface="Arial"/>
                <a:cs typeface="Arial"/>
              </a:rPr>
              <a:t>Distributor labels 低风险 to 高风险, mapped to R1 to R5.</a:t>
            </a:r>
            <a:endParaRPr sz="1300"/>
          </a:p>
        </p:txBody>
      </p:sp>
      <p:sp>
        <p:nvSpPr>
          <p:cNvPr id="8" name="fact-rule-2">
            <a:extLst xmlns:a="http://schemas.openxmlformats.org/drawingml/2006/main">
              <a:ext uri="{FF2B5EF4-FFF2-40B4-BE49-F238E27FC236}">
                <a16:creationId xmlns:a16="http://schemas.microsoft.com/office/drawing/2014/main" id="{71C2E8F0-15D9-492E-B981-5D7AB92E1173}"/>
              </a:ext>
            </a:extLst>
          </p:cNvPr>
          <p:cNvSpPr>
            <a:spLocks xmlns:a="http://schemas.openxmlformats.org/drawingml/2006/main" noGrp="1"/>
          </p:cNvSpPr>
          <p:nvPr/>
        </p:nvSpPr>
        <p:spPr>
          <a:xfrm xmlns:a="http://schemas.openxmlformats.org/drawingml/2006/main">
            <a:off x="640080" y="3447288"/>
            <a:ext cx="4937760" cy="0"/>
          </a:xfrm>
          <a:prstGeom xmlns:a="http://schemas.openxmlformats.org/drawingml/2006/main" prst="line">
            <a:avLst/>
          </a:prstGeom>
          <a:noFill xmlns:a="http://schemas.openxmlformats.org/drawingml/2006/main"/>
          <a:ln xmlns:a="http://schemas.openxmlformats.org/drawingml/2006/main" w="9525">
            <a:solidFill>
              <a:srgbClr val="DDE2E7"/>
            </a:solidFill>
            <a:prstDash val="solid"/>
          </a:ln>
        </p:spPr>
      </p:sp>
      <p:sp>
        <p:nvSpPr>
          <p:cNvPr id="9" name="Text 7">
            <a:extLst xmlns:a="http://schemas.openxmlformats.org/drawingml/2006/main">
              <a:ext uri="{FF2B5EF4-FFF2-40B4-BE49-F238E27FC236}">
                <a16:creationId xmlns:a16="http://schemas.microsoft.com/office/drawing/2014/main" id="{B908DB75-22B1-45C2-9DB0-733DBB6928B0}"/>
              </a:ext>
            </a:extLst>
          </p:cNvPr>
          <p:cNvSpPr>
            <a:spLocks xmlns:a="http://schemas.openxmlformats.org/drawingml/2006/main" noGrp="1"/>
          </p:cNvSpPr>
          <p:nvPr/>
        </p:nvSpPr>
        <p:spPr>
          <a:xfrm xmlns:a="http://schemas.openxmlformats.org/drawingml/2006/main">
            <a:off x="640080" y="3575304"/>
            <a:ext cx="493776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500" b="1">
                <a:solidFill>
                  <a:schemeClr val="tx1"/>
                </a:solidFill>
                <a:latin typeface="Arial"/>
                <a:ea typeface="Arial"/>
                <a:cs typeface="Arial"/>
              </a:rPr>
              <a:t>Real costs</a:t>
            </a:r>
            <a:endParaRPr sz="1500"/>
          </a:p>
        </p:txBody>
      </p:sp>
      <p:sp>
        <p:nvSpPr>
          <p:cNvPr id="10" name="Text 8">
            <a:extLst xmlns:a="http://schemas.openxmlformats.org/drawingml/2006/main">
              <a:ext uri="{FF2B5EF4-FFF2-40B4-BE49-F238E27FC236}">
                <a16:creationId xmlns:a16="http://schemas.microsoft.com/office/drawing/2014/main" id="{FEA78CCD-DD9D-4AD4-BB62-D97BD5F2156C}"/>
              </a:ext>
            </a:extLst>
          </p:cNvPr>
          <p:cNvSpPr>
            <a:spLocks xmlns:a="http://schemas.openxmlformats.org/drawingml/2006/main" noGrp="1"/>
          </p:cNvSpPr>
          <p:nvPr/>
        </p:nvSpPr>
        <p:spPr>
          <a:xfrm xmlns:a="http://schemas.openxmlformats.org/drawingml/2006/main">
            <a:off x="640080" y="3922776"/>
            <a:ext cx="493776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300">
                <a:solidFill>
                  <a:schemeClr val="accent5"/>
                </a:solidFill>
                <a:latin typeface="Arial"/>
                <a:ea typeface="Arial"/>
                <a:cs typeface="Arial"/>
              </a:rPr>
              <a:t>Management, custody and sales-service fees for every fund.</a:t>
            </a:r>
            <a:endParaRPr sz="1300"/>
          </a:p>
        </p:txBody>
      </p:sp>
      <p:sp>
        <p:nvSpPr>
          <p:cNvPr id="11" name="fact-rule-3">
            <a:extLst xmlns:a="http://schemas.openxmlformats.org/drawingml/2006/main">
              <a:ext uri="{FF2B5EF4-FFF2-40B4-BE49-F238E27FC236}">
                <a16:creationId xmlns:a16="http://schemas.microsoft.com/office/drawing/2014/main" id="{846DBA57-6BB9-43DE-A0D9-6278699DD0AB}"/>
              </a:ext>
            </a:extLst>
          </p:cNvPr>
          <p:cNvSpPr>
            <a:spLocks xmlns:a="http://schemas.openxmlformats.org/drawingml/2006/main" noGrp="1"/>
          </p:cNvSpPr>
          <p:nvPr/>
        </p:nvSpPr>
        <p:spPr>
          <a:xfrm xmlns:a="http://schemas.openxmlformats.org/drawingml/2006/main">
            <a:off x="640080" y="4526280"/>
            <a:ext cx="4937760" cy="0"/>
          </a:xfrm>
          <a:prstGeom xmlns:a="http://schemas.openxmlformats.org/drawingml/2006/main" prst="line">
            <a:avLst/>
          </a:prstGeom>
          <a:noFill xmlns:a="http://schemas.openxmlformats.org/drawingml/2006/main"/>
          <a:ln xmlns:a="http://schemas.openxmlformats.org/drawingml/2006/main" w="9525">
            <a:solidFill>
              <a:srgbClr val="DDE2E7"/>
            </a:solidFill>
            <a:prstDash val="solid"/>
          </a:ln>
        </p:spPr>
      </p:sp>
      <p:sp>
        <p:nvSpPr>
          <p:cNvPr id="12" name="Text 10">
            <a:extLst xmlns:a="http://schemas.openxmlformats.org/drawingml/2006/main">
              <a:ext uri="{FF2B5EF4-FFF2-40B4-BE49-F238E27FC236}">
                <a16:creationId xmlns:a16="http://schemas.microsoft.com/office/drawing/2014/main" id="{E58928F2-9150-48DA-885F-5CD4F6B7F93A}"/>
              </a:ext>
            </a:extLst>
          </p:cNvPr>
          <p:cNvSpPr>
            <a:spLocks xmlns:a="http://schemas.openxmlformats.org/drawingml/2006/main" noGrp="1"/>
          </p:cNvSpPr>
          <p:nvPr/>
        </p:nvSpPr>
        <p:spPr>
          <a:xfrm xmlns:a="http://schemas.openxmlformats.org/drawingml/2006/main">
            <a:off x="640080" y="4654296"/>
            <a:ext cx="4937760" cy="3200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500" b="1">
                <a:solidFill>
                  <a:schemeClr val="tx1"/>
                </a:solidFill>
                <a:latin typeface="Arial"/>
                <a:ea typeface="Arial"/>
                <a:cs typeface="Arial"/>
              </a:rPr>
              <a:t>Honest estimates</a:t>
            </a:r>
            <a:endParaRPr sz="1500"/>
          </a:p>
        </p:txBody>
      </p:sp>
      <p:sp>
        <p:nvSpPr>
          <p:cNvPr id="13" name="Text 11">
            <a:extLst xmlns:a="http://schemas.openxmlformats.org/drawingml/2006/main">
              <a:ext uri="{FF2B5EF4-FFF2-40B4-BE49-F238E27FC236}">
                <a16:creationId xmlns:a16="http://schemas.microsoft.com/office/drawing/2014/main" id="{3CC00FFB-2CDA-4151-AC88-FAADEB72004C}"/>
              </a:ext>
            </a:extLst>
          </p:cNvPr>
          <p:cNvSpPr>
            <a:spLocks xmlns:a="http://schemas.openxmlformats.org/drawingml/2006/main" noGrp="1"/>
          </p:cNvSpPr>
          <p:nvPr/>
        </p:nvSpPr>
        <p:spPr>
          <a:xfrm xmlns:a="http://schemas.openxmlformats.org/drawingml/2006/main">
            <a:off x="640080" y="5001768"/>
            <a:ext cx="4937760" cy="6400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300">
                <a:solidFill>
                  <a:schemeClr val="accent5"/>
                </a:solidFill>
                <a:latin typeface="Arial"/>
                <a:ea typeface="Arial"/>
                <a:cs typeface="Arial"/>
              </a:rPr>
              <a:t>Ten years of NAV volatility; returns shrunk halfway to an asset-class prior.</a:t>
            </a:r>
            <a:endParaRPr sz="1300"/>
          </a:p>
        </p:txBody>
      </p:sp>
      <p:graphicFrame>
        <p:nvGraphicFramePr>
          <p:cNvPr id="26" name="class-ladder">
            <a:extLst xmlns:a="http://schemas.openxmlformats.org/drawingml/2006/main">
              <a:ext uri="{FF2B5EF4-FFF2-40B4-BE49-F238E27FC236}">
                <a16:creationId xmlns:a16="http://schemas.microsoft.com/office/drawing/2014/main" id="{4A82EE60-ECCC-464C-94EF-FD7C2E8B0031}"/>
              </a:ext>
            </a:extLst>
          </p:cNvPr>
          <p:cNvGraphicFramePr/>
          <p:nvPr/>
        </p:nvGraphicFramePr>
        <p:xfrm>
          <a:off xmlns:a="http://schemas.openxmlformats.org/drawingml/2006/main" x="6309360" y="1417320"/>
          <a:ext xmlns:a="http://schemas.openxmlformats.org/drawingml/2006/main" cx="5242255" cy="914400"/>
        </p:xfrm>
        <a:graphic xmlns:a="http://schemas.openxmlformats.org/drawingml/2006/main">
          <a:graphicData uri="http://schemas.openxmlformats.org/drawingml/2006/table">
            <a:tbl>
              <a:tblPr/>
              <a:tblGrid>
                <a:gridCol w="1828800"/>
                <a:gridCol w="1325880"/>
                <a:gridCol w="1234440"/>
                <a:gridCol w="1493215"/>
              </a:tblGrid>
              <a:tr h="512064">
                <a:tc>
                  <a:txBody>
                    <a:bodyPr/>
                    <a:lstStyle/>
                    <a:p>
                      <a:pPr marL="0" indent="0" algn="l">
                        <a:buNone/>
                      </a:pPr>
                      <a:r>
                        <a:rPr sz="1200" b="1">
                          <a:solidFill>
                            <a:schemeClr val="accent5"/>
                          </a:solidFill>
                          <a:latin typeface="Arial"/>
                          <a:ea typeface="Arial"/>
                          <a:cs typeface="Arial"/>
                        </a:rPr>
                        <a:t>Risk class</a:t>
                      </a:r>
                      <a:endParaRPr sz="1200">
                        <a:latin typeface="Arial"/>
                        <a:ea typeface="Arial"/>
                        <a:cs typeface="Arial"/>
                      </a:endParaRPr>
                    </a:p>
                  </a:txBody>
                  <a:tcPr marL="0" marR="91440" marT="54864" marB="54864" anchor="ctr">
                    <a:lnL w="0" cmpd="sng">
                      <a:noFill/>
                    </a:lnL>
                    <a:lnR w="0" cmpd="sng">
                      <a:noFill/>
                    </a:lnR>
                    <a:lnT w="0" cmpd="sng">
                      <a:noFill/>
                    </a:lnT>
                    <a:lnB w="12700" cmpd="sng">
                      <a:solidFill>
                        <a:srgbClr val="C5CDD5"/>
                      </a:solidFill>
                      <a:prstDash val="solid"/>
                    </a:lnB>
                  </a:tcPr>
                </a:tc>
                <a:tc>
                  <a:txBody>
                    <a:bodyPr/>
                    <a:lstStyle/>
                    <a:p>
                      <a:pPr marL="0" indent="0" algn="r">
                        <a:buNone/>
                      </a:pPr>
                      <a:r>
                        <a:rPr sz="1200" b="1">
                          <a:solidFill>
                            <a:schemeClr val="accent5"/>
                          </a:solidFill>
                          <a:latin typeface="Arial"/>
                          <a:ea typeface="Arial"/>
                          <a:cs typeface="Arial"/>
                        </a:rPr>
                        <a:t>Expected return</a:t>
                      </a:r>
                      <a:endParaRPr sz="1200">
                        <a:latin typeface="Arial"/>
                        <a:ea typeface="Arial"/>
                        <a:cs typeface="Arial"/>
                      </a:endParaRPr>
                    </a:p>
                  </a:txBody>
                  <a:tcPr marL="0" marR="91440" marT="54864" marB="54864" anchor="ctr">
                    <a:lnL w="0" cmpd="sng">
                      <a:noFill/>
                    </a:lnL>
                    <a:lnR w="0" cmpd="sng">
                      <a:noFill/>
                    </a:lnR>
                    <a:lnT w="0" cmpd="sng">
                      <a:noFill/>
                    </a:lnT>
                    <a:lnB w="12700" cmpd="sng">
                      <a:solidFill>
                        <a:srgbClr val="C5CDD5"/>
                      </a:solidFill>
                      <a:prstDash val="solid"/>
                    </a:lnB>
                  </a:tcPr>
                </a:tc>
                <a:tc>
                  <a:txBody>
                    <a:bodyPr/>
                    <a:lstStyle/>
                    <a:p>
                      <a:pPr marL="0" indent="0" algn="r">
                        <a:buNone/>
                      </a:pPr>
                      <a:r>
                        <a:rPr sz="1200" b="1">
                          <a:solidFill>
                            <a:schemeClr val="accent5"/>
                          </a:solidFill>
                          <a:latin typeface="Arial"/>
                          <a:ea typeface="Arial"/>
                          <a:cs typeface="Arial"/>
                        </a:rPr>
                        <a:t>Typical swing</a:t>
                      </a:r>
                      <a:endParaRPr sz="1200">
                        <a:latin typeface="Arial"/>
                        <a:ea typeface="Arial"/>
                        <a:cs typeface="Arial"/>
                      </a:endParaRPr>
                    </a:p>
                  </a:txBody>
                  <a:tcPr marL="0" marR="91440" marT="54864" marB="54864" anchor="ctr">
                    <a:lnL w="0" cmpd="sng">
                      <a:noFill/>
                    </a:lnL>
                    <a:lnR w="0" cmpd="sng">
                      <a:noFill/>
                    </a:lnR>
                    <a:lnT w="0" cmpd="sng">
                      <a:noFill/>
                    </a:lnT>
                    <a:lnB w="12700" cmpd="sng">
                      <a:solidFill>
                        <a:srgbClr val="C5CDD5"/>
                      </a:solidFill>
                      <a:prstDash val="solid"/>
                    </a:lnB>
                  </a:tcPr>
                </a:tc>
                <a:tc>
                  <a:txBody>
                    <a:bodyPr/>
                    <a:lstStyle/>
                    <a:p>
                      <a:pPr marL="0" indent="0" algn="r">
                        <a:buNone/>
                      </a:pPr>
                      <a:r>
                        <a:rPr sz="1200" b="1">
                          <a:solidFill>
                            <a:schemeClr val="accent5"/>
                          </a:solidFill>
                          <a:latin typeface="Arial"/>
                          <a:ea typeface="Arial"/>
                          <a:cs typeface="Arial"/>
                        </a:rPr>
                        <a:t>Worst historical loss</a:t>
                      </a:r>
                      <a:endParaRPr sz="1200">
                        <a:latin typeface="Arial"/>
                        <a:ea typeface="Arial"/>
                        <a:cs typeface="Arial"/>
                      </a:endParaRPr>
                    </a:p>
                  </a:txBody>
                  <a:tcPr marL="0" marR="91440" marT="54864" marB="54864" anchor="ctr">
                    <a:lnL w="0" cmpd="sng">
                      <a:noFill/>
                    </a:lnL>
                    <a:lnR w="0" cmpd="sng">
                      <a:noFill/>
                    </a:lnR>
                    <a:lnT w="0" cmpd="sng">
                      <a:noFill/>
                    </a:lnT>
                    <a:lnB w="12700" cmpd="sng">
                      <a:solidFill>
                        <a:srgbClr val="C5CDD5"/>
                      </a:solidFill>
                      <a:prstDash val="solid"/>
                    </a:lnB>
                  </a:tcPr>
                </a:tc>
              </a:tr>
              <a:tr h="512064">
                <a:tc>
                  <a:txBody>
                    <a:bodyPr/>
                    <a:lstStyle/>
                    <a:p>
                      <a:pPr marL="0" indent="0" algn="l">
                        <a:buNone/>
                      </a:pPr>
                      <a:r>
                        <a:rPr sz="1400">
                          <a:solidFill>
                            <a:schemeClr val="tx1"/>
                          </a:solidFill>
                          <a:latin typeface="Arial"/>
                          <a:ea typeface="Arial"/>
                          <a:cs typeface="Arial"/>
                        </a:rPr>
                        <a:t>C1 Conservative</a:t>
                      </a:r>
                      <a:endParaRPr sz="1400">
                        <a:latin typeface="Arial"/>
                        <a:ea typeface="Arial"/>
                        <a:cs typeface="Arial"/>
                      </a:endParaRPr>
                    </a:p>
                  </a:txBody>
                  <a:tcPr marL="0" marR="91440" marT="54864" marB="54864" anchor="ctr">
                    <a:lnL w="0" cmpd="sng">
                      <a:noFill/>
                    </a:lnL>
                    <a:lnR w="0" cmpd="sng">
                      <a:noFill/>
                    </a:lnR>
                    <a:lnT w="0" cmpd="sng">
                      <a:noFill/>
                    </a:lnT>
                    <a:lnB w="9525" cmpd="sng">
                      <a:solidFill>
                        <a:srgbClr val="DDE2E7"/>
                      </a:solidFill>
                      <a:prstDash val="solid"/>
                    </a:lnB>
                  </a:tcPr>
                </a:tc>
                <a:tc>
                  <a:txBody>
                    <a:bodyPr/>
                    <a:lstStyle/>
                    <a:p>
                      <a:pPr marL="0" indent="0" algn="r">
                        <a:buNone/>
                      </a:pPr>
                      <a:r>
                        <a:rPr sz="1400" b="1">
                          <a:solidFill>
                            <a:schemeClr val="accent1"/>
                          </a:solidFill>
                          <a:latin typeface="Arial"/>
                          <a:ea typeface="Arial"/>
                          <a:cs typeface="Arial"/>
                        </a:rPr>
                        <a:t>1.1%</a:t>
                      </a:r>
                      <a:endParaRPr sz="1400">
                        <a:latin typeface="Arial"/>
                        <a:ea typeface="Arial"/>
                        <a:cs typeface="Arial"/>
                      </a:endParaRPr>
                    </a:p>
                  </a:txBody>
                  <a:tcPr marL="0" marR="91440" marT="54864" marB="54864" anchor="ctr">
                    <a:lnL w="0" cmpd="sng">
                      <a:noFill/>
                    </a:lnL>
                    <a:lnR w="0" cmpd="sng">
                      <a:noFill/>
                    </a:lnR>
                    <a:lnT w="0" cmpd="sng">
                      <a:noFill/>
                    </a:lnT>
                    <a:lnB w="9525" cmpd="sng">
                      <a:solidFill>
                        <a:srgbClr val="DDE2E7"/>
                      </a:solidFill>
                      <a:prstDash val="solid"/>
                    </a:lnB>
                  </a:tcPr>
                </a:tc>
                <a:tc>
                  <a:txBody>
                    <a:bodyPr/>
                    <a:lstStyle/>
                    <a:p>
                      <a:pPr marL="0" indent="0" algn="r">
                        <a:buNone/>
                      </a:pPr>
                      <a:r>
                        <a:rPr sz="1400">
                          <a:solidFill>
                            <a:schemeClr val="tx1"/>
                          </a:solidFill>
                          <a:latin typeface="Arial"/>
                          <a:ea typeface="Arial"/>
                          <a:cs typeface="Arial"/>
                        </a:rPr>
                        <a:t>0.2%</a:t>
                      </a:r>
                      <a:endParaRPr sz="1400">
                        <a:latin typeface="Arial"/>
                        <a:ea typeface="Arial"/>
                        <a:cs typeface="Arial"/>
                      </a:endParaRPr>
                    </a:p>
                  </a:txBody>
                  <a:tcPr marL="0" marR="91440" marT="54864" marB="54864" anchor="ctr">
                    <a:lnL w="0" cmpd="sng">
                      <a:noFill/>
                    </a:lnL>
                    <a:lnR w="0" cmpd="sng">
                      <a:noFill/>
                    </a:lnR>
                    <a:lnT w="0" cmpd="sng">
                      <a:noFill/>
                    </a:lnT>
                    <a:lnB w="9525" cmpd="sng">
                      <a:solidFill>
                        <a:srgbClr val="DDE2E7"/>
                      </a:solidFill>
                      <a:prstDash val="solid"/>
                    </a:lnB>
                  </a:tcPr>
                </a:tc>
                <a:tc>
                  <a:txBody>
                    <a:bodyPr/>
                    <a:lstStyle/>
                    <a:p>
                      <a:pPr marL="0" indent="0" algn="r">
                        <a:buNone/>
                      </a:pPr>
                      <a:r>
                        <a:rPr sz="1400">
                          <a:solidFill>
                            <a:schemeClr val="tx1"/>
                          </a:solidFill>
                          <a:latin typeface="Arial"/>
                          <a:ea typeface="Arial"/>
                          <a:cs typeface="Arial"/>
                        </a:rPr>
                        <a:t>0.0%</a:t>
                      </a:r>
                      <a:endParaRPr sz="1400">
                        <a:latin typeface="Arial"/>
                        <a:ea typeface="Arial"/>
                        <a:cs typeface="Arial"/>
                      </a:endParaRPr>
                    </a:p>
                  </a:txBody>
                  <a:tcPr marL="0" marR="91440" marT="54864" marB="54864" anchor="ctr">
                    <a:lnL w="0" cmpd="sng">
                      <a:noFill/>
                    </a:lnL>
                    <a:lnR w="0" cmpd="sng">
                      <a:noFill/>
                    </a:lnR>
                    <a:lnT w="0" cmpd="sng">
                      <a:noFill/>
                    </a:lnT>
                    <a:lnB w="9525" cmpd="sng">
                      <a:solidFill>
                        <a:srgbClr val="DDE2E7"/>
                      </a:solidFill>
                      <a:prstDash val="solid"/>
                    </a:lnB>
                  </a:tcPr>
                </a:tc>
              </a:tr>
              <a:tr h="512064">
                <a:tc>
                  <a:txBody>
                    <a:bodyPr/>
                    <a:lstStyle/>
                    <a:p>
                      <a:pPr marL="0" indent="0" algn="l">
                        <a:buNone/>
                      </a:pPr>
                      <a:r>
                        <a:rPr sz="1400">
                          <a:solidFill>
                            <a:schemeClr val="tx1"/>
                          </a:solidFill>
                          <a:latin typeface="Arial"/>
                          <a:ea typeface="Arial"/>
                          <a:cs typeface="Arial"/>
                        </a:rPr>
                        <a:t>C2</a:t>
                      </a:r>
                      <a:endParaRPr sz="1400">
                        <a:latin typeface="Arial"/>
                        <a:ea typeface="Arial"/>
                        <a:cs typeface="Arial"/>
                      </a:endParaRPr>
                    </a:p>
                  </a:txBody>
                  <a:tcPr marL="0" marR="91440" marT="54864" marB="54864" anchor="ctr">
                    <a:lnL w="0" cmpd="sng">
                      <a:noFill/>
                    </a:lnL>
                    <a:lnR w="0" cmpd="sng">
                      <a:noFill/>
                    </a:lnR>
                    <a:lnT w="0" cmpd="sng">
                      <a:noFill/>
                    </a:lnT>
                    <a:lnB w="9525" cmpd="sng">
                      <a:solidFill>
                        <a:srgbClr val="DDE2E7"/>
                      </a:solidFill>
                      <a:prstDash val="solid"/>
                    </a:lnB>
                  </a:tcPr>
                </a:tc>
                <a:tc>
                  <a:txBody>
                    <a:bodyPr/>
                    <a:lstStyle/>
                    <a:p>
                      <a:pPr marL="0" indent="0" algn="r">
                        <a:buNone/>
                      </a:pPr>
                      <a:r>
                        <a:rPr sz="1400" b="1">
                          <a:solidFill>
                            <a:schemeClr val="accent1"/>
                          </a:solidFill>
                          <a:latin typeface="Arial"/>
                          <a:ea typeface="Arial"/>
                          <a:cs typeface="Arial"/>
                        </a:rPr>
                        <a:t>2.4%</a:t>
                      </a:r>
                      <a:endParaRPr sz="1400">
                        <a:latin typeface="Arial"/>
                        <a:ea typeface="Arial"/>
                        <a:cs typeface="Arial"/>
                      </a:endParaRPr>
                    </a:p>
                  </a:txBody>
                  <a:tcPr marL="0" marR="91440" marT="54864" marB="54864" anchor="ctr">
                    <a:lnL w="0" cmpd="sng">
                      <a:noFill/>
                    </a:lnL>
                    <a:lnR w="0" cmpd="sng">
                      <a:noFill/>
                    </a:lnR>
                    <a:lnT w="0" cmpd="sng">
                      <a:noFill/>
                    </a:lnT>
                    <a:lnB w="9525" cmpd="sng">
                      <a:solidFill>
                        <a:srgbClr val="DDE2E7"/>
                      </a:solidFill>
                      <a:prstDash val="solid"/>
                    </a:lnB>
                  </a:tcPr>
                </a:tc>
                <a:tc>
                  <a:txBody>
                    <a:bodyPr/>
                    <a:lstStyle/>
                    <a:p>
                      <a:pPr marL="0" indent="0" algn="r">
                        <a:buNone/>
                      </a:pPr>
                      <a:r>
                        <a:rPr sz="1400">
                          <a:solidFill>
                            <a:schemeClr val="tx1"/>
                          </a:solidFill>
                          <a:latin typeface="Arial"/>
                          <a:ea typeface="Arial"/>
                          <a:cs typeface="Arial"/>
                        </a:rPr>
                        <a:t>1.0%</a:t>
                      </a:r>
                      <a:endParaRPr sz="1400">
                        <a:latin typeface="Arial"/>
                        <a:ea typeface="Arial"/>
                        <a:cs typeface="Arial"/>
                      </a:endParaRPr>
                    </a:p>
                  </a:txBody>
                  <a:tcPr marL="0" marR="91440" marT="54864" marB="54864" anchor="ctr">
                    <a:lnL w="0" cmpd="sng">
                      <a:noFill/>
                    </a:lnL>
                    <a:lnR w="0" cmpd="sng">
                      <a:noFill/>
                    </a:lnR>
                    <a:lnT w="0" cmpd="sng">
                      <a:noFill/>
                    </a:lnT>
                    <a:lnB w="9525" cmpd="sng">
                      <a:solidFill>
                        <a:srgbClr val="DDE2E7"/>
                      </a:solidFill>
                      <a:prstDash val="solid"/>
                    </a:lnB>
                  </a:tcPr>
                </a:tc>
                <a:tc>
                  <a:txBody>
                    <a:bodyPr/>
                    <a:lstStyle/>
                    <a:p>
                      <a:pPr marL="0" indent="0" algn="r">
                        <a:buNone/>
                      </a:pPr>
                      <a:r>
                        <a:rPr sz="1400">
                          <a:solidFill>
                            <a:schemeClr val="tx1"/>
                          </a:solidFill>
                          <a:latin typeface="Arial"/>
                          <a:ea typeface="Arial"/>
                          <a:cs typeface="Arial"/>
                        </a:rPr>
                        <a:t>8.2%</a:t>
                      </a:r>
                      <a:endParaRPr sz="1400">
                        <a:latin typeface="Arial"/>
                        <a:ea typeface="Arial"/>
                        <a:cs typeface="Arial"/>
                      </a:endParaRPr>
                    </a:p>
                  </a:txBody>
                  <a:tcPr marL="0" marR="91440" marT="54864" marB="54864" anchor="ctr">
                    <a:lnL w="0" cmpd="sng">
                      <a:noFill/>
                    </a:lnL>
                    <a:lnR w="0" cmpd="sng">
                      <a:noFill/>
                    </a:lnR>
                    <a:lnT w="0" cmpd="sng">
                      <a:noFill/>
                    </a:lnT>
                    <a:lnB w="9525" cmpd="sng">
                      <a:solidFill>
                        <a:srgbClr val="DDE2E7"/>
                      </a:solidFill>
                      <a:prstDash val="solid"/>
                    </a:lnB>
                  </a:tcPr>
                </a:tc>
              </a:tr>
              <a:tr h="512064">
                <a:tc>
                  <a:txBody>
                    <a:bodyPr/>
                    <a:lstStyle/>
                    <a:p>
                      <a:pPr marL="0" indent="0" algn="l">
                        <a:buNone/>
                      </a:pPr>
                      <a:r>
                        <a:rPr sz="1400">
                          <a:solidFill>
                            <a:schemeClr val="tx1"/>
                          </a:solidFill>
                          <a:latin typeface="Arial"/>
                          <a:ea typeface="Arial"/>
                          <a:cs typeface="Arial"/>
                        </a:rPr>
                        <a:t>C3 Balanced</a:t>
                      </a:r>
                      <a:endParaRPr sz="1400">
                        <a:latin typeface="Arial"/>
                        <a:ea typeface="Arial"/>
                        <a:cs typeface="Arial"/>
                      </a:endParaRPr>
                    </a:p>
                  </a:txBody>
                  <a:tcPr marL="0" marR="91440" marT="54864" marB="54864" anchor="ctr">
                    <a:lnL w="0" cmpd="sng">
                      <a:noFill/>
                    </a:lnL>
                    <a:lnR w="0" cmpd="sng">
                      <a:noFill/>
                    </a:lnR>
                    <a:lnT w="0" cmpd="sng">
                      <a:noFill/>
                    </a:lnT>
                    <a:lnB w="9525" cmpd="sng">
                      <a:solidFill>
                        <a:srgbClr val="DDE2E7"/>
                      </a:solidFill>
                      <a:prstDash val="solid"/>
                    </a:lnB>
                  </a:tcPr>
                </a:tc>
                <a:tc>
                  <a:txBody>
                    <a:bodyPr/>
                    <a:lstStyle/>
                    <a:p>
                      <a:pPr marL="0" indent="0" algn="r">
                        <a:buNone/>
                      </a:pPr>
                      <a:r>
                        <a:rPr sz="1400" b="1">
                          <a:solidFill>
                            <a:schemeClr val="accent1"/>
                          </a:solidFill>
                          <a:latin typeface="Arial"/>
                          <a:ea typeface="Arial"/>
                          <a:cs typeface="Arial"/>
                        </a:rPr>
                        <a:t>2.6%</a:t>
                      </a:r>
                      <a:endParaRPr sz="1400">
                        <a:latin typeface="Arial"/>
                        <a:ea typeface="Arial"/>
                        <a:cs typeface="Arial"/>
                      </a:endParaRPr>
                    </a:p>
                  </a:txBody>
                  <a:tcPr marL="0" marR="91440" marT="54864" marB="54864" anchor="ctr">
                    <a:lnL w="0" cmpd="sng">
                      <a:noFill/>
                    </a:lnL>
                    <a:lnR w="0" cmpd="sng">
                      <a:noFill/>
                    </a:lnR>
                    <a:lnT w="0" cmpd="sng">
                      <a:noFill/>
                    </a:lnT>
                    <a:lnB w="9525" cmpd="sng">
                      <a:solidFill>
                        <a:srgbClr val="DDE2E7"/>
                      </a:solidFill>
                      <a:prstDash val="solid"/>
                    </a:lnB>
                  </a:tcPr>
                </a:tc>
                <a:tc>
                  <a:txBody>
                    <a:bodyPr/>
                    <a:lstStyle/>
                    <a:p>
                      <a:pPr marL="0" indent="0" algn="r">
                        <a:buNone/>
                      </a:pPr>
                      <a:r>
                        <a:rPr sz="1400">
                          <a:solidFill>
                            <a:schemeClr val="tx1"/>
                          </a:solidFill>
                          <a:latin typeface="Arial"/>
                          <a:ea typeface="Arial"/>
                          <a:cs typeface="Arial"/>
                        </a:rPr>
                        <a:t>1.1%</a:t>
                      </a:r>
                      <a:endParaRPr sz="1400">
                        <a:latin typeface="Arial"/>
                        <a:ea typeface="Arial"/>
                        <a:cs typeface="Arial"/>
                      </a:endParaRPr>
                    </a:p>
                  </a:txBody>
                  <a:tcPr marL="0" marR="91440" marT="54864" marB="54864" anchor="ctr">
                    <a:lnL w="0" cmpd="sng">
                      <a:noFill/>
                    </a:lnL>
                    <a:lnR w="0" cmpd="sng">
                      <a:noFill/>
                    </a:lnR>
                    <a:lnT w="0" cmpd="sng">
                      <a:noFill/>
                    </a:lnT>
                    <a:lnB w="9525" cmpd="sng">
                      <a:solidFill>
                        <a:srgbClr val="DDE2E7"/>
                      </a:solidFill>
                      <a:prstDash val="solid"/>
                    </a:lnB>
                  </a:tcPr>
                </a:tc>
                <a:tc>
                  <a:txBody>
                    <a:bodyPr/>
                    <a:lstStyle/>
                    <a:p>
                      <a:pPr marL="0" indent="0" algn="r">
                        <a:buNone/>
                      </a:pPr>
                      <a:r>
                        <a:rPr sz="1400">
                          <a:solidFill>
                            <a:schemeClr val="tx1"/>
                          </a:solidFill>
                          <a:latin typeface="Arial"/>
                          <a:ea typeface="Arial"/>
                          <a:cs typeface="Arial"/>
                        </a:rPr>
                        <a:t>10.0%</a:t>
                      </a:r>
                      <a:endParaRPr sz="1400">
                        <a:latin typeface="Arial"/>
                        <a:ea typeface="Arial"/>
                        <a:cs typeface="Arial"/>
                      </a:endParaRPr>
                    </a:p>
                  </a:txBody>
                  <a:tcPr marL="0" marR="91440" marT="54864" marB="54864" anchor="ctr">
                    <a:lnL w="0" cmpd="sng">
                      <a:noFill/>
                    </a:lnL>
                    <a:lnR w="0" cmpd="sng">
                      <a:noFill/>
                    </a:lnR>
                    <a:lnT w="0" cmpd="sng">
                      <a:noFill/>
                    </a:lnT>
                    <a:lnB w="9525" cmpd="sng">
                      <a:solidFill>
                        <a:srgbClr val="DDE2E7"/>
                      </a:solidFill>
                      <a:prstDash val="solid"/>
                    </a:lnB>
                  </a:tcPr>
                </a:tc>
              </a:tr>
              <a:tr h="512064">
                <a:tc>
                  <a:txBody>
                    <a:bodyPr/>
                    <a:lstStyle/>
                    <a:p>
                      <a:pPr marL="0" indent="0" algn="l">
                        <a:buNone/>
                      </a:pPr>
                      <a:r>
                        <a:rPr sz="1400">
                          <a:solidFill>
                            <a:schemeClr val="tx1"/>
                          </a:solidFill>
                          <a:latin typeface="Arial"/>
                          <a:ea typeface="Arial"/>
                          <a:cs typeface="Arial"/>
                        </a:rPr>
                        <a:t>C4</a:t>
                      </a:r>
                      <a:endParaRPr sz="1400">
                        <a:latin typeface="Arial"/>
                        <a:ea typeface="Arial"/>
                        <a:cs typeface="Arial"/>
                      </a:endParaRPr>
                    </a:p>
                  </a:txBody>
                  <a:tcPr marL="0" marR="91440" marT="54864" marB="54864" anchor="ctr">
                    <a:lnL w="0" cmpd="sng">
                      <a:noFill/>
                    </a:lnL>
                    <a:lnR w="0" cmpd="sng">
                      <a:noFill/>
                    </a:lnR>
                    <a:lnT w="0" cmpd="sng">
                      <a:noFill/>
                    </a:lnT>
                    <a:lnB w="9525" cmpd="sng">
                      <a:solidFill>
                        <a:srgbClr val="DDE2E7"/>
                      </a:solidFill>
                      <a:prstDash val="solid"/>
                    </a:lnB>
                  </a:tcPr>
                </a:tc>
                <a:tc>
                  <a:txBody>
                    <a:bodyPr/>
                    <a:lstStyle/>
                    <a:p>
                      <a:pPr marL="0" indent="0" algn="r">
                        <a:buNone/>
                      </a:pPr>
                      <a:r>
                        <a:rPr sz="1400" b="1">
                          <a:solidFill>
                            <a:schemeClr val="accent1"/>
                          </a:solidFill>
                          <a:latin typeface="Arial"/>
                          <a:ea typeface="Arial"/>
                          <a:cs typeface="Arial"/>
                        </a:rPr>
                        <a:t>7.1%</a:t>
                      </a:r>
                      <a:endParaRPr sz="1400">
                        <a:latin typeface="Arial"/>
                        <a:ea typeface="Arial"/>
                        <a:cs typeface="Arial"/>
                      </a:endParaRPr>
                    </a:p>
                  </a:txBody>
                  <a:tcPr marL="0" marR="91440" marT="54864" marB="54864" anchor="ctr">
                    <a:lnL w="0" cmpd="sng">
                      <a:noFill/>
                    </a:lnL>
                    <a:lnR w="0" cmpd="sng">
                      <a:noFill/>
                    </a:lnR>
                    <a:lnT w="0" cmpd="sng">
                      <a:noFill/>
                    </a:lnT>
                    <a:lnB w="9525" cmpd="sng">
                      <a:solidFill>
                        <a:srgbClr val="DDE2E7"/>
                      </a:solidFill>
                      <a:prstDash val="solid"/>
                    </a:lnB>
                  </a:tcPr>
                </a:tc>
                <a:tc>
                  <a:txBody>
                    <a:bodyPr/>
                    <a:lstStyle/>
                    <a:p>
                      <a:pPr marL="0" indent="0" algn="r">
                        <a:buNone/>
                      </a:pPr>
                      <a:r>
                        <a:rPr sz="1400">
                          <a:solidFill>
                            <a:schemeClr val="tx1"/>
                          </a:solidFill>
                          <a:latin typeface="Arial"/>
                          <a:ea typeface="Arial"/>
                          <a:cs typeface="Arial"/>
                        </a:rPr>
                        <a:t>8.2%</a:t>
                      </a:r>
                      <a:endParaRPr sz="1400">
                        <a:latin typeface="Arial"/>
                        <a:ea typeface="Arial"/>
                        <a:cs typeface="Arial"/>
                      </a:endParaRPr>
                    </a:p>
                  </a:txBody>
                  <a:tcPr marL="0" marR="91440" marT="54864" marB="54864" anchor="ctr">
                    <a:lnL w="0" cmpd="sng">
                      <a:noFill/>
                    </a:lnL>
                    <a:lnR w="0" cmpd="sng">
                      <a:noFill/>
                    </a:lnR>
                    <a:lnT w="0" cmpd="sng">
                      <a:noFill/>
                    </a:lnT>
                    <a:lnB w="9525" cmpd="sng">
                      <a:solidFill>
                        <a:srgbClr val="DDE2E7"/>
                      </a:solidFill>
                      <a:prstDash val="solid"/>
                    </a:lnB>
                  </a:tcPr>
                </a:tc>
                <a:tc>
                  <a:txBody>
                    <a:bodyPr/>
                    <a:lstStyle/>
                    <a:p>
                      <a:pPr marL="0" indent="0" algn="r">
                        <a:buNone/>
                      </a:pPr>
                      <a:r>
                        <a:rPr sz="1400">
                          <a:solidFill>
                            <a:schemeClr val="tx1"/>
                          </a:solidFill>
                          <a:latin typeface="Arial"/>
                          <a:ea typeface="Arial"/>
                          <a:cs typeface="Arial"/>
                        </a:rPr>
                        <a:t>21.3%</a:t>
                      </a:r>
                      <a:endParaRPr sz="1400">
                        <a:latin typeface="Arial"/>
                        <a:ea typeface="Arial"/>
                        <a:cs typeface="Arial"/>
                      </a:endParaRPr>
                    </a:p>
                  </a:txBody>
                  <a:tcPr marL="0" marR="91440" marT="54864" marB="54864" anchor="ctr">
                    <a:lnL w="0" cmpd="sng">
                      <a:noFill/>
                    </a:lnL>
                    <a:lnR w="0" cmpd="sng">
                      <a:noFill/>
                    </a:lnR>
                    <a:lnT w="0" cmpd="sng">
                      <a:noFill/>
                    </a:lnT>
                    <a:lnB w="9525" cmpd="sng">
                      <a:solidFill>
                        <a:srgbClr val="DDE2E7"/>
                      </a:solidFill>
                      <a:prstDash val="solid"/>
                    </a:lnB>
                  </a:tcPr>
                </a:tc>
              </a:tr>
              <a:tr h="512064">
                <a:tc>
                  <a:txBody>
                    <a:bodyPr/>
                    <a:lstStyle/>
                    <a:p>
                      <a:pPr marL="0" indent="0" algn="l">
                        <a:buNone/>
                      </a:pPr>
                      <a:r>
                        <a:rPr sz="1400">
                          <a:solidFill>
                            <a:schemeClr val="tx1"/>
                          </a:solidFill>
                          <a:latin typeface="Arial"/>
                          <a:ea typeface="Arial"/>
                          <a:cs typeface="Arial"/>
                        </a:rPr>
                        <a:t>C5 Aggressive</a:t>
                      </a:r>
                      <a:endParaRPr sz="1400">
                        <a:latin typeface="Arial"/>
                        <a:ea typeface="Arial"/>
                        <a:cs typeface="Arial"/>
                      </a:endParaRPr>
                    </a:p>
                  </a:txBody>
                  <a:tcPr marL="0" marR="91440" marT="54864" marB="54864" anchor="ctr">
                    <a:lnL w="0" cmpd="sng">
                      <a:noFill/>
                    </a:lnL>
                    <a:lnR w="0" cmpd="sng">
                      <a:noFill/>
                    </a:lnR>
                    <a:lnT w="0" cmpd="sng">
                      <a:noFill/>
                    </a:lnT>
                    <a:lnB w="9525" cmpd="sng">
                      <a:solidFill>
                        <a:srgbClr val="DDE2E7"/>
                      </a:solidFill>
                      <a:prstDash val="solid"/>
                    </a:lnB>
                  </a:tcPr>
                </a:tc>
                <a:tc>
                  <a:txBody>
                    <a:bodyPr/>
                    <a:lstStyle/>
                    <a:p>
                      <a:pPr marL="0" indent="0" algn="r">
                        <a:buNone/>
                      </a:pPr>
                      <a:r>
                        <a:rPr sz="1400" b="1">
                          <a:solidFill>
                            <a:schemeClr val="accent1"/>
                          </a:solidFill>
                          <a:latin typeface="Arial"/>
                          <a:ea typeface="Arial"/>
                          <a:cs typeface="Arial"/>
                        </a:rPr>
                        <a:t>8.0%</a:t>
                      </a:r>
                      <a:endParaRPr sz="1400">
                        <a:latin typeface="Arial"/>
                        <a:ea typeface="Arial"/>
                        <a:cs typeface="Arial"/>
                      </a:endParaRPr>
                    </a:p>
                  </a:txBody>
                  <a:tcPr marL="0" marR="91440" marT="54864" marB="54864" anchor="ctr">
                    <a:lnL w="0" cmpd="sng">
                      <a:noFill/>
                    </a:lnL>
                    <a:lnR w="0" cmpd="sng">
                      <a:noFill/>
                    </a:lnR>
                    <a:lnT w="0" cmpd="sng">
                      <a:noFill/>
                    </a:lnT>
                    <a:lnB w="9525" cmpd="sng">
                      <a:solidFill>
                        <a:srgbClr val="DDE2E7"/>
                      </a:solidFill>
                      <a:prstDash val="solid"/>
                    </a:lnB>
                  </a:tcPr>
                </a:tc>
                <a:tc>
                  <a:txBody>
                    <a:bodyPr/>
                    <a:lstStyle/>
                    <a:p>
                      <a:pPr marL="0" indent="0" algn="r">
                        <a:buNone/>
                      </a:pPr>
                      <a:r>
                        <a:rPr sz="1400">
                          <a:solidFill>
                            <a:schemeClr val="tx1"/>
                          </a:solidFill>
                          <a:latin typeface="Arial"/>
                          <a:ea typeface="Arial"/>
                          <a:cs typeface="Arial"/>
                        </a:rPr>
                        <a:t>9.9%</a:t>
                      </a:r>
                      <a:endParaRPr sz="1400">
                        <a:latin typeface="Arial"/>
                        <a:ea typeface="Arial"/>
                        <a:cs typeface="Arial"/>
                      </a:endParaRPr>
                    </a:p>
                  </a:txBody>
                  <a:tcPr marL="0" marR="91440" marT="54864" marB="54864" anchor="ctr">
                    <a:lnL w="0" cmpd="sng">
                      <a:noFill/>
                    </a:lnL>
                    <a:lnR w="0" cmpd="sng">
                      <a:noFill/>
                    </a:lnR>
                    <a:lnT w="0" cmpd="sng">
                      <a:noFill/>
                    </a:lnT>
                    <a:lnB w="9525" cmpd="sng">
                      <a:solidFill>
                        <a:srgbClr val="DDE2E7"/>
                      </a:solidFill>
                      <a:prstDash val="solid"/>
                    </a:lnB>
                  </a:tcPr>
                </a:tc>
                <a:tc>
                  <a:txBody>
                    <a:bodyPr/>
                    <a:lstStyle/>
                    <a:p>
                      <a:pPr marL="0" indent="0" algn="r">
                        <a:buNone/>
                      </a:pPr>
                      <a:r>
                        <a:rPr sz="1400">
                          <a:solidFill>
                            <a:schemeClr val="tx1"/>
                          </a:solidFill>
                          <a:latin typeface="Arial"/>
                          <a:ea typeface="Arial"/>
                          <a:cs typeface="Arial"/>
                        </a:rPr>
                        <a:t>24.5%</a:t>
                      </a:r>
                      <a:endParaRPr sz="1400">
                        <a:latin typeface="Arial"/>
                        <a:ea typeface="Arial"/>
                        <a:cs typeface="Arial"/>
                      </a:endParaRPr>
                    </a:p>
                  </a:txBody>
                  <a:tcPr marL="0" marR="91440" marT="54864" marB="54864" anchor="ctr">
                    <a:lnL w="0" cmpd="sng">
                      <a:noFill/>
                    </a:lnL>
                    <a:lnR w="0" cmpd="sng">
                      <a:noFill/>
                    </a:lnR>
                    <a:lnT w="0" cmpd="sng">
                      <a:noFill/>
                    </a:lnT>
                    <a:lnB w="9525" cmpd="sng">
                      <a:solidFill>
                        <a:srgbClr val="DDE2E7"/>
                      </a:solidFill>
                      <a:prstDash val="solid"/>
                    </a:lnB>
                  </a:tcPr>
                </a:tc>
              </a:tr>
            </a:tbl>
          </a:graphicData>
        </a:graphic>
      </p:graphicFrame>
      <p:sp>
        <p:nvSpPr>
          <p:cNvPr id="15" name="Text 12">
            <a:extLst xmlns:a="http://schemas.openxmlformats.org/drawingml/2006/main">
              <a:ext uri="{FF2B5EF4-FFF2-40B4-BE49-F238E27FC236}">
                <a16:creationId xmlns:a16="http://schemas.microsoft.com/office/drawing/2014/main" id="{36DB63B0-AD7E-4E6B-8A21-FD968CADC78C}"/>
              </a:ext>
            </a:extLst>
          </p:cNvPr>
          <p:cNvSpPr>
            <a:spLocks xmlns:a="http://schemas.openxmlformats.org/drawingml/2006/main" noGrp="1"/>
          </p:cNvSpPr>
          <p:nvPr/>
        </p:nvSpPr>
        <p:spPr>
          <a:xfrm xmlns:a="http://schemas.openxmlformats.org/drawingml/2006/main">
            <a:off x="6309360" y="4709160"/>
            <a:ext cx="5242255" cy="6400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00">
                <a:solidFill>
                  <a:schemeClr val="accent5"/>
                </a:solidFill>
                <a:latin typeface="Arial"/>
                <a:ea typeface="Arial"/>
                <a:cs typeface="Arial"/>
              </a:rPr>
              <a:t>Model portfolios of 100,000 from the real catalog, after fees, before the client's own loss limit is applied. Worst of the 2008, 2020 and 2022 shocks.</a:t>
            </a:r>
            <a:endParaRPr sz="1200"/>
          </a:p>
        </p:txBody>
      </p:sp>
      <p:sp>
        <p:nvSpPr>
          <p:cNvPr id="25" name="Slide Number Placeholder 0">
            <a:extLst xmlns:a="http://schemas.openxmlformats.org/drawingml/2006/main">
              <a:ext uri="{FF2B5EF4-FFF2-40B4-BE49-F238E27FC236}">
                <a16:creationId xmlns:a16="http://schemas.microsoft.com/office/drawing/2014/main" id="{FDB8DE6B-49DB-4B76-AF78-9B6D53CB1CFD}"/>
              </a:ext>
            </a:extLst>
          </p:cNvPr>
          <p:cNvSpPr>
            <a:spLocks xmlns:a="http://schemas.openxmlformats.org/drawingml/2006/main" noGrp="1"/>
          </p:cNvSpPr>
          <p:nvPr>
            <p:ph type="sldNum" idx="4294967295"/>
          </p:nvPr>
        </p:nvSpPr>
        <p:spPr>
          <a:xfrm xmlns:a="http://schemas.openxmlformats.org/drawingml/2006/main">
            <a:off x="11002975" y="6419088"/>
            <a:ext cx="548640" cy="256032"/>
          </a:xfrm>
          <a:prstGeom xmlns:a="http://schemas.openxmlformats.org/drawingml/2006/main" prst="rect">
            <a:avLst/>
          </a:prstGeom>
        </p:spPr>
        <p:txBody>
          <a:bodyPr xmlns:a="http://schemas.openxmlformats.org/drawingml/2006/main"/>
          <a:lstStyle xmlns:a="http://schemas.openxmlformats.org/drawingml/2006/main">
            <a:lvl1pPr>
              <a:buNone/>
              <a:defRPr sz="950">
                <a:solidFill>
                  <a:schemeClr val="accent5"/>
                </a:solidFill>
              </a:defRPr>
            </a:lvl1pPr>
          </a:lstStyle>
          <a:p xmlns:a="http://schemas.openxmlformats.org/drawingml/2006/main">
            <a:pPr algn="r">
              <a:buNone/>
            </a:pPr>
            <a:fld id="{F7021451-1387-4CA6-816F-3879F97B5CBC}" type="slidenum">
              <a:rPr b="0"/>
              <a:t>7</a:t>
            </a:fld>
            <a:endParaRPr/>
          </a:p>
        </p:txBody>
      </p:sp>
    </p:spTree>
    <p:extLst>
      <p:ext uri="{BB962C8B-B14F-4D97-AF65-F5344CB8AC3E}">
        <p14:creationId xmlns:p14="http://schemas.microsoft.com/office/powerpoint/2010/main" val="708853061"/>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2" name="Text 2">
            <a:extLst xmlns:a="http://schemas.openxmlformats.org/drawingml/2006/main">
              <a:ext uri="{FF2B5EF4-FFF2-40B4-BE49-F238E27FC236}">
                <a16:creationId xmlns:a16="http://schemas.microsoft.com/office/drawing/2014/main" id="{81A8F9AE-6772-473E-A7E0-DB48D357E949}"/>
              </a:ext>
            </a:extLst>
          </p:cNvPr>
          <p:cNvSpPr>
            <a:spLocks xmlns:a="http://schemas.openxmlformats.org/drawingml/2006/main" noGrp="1"/>
          </p:cNvSpPr>
          <p:nvPr>
            <p:ph type="title" idx="102" hasCustomPrompt="1"/>
          </p:nvPr>
        </p:nvSpPr>
        <p:spPr>
          <a:xfrm xmlns:a="http://schemas.openxmlformats.org/drawingml/2006/main">
            <a:off x="640080" y="457200"/>
            <a:ext cx="10911535" cy="7315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buNone/>
            </a:pPr>
            <a:r>
              <a:rPr sz="3000" b="1">
                <a:solidFill>
                  <a:schemeClr val="tx1"/>
                </a:solidFill>
                <a:latin typeface="Arial"/>
                <a:ea typeface="Arial"/>
                <a:cs typeface="Arial"/>
              </a:rPr>
              <a:t>Security enforced in code, not in prompts</a:t>
            </a:r>
            <a:endParaRPr sz="3000"/>
          </a:p>
        </p:txBody>
      </p:sp>
      <p:sp>
        <p:nvSpPr>
          <p:cNvPr id="3" name="tiers-top">
            <a:extLst xmlns:a="http://schemas.openxmlformats.org/drawingml/2006/main">
              <a:ext uri="{FF2B5EF4-FFF2-40B4-BE49-F238E27FC236}">
                <a16:creationId xmlns:a16="http://schemas.microsoft.com/office/drawing/2014/main" id="{C1611AC8-05A5-4434-9067-6350207B2920}"/>
              </a:ext>
            </a:extLst>
          </p:cNvPr>
          <p:cNvSpPr>
            <a:spLocks xmlns:a="http://schemas.openxmlformats.org/drawingml/2006/main" noGrp="1"/>
          </p:cNvSpPr>
          <p:nvPr/>
        </p:nvSpPr>
        <p:spPr>
          <a:xfrm xmlns:a="http://schemas.openxmlformats.org/drawingml/2006/main">
            <a:off x="640080" y="1417320"/>
            <a:ext cx="5303520" cy="0"/>
          </a:xfrm>
          <a:prstGeom xmlns:a="http://schemas.openxmlformats.org/drawingml/2006/main" prst="line">
            <a:avLst/>
          </a:prstGeom>
          <a:noFill xmlns:a="http://schemas.openxmlformats.org/drawingml/2006/main"/>
          <a:ln xmlns:a="http://schemas.openxmlformats.org/drawingml/2006/main" w="9525">
            <a:solidFill>
              <a:srgbClr val="C5CDD5"/>
            </a:solidFill>
            <a:prstDash val="solid"/>
          </a:ln>
        </p:spPr>
      </p:sp>
      <p:sp>
        <p:nvSpPr>
          <p:cNvPr id="4" name="Text 2">
            <a:extLst xmlns:a="http://schemas.openxmlformats.org/drawingml/2006/main">
              <a:ext uri="{FF2B5EF4-FFF2-40B4-BE49-F238E27FC236}">
                <a16:creationId xmlns:a16="http://schemas.microsoft.com/office/drawing/2014/main" id="{ABE5CD99-68F2-4266-B9F7-C844BD35034E}"/>
              </a:ext>
            </a:extLst>
          </p:cNvPr>
          <p:cNvSpPr>
            <a:spLocks xmlns:a="http://schemas.openxmlformats.org/drawingml/2006/main" noGrp="1"/>
          </p:cNvSpPr>
          <p:nvPr/>
        </p:nvSpPr>
        <p:spPr>
          <a:xfrm xmlns:a="http://schemas.openxmlformats.org/drawingml/2006/main">
            <a:off x="640080" y="1527048"/>
            <a:ext cx="146304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a:solidFill>
                  <a:schemeClr val="tx1"/>
                </a:solidFill>
                <a:latin typeface="Arial"/>
                <a:ea typeface="Arial"/>
                <a:cs typeface="Arial"/>
              </a:rPr>
              <a:t>T0 Info</a:t>
            </a:r>
            <a:endParaRPr sz="1500"/>
          </a:p>
        </p:txBody>
      </p:sp>
      <p:sp>
        <p:nvSpPr>
          <p:cNvPr id="5" name="Text 3">
            <a:extLst xmlns:a="http://schemas.openxmlformats.org/drawingml/2006/main">
              <a:ext uri="{FF2B5EF4-FFF2-40B4-BE49-F238E27FC236}">
                <a16:creationId xmlns:a16="http://schemas.microsoft.com/office/drawing/2014/main" id="{29027714-09F3-4328-BA2C-AA85D004E12B}"/>
              </a:ext>
            </a:extLst>
          </p:cNvPr>
          <p:cNvSpPr>
            <a:spLocks xmlns:a="http://schemas.openxmlformats.org/drawingml/2006/main" noGrp="1"/>
          </p:cNvSpPr>
          <p:nvPr/>
        </p:nvSpPr>
        <p:spPr>
          <a:xfrm xmlns:a="http://schemas.openxmlformats.org/drawingml/2006/main">
            <a:off x="2194560" y="1527048"/>
            <a:ext cx="374904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a:solidFill>
                  <a:schemeClr val="accent5"/>
                </a:solidFill>
                <a:latin typeface="Arial"/>
                <a:ea typeface="Arial"/>
                <a:cs typeface="Arial"/>
              </a:rPr>
              <a:t>education and product facts</a:t>
            </a:r>
            <a:endParaRPr sz="1400"/>
          </a:p>
        </p:txBody>
      </p:sp>
      <p:sp>
        <p:nvSpPr>
          <p:cNvPr id="6" name="tier-rule-0">
            <a:extLst xmlns:a="http://schemas.openxmlformats.org/drawingml/2006/main">
              <a:ext uri="{FF2B5EF4-FFF2-40B4-BE49-F238E27FC236}">
                <a16:creationId xmlns:a16="http://schemas.microsoft.com/office/drawing/2014/main" id="{859C2254-2093-49B8-941F-D70AA0A8AE3F}"/>
              </a:ext>
            </a:extLst>
          </p:cNvPr>
          <p:cNvSpPr>
            <a:spLocks xmlns:a="http://schemas.openxmlformats.org/drawingml/2006/main" noGrp="1"/>
          </p:cNvSpPr>
          <p:nvPr/>
        </p:nvSpPr>
        <p:spPr>
          <a:xfrm xmlns:a="http://schemas.openxmlformats.org/drawingml/2006/main">
            <a:off x="640080" y="2194560"/>
            <a:ext cx="5303520" cy="0"/>
          </a:xfrm>
          <a:prstGeom xmlns:a="http://schemas.openxmlformats.org/drawingml/2006/main" prst="line">
            <a:avLst/>
          </a:prstGeom>
          <a:noFill xmlns:a="http://schemas.openxmlformats.org/drawingml/2006/main"/>
          <a:ln xmlns:a="http://schemas.openxmlformats.org/drawingml/2006/main" w="9525">
            <a:solidFill>
              <a:srgbClr val="DDE2E7"/>
            </a:solidFill>
            <a:prstDash val="solid"/>
          </a:ln>
        </p:spPr>
      </p:sp>
      <p:sp>
        <p:nvSpPr>
          <p:cNvPr id="7" name="Text 5">
            <a:extLst xmlns:a="http://schemas.openxmlformats.org/drawingml/2006/main">
              <a:ext uri="{FF2B5EF4-FFF2-40B4-BE49-F238E27FC236}">
                <a16:creationId xmlns:a16="http://schemas.microsoft.com/office/drawing/2014/main" id="{E6298AFD-21FE-4521-B09A-E65CBD030899}"/>
              </a:ext>
            </a:extLst>
          </p:cNvPr>
          <p:cNvSpPr>
            <a:spLocks xmlns:a="http://schemas.openxmlformats.org/drawingml/2006/main" noGrp="1"/>
          </p:cNvSpPr>
          <p:nvPr/>
        </p:nvSpPr>
        <p:spPr>
          <a:xfrm xmlns:a="http://schemas.openxmlformats.org/drawingml/2006/main">
            <a:off x="640080" y="2304288"/>
            <a:ext cx="146304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a:solidFill>
                  <a:schemeClr val="tx1"/>
                </a:solidFill>
                <a:latin typeface="Arial"/>
                <a:ea typeface="Arial"/>
                <a:cs typeface="Arial"/>
              </a:rPr>
              <a:t>T1 Advise</a:t>
            </a:r>
            <a:endParaRPr sz="1500"/>
          </a:p>
        </p:txBody>
      </p:sp>
      <p:sp>
        <p:nvSpPr>
          <p:cNvPr id="8" name="Text 6">
            <a:extLst xmlns:a="http://schemas.openxmlformats.org/drawingml/2006/main">
              <a:ext uri="{FF2B5EF4-FFF2-40B4-BE49-F238E27FC236}">
                <a16:creationId xmlns:a16="http://schemas.microsoft.com/office/drawing/2014/main" id="{1F7288A5-FC70-4007-A819-750950504130}"/>
              </a:ext>
            </a:extLst>
          </p:cNvPr>
          <p:cNvSpPr>
            <a:spLocks xmlns:a="http://schemas.openxmlformats.org/drawingml/2006/main" noGrp="1"/>
          </p:cNvSpPr>
          <p:nvPr/>
        </p:nvSpPr>
        <p:spPr>
          <a:xfrm xmlns:a="http://schemas.openxmlformats.org/drawingml/2006/main">
            <a:off x="2194560" y="2304288"/>
            <a:ext cx="374904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a:solidFill>
                  <a:schemeClr val="accent5"/>
                </a:solidFill>
                <a:latin typeface="Arial"/>
                <a:ea typeface="Arial"/>
                <a:cs typeface="Arial"/>
              </a:rPr>
              <a:t>the default: profile, portfolio, stress tests, goals</a:t>
            </a:r>
            <a:endParaRPr sz="1400"/>
          </a:p>
        </p:txBody>
      </p:sp>
      <p:sp>
        <p:nvSpPr>
          <p:cNvPr id="9" name="tier-rule-1">
            <a:extLst xmlns:a="http://schemas.openxmlformats.org/drawingml/2006/main">
              <a:ext uri="{FF2B5EF4-FFF2-40B4-BE49-F238E27FC236}">
                <a16:creationId xmlns:a16="http://schemas.microsoft.com/office/drawing/2014/main" id="{9A110213-9DFE-4C2A-83B1-C07624D9AFD5}"/>
              </a:ext>
            </a:extLst>
          </p:cNvPr>
          <p:cNvSpPr>
            <a:spLocks xmlns:a="http://schemas.openxmlformats.org/drawingml/2006/main" noGrp="1"/>
          </p:cNvSpPr>
          <p:nvPr/>
        </p:nvSpPr>
        <p:spPr>
          <a:xfrm xmlns:a="http://schemas.openxmlformats.org/drawingml/2006/main">
            <a:off x="640080" y="2971800"/>
            <a:ext cx="5303520" cy="0"/>
          </a:xfrm>
          <a:prstGeom xmlns:a="http://schemas.openxmlformats.org/drawingml/2006/main" prst="line">
            <a:avLst/>
          </a:prstGeom>
          <a:noFill xmlns:a="http://schemas.openxmlformats.org/drawingml/2006/main"/>
          <a:ln xmlns:a="http://schemas.openxmlformats.org/drawingml/2006/main" w="9525">
            <a:solidFill>
              <a:srgbClr val="DDE2E7"/>
            </a:solidFill>
            <a:prstDash val="solid"/>
          </a:ln>
        </p:spPr>
      </p:sp>
      <p:sp>
        <p:nvSpPr>
          <p:cNvPr id="10" name="Text 8">
            <a:extLst xmlns:a="http://schemas.openxmlformats.org/drawingml/2006/main">
              <a:ext uri="{FF2B5EF4-FFF2-40B4-BE49-F238E27FC236}">
                <a16:creationId xmlns:a16="http://schemas.microsoft.com/office/drawing/2014/main" id="{58579AF8-45A7-4C47-AAAE-8DF5C507B41F}"/>
              </a:ext>
            </a:extLst>
          </p:cNvPr>
          <p:cNvSpPr>
            <a:spLocks xmlns:a="http://schemas.openxmlformats.org/drawingml/2006/main" noGrp="1"/>
          </p:cNvSpPr>
          <p:nvPr/>
        </p:nvSpPr>
        <p:spPr>
          <a:xfrm xmlns:a="http://schemas.openxmlformats.org/drawingml/2006/main">
            <a:off x="640080" y="3081528"/>
            <a:ext cx="146304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a:solidFill>
                  <a:schemeClr val="tx1"/>
                </a:solidFill>
                <a:latin typeface="Arial"/>
                <a:ea typeface="Arial"/>
                <a:cs typeface="Arial"/>
              </a:rPr>
              <a:t>T2 Propose</a:t>
            </a:r>
            <a:endParaRPr sz="1500"/>
          </a:p>
        </p:txBody>
      </p:sp>
      <p:sp>
        <p:nvSpPr>
          <p:cNvPr id="11" name="Text 9">
            <a:extLst xmlns:a="http://schemas.openxmlformats.org/drawingml/2006/main">
              <a:ext uri="{FF2B5EF4-FFF2-40B4-BE49-F238E27FC236}">
                <a16:creationId xmlns:a16="http://schemas.microsoft.com/office/drawing/2014/main" id="{F550660B-F23C-4C50-8F9E-34C39944D07A}"/>
              </a:ext>
            </a:extLst>
          </p:cNvPr>
          <p:cNvSpPr>
            <a:spLocks xmlns:a="http://schemas.openxmlformats.org/drawingml/2006/main" noGrp="1"/>
          </p:cNvSpPr>
          <p:nvPr/>
        </p:nvSpPr>
        <p:spPr>
          <a:xfrm xmlns:a="http://schemas.openxmlformats.org/drawingml/2006/main">
            <a:off x="2194560" y="3081528"/>
            <a:ext cx="374904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a:solidFill>
                  <a:schemeClr val="accent5"/>
                </a:solidFill>
                <a:latin typeface="Arial"/>
                <a:ea typeface="Arial"/>
                <a:cs typeface="Arial"/>
              </a:rPr>
              <a:t>draft orders after pre-trade checks</a:t>
            </a:r>
            <a:endParaRPr sz="1400"/>
          </a:p>
        </p:txBody>
      </p:sp>
      <p:sp>
        <p:nvSpPr>
          <p:cNvPr id="12" name="tier-rule-2">
            <a:extLst xmlns:a="http://schemas.openxmlformats.org/drawingml/2006/main">
              <a:ext uri="{FF2B5EF4-FFF2-40B4-BE49-F238E27FC236}">
                <a16:creationId xmlns:a16="http://schemas.microsoft.com/office/drawing/2014/main" id="{459782E7-2647-4BD9-A62B-2A9AF39337D0}"/>
              </a:ext>
            </a:extLst>
          </p:cNvPr>
          <p:cNvSpPr>
            <a:spLocks xmlns:a="http://schemas.openxmlformats.org/drawingml/2006/main" noGrp="1"/>
          </p:cNvSpPr>
          <p:nvPr/>
        </p:nvSpPr>
        <p:spPr>
          <a:xfrm xmlns:a="http://schemas.openxmlformats.org/drawingml/2006/main">
            <a:off x="640080" y="3749040"/>
            <a:ext cx="5303520" cy="0"/>
          </a:xfrm>
          <a:prstGeom xmlns:a="http://schemas.openxmlformats.org/drawingml/2006/main" prst="line">
            <a:avLst/>
          </a:prstGeom>
          <a:noFill xmlns:a="http://schemas.openxmlformats.org/drawingml/2006/main"/>
          <a:ln xmlns:a="http://schemas.openxmlformats.org/drawingml/2006/main" w="9525">
            <a:solidFill>
              <a:srgbClr val="DDE2E7"/>
            </a:solidFill>
            <a:prstDash val="solid"/>
          </a:ln>
        </p:spPr>
      </p:sp>
      <p:sp>
        <p:nvSpPr>
          <p:cNvPr id="13" name="Text 11">
            <a:extLst xmlns:a="http://schemas.openxmlformats.org/drawingml/2006/main">
              <a:ext uri="{FF2B5EF4-FFF2-40B4-BE49-F238E27FC236}">
                <a16:creationId xmlns:a16="http://schemas.microsoft.com/office/drawing/2014/main" id="{0793047B-C43C-44B5-983E-A672E753F527}"/>
              </a:ext>
            </a:extLst>
          </p:cNvPr>
          <p:cNvSpPr>
            <a:spLocks xmlns:a="http://schemas.openxmlformats.org/drawingml/2006/main" noGrp="1"/>
          </p:cNvSpPr>
          <p:nvPr/>
        </p:nvSpPr>
        <p:spPr>
          <a:xfrm xmlns:a="http://schemas.openxmlformats.org/drawingml/2006/main">
            <a:off x="640080" y="3858768"/>
            <a:ext cx="146304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500" b="1">
                <a:solidFill>
                  <a:schemeClr val="accent2"/>
                </a:solidFill>
                <a:latin typeface="Arial"/>
                <a:ea typeface="Arial"/>
                <a:cs typeface="Arial"/>
              </a:rPr>
              <a:t>T3 Execute</a:t>
            </a:r>
            <a:endParaRPr sz="1500"/>
          </a:p>
        </p:txBody>
      </p:sp>
      <p:sp>
        <p:nvSpPr>
          <p:cNvPr id="14" name="Text 12">
            <a:extLst xmlns:a="http://schemas.openxmlformats.org/drawingml/2006/main">
              <a:ext uri="{FF2B5EF4-FFF2-40B4-BE49-F238E27FC236}">
                <a16:creationId xmlns:a16="http://schemas.microsoft.com/office/drawing/2014/main" id="{CA589EEC-42CF-436D-85F7-1E825268DA8A}"/>
              </a:ext>
            </a:extLst>
          </p:cNvPr>
          <p:cNvSpPr>
            <a:spLocks xmlns:a="http://schemas.openxmlformats.org/drawingml/2006/main" noGrp="1"/>
          </p:cNvSpPr>
          <p:nvPr/>
        </p:nvSpPr>
        <p:spPr>
          <a:xfrm xmlns:a="http://schemas.openxmlformats.org/drawingml/2006/main">
            <a:off x="2194560" y="3858768"/>
            <a:ext cx="3749040" cy="548640"/>
          </a:xfrm>
          <a:prstGeom xmlns:a="http://schemas.openxmlformats.org/drawingml/2006/main" prst="rect">
            <a:avLst/>
          </a:prstGeom>
          <a:noFill xmlns:a="http://schemas.openxmlformats.org/drawingml/2006/main"/>
        </p:spPr>
        <p:txBody>
          <a:bodyPr xmlns:a="http://schemas.openxmlformats.org/drawingml/2006/main" wrap="square" lIns="0" tIns="0" rIns="0" bIns="0" anchor="ctr"/>
          <a:lstStyle xmlns:a="http://schemas.openxmlformats.org/drawingml/2006/main"/>
          <a:p xmlns:a="http://schemas.openxmlformats.org/drawingml/2006/main">
            <a:pPr marL="0" indent="0">
              <a:buNone/>
            </a:pPr>
            <a:r>
              <a:rPr sz="1400">
                <a:solidFill>
                  <a:schemeClr val="accent2"/>
                </a:solidFill>
                <a:latin typeface="Arial"/>
                <a:ea typeface="Arial"/>
                <a:cs typeface="Arial"/>
              </a:rPr>
              <a:t>only with the client's one-time token</a:t>
            </a:r>
            <a:endParaRPr sz="1400"/>
          </a:p>
        </p:txBody>
      </p:sp>
      <p:sp>
        <p:nvSpPr>
          <p:cNvPr id="15" name="tier-rule-3">
            <a:extLst xmlns:a="http://schemas.openxmlformats.org/drawingml/2006/main">
              <a:ext uri="{FF2B5EF4-FFF2-40B4-BE49-F238E27FC236}">
                <a16:creationId xmlns:a16="http://schemas.microsoft.com/office/drawing/2014/main" id="{7844DEE3-35DF-4F44-A019-CC0BB6DF2F54}"/>
              </a:ext>
            </a:extLst>
          </p:cNvPr>
          <p:cNvSpPr>
            <a:spLocks xmlns:a="http://schemas.openxmlformats.org/drawingml/2006/main" noGrp="1"/>
          </p:cNvSpPr>
          <p:nvPr/>
        </p:nvSpPr>
        <p:spPr>
          <a:xfrm xmlns:a="http://schemas.openxmlformats.org/drawingml/2006/main">
            <a:off x="640080" y="4526280"/>
            <a:ext cx="5303520" cy="0"/>
          </a:xfrm>
          <a:prstGeom xmlns:a="http://schemas.openxmlformats.org/drawingml/2006/main" prst="line">
            <a:avLst/>
          </a:prstGeom>
          <a:noFill xmlns:a="http://schemas.openxmlformats.org/drawingml/2006/main"/>
          <a:ln xmlns:a="http://schemas.openxmlformats.org/drawingml/2006/main" w="9525">
            <a:solidFill>
              <a:srgbClr val="DDE2E7"/>
            </a:solidFill>
            <a:prstDash val="solid"/>
          </a:ln>
        </p:spPr>
      </p:sp>
      <p:sp>
        <p:nvSpPr>
          <p:cNvPr id="16" name="Text 14">
            <a:extLst xmlns:a="http://schemas.openxmlformats.org/drawingml/2006/main">
              <a:ext uri="{FF2B5EF4-FFF2-40B4-BE49-F238E27FC236}">
                <a16:creationId xmlns:a16="http://schemas.microsoft.com/office/drawing/2014/main" id="{07571BB9-A028-475A-802E-E7198FF19256}"/>
              </a:ext>
            </a:extLst>
          </p:cNvPr>
          <p:cNvSpPr>
            <a:spLocks xmlns:a="http://schemas.openxmlformats.org/drawingml/2006/main" noGrp="1"/>
          </p:cNvSpPr>
          <p:nvPr/>
        </p:nvSpPr>
        <p:spPr>
          <a:xfrm xmlns:a="http://schemas.openxmlformats.org/drawingml/2006/main">
            <a:off x="640080" y="4709160"/>
            <a:ext cx="5303520" cy="12801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300">
                <a:solidFill>
                  <a:schemeClr val="accent5"/>
                </a:solidFill>
                <a:latin typeface="Arial"/>
                <a:ea typeface="Arial"/>
                <a:cs typeface="Arial"/>
              </a:rPr>
              <a:t>Trading needs a signed risk disclosure, a 1.5-second hold and a 5-second undo window. Tokens are hashed, bound to the exact order, single use and expire in five minutes. A kill switch caps every session at T1. Personal data is masked before any model call.</a:t>
            </a:r>
            <a:endParaRPr sz="1300"/>
          </a:p>
        </p:txBody>
      </p:sp>
      <p:sp>
        <p:nvSpPr>
          <p:cNvPr id="17" name="security-divider">
            <a:extLst xmlns:a="http://schemas.openxmlformats.org/drawingml/2006/main">
              <a:ext uri="{FF2B5EF4-FFF2-40B4-BE49-F238E27FC236}">
                <a16:creationId xmlns:a16="http://schemas.microsoft.com/office/drawing/2014/main" id="{AEC13B91-977C-4D46-98C4-7E48805CCDE3}"/>
              </a:ext>
            </a:extLst>
          </p:cNvPr>
          <p:cNvSpPr>
            <a:spLocks xmlns:a="http://schemas.openxmlformats.org/drawingml/2006/main" noGrp="1"/>
          </p:cNvSpPr>
          <p:nvPr/>
        </p:nvSpPr>
        <p:spPr>
          <a:xfrm xmlns:a="http://schemas.openxmlformats.org/drawingml/2006/main">
            <a:off x="6355080" y="1417320"/>
            <a:ext cx="0" cy="4572000"/>
          </a:xfrm>
          <a:prstGeom xmlns:a="http://schemas.openxmlformats.org/drawingml/2006/main" prst="line">
            <a:avLst/>
          </a:prstGeom>
          <a:noFill xmlns:a="http://schemas.openxmlformats.org/drawingml/2006/main"/>
          <a:ln xmlns:a="http://schemas.openxmlformats.org/drawingml/2006/main" w="9525">
            <a:solidFill>
              <a:srgbClr val="DDE2E7"/>
            </a:solidFill>
            <a:prstDash val="solid"/>
          </a:ln>
        </p:spPr>
      </p:sp>
      <p:sp>
        <p:nvSpPr>
          <p:cNvPr id="18" name="Text 16">
            <a:extLst xmlns:a="http://schemas.openxmlformats.org/drawingml/2006/main">
              <a:ext uri="{FF2B5EF4-FFF2-40B4-BE49-F238E27FC236}">
                <a16:creationId xmlns:a16="http://schemas.microsoft.com/office/drawing/2014/main" id="{6A658C6A-6F5E-4572-80C2-9A853289CFA9}"/>
              </a:ext>
            </a:extLst>
          </p:cNvPr>
          <p:cNvSpPr>
            <a:spLocks xmlns:a="http://schemas.openxmlformats.org/drawingml/2006/main" noGrp="1"/>
          </p:cNvSpPr>
          <p:nvPr/>
        </p:nvSpPr>
        <p:spPr>
          <a:xfrm xmlns:a="http://schemas.openxmlformats.org/drawingml/2006/main">
            <a:off x="6675120" y="1325880"/>
            <a:ext cx="4876495" cy="10058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6400" b="1">
                <a:solidFill>
                  <a:schemeClr val="accent1"/>
                </a:solidFill>
                <a:latin typeface="Arial"/>
                <a:ea typeface="Arial"/>
                <a:cs typeface="Arial"/>
              </a:rPr>
              <a:t>57 / 57</a:t>
            </a:r>
            <a:endParaRPr sz="6400"/>
          </a:p>
        </p:txBody>
      </p:sp>
      <p:sp>
        <p:nvSpPr>
          <p:cNvPr id="19" name="Text 17">
            <a:extLst xmlns:a="http://schemas.openxmlformats.org/drawingml/2006/main">
              <a:ext uri="{FF2B5EF4-FFF2-40B4-BE49-F238E27FC236}">
                <a16:creationId xmlns:a16="http://schemas.microsoft.com/office/drawing/2014/main" id="{EFB197EB-0CF6-4529-A3D6-7CFB28B90869}"/>
              </a:ext>
            </a:extLst>
          </p:cNvPr>
          <p:cNvSpPr>
            <a:spLocks xmlns:a="http://schemas.openxmlformats.org/drawingml/2006/main" noGrp="1"/>
          </p:cNvSpPr>
          <p:nvPr/>
        </p:nvSpPr>
        <p:spPr>
          <a:xfrm xmlns:a="http://schemas.openxmlformats.org/drawingml/2006/main">
            <a:off x="6675120" y="2377440"/>
            <a:ext cx="4876495" cy="5486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500">
                <a:solidFill>
                  <a:schemeClr val="tx1"/>
                </a:solidFill>
                <a:latin typeface="Arial"/>
                <a:ea typeface="Arial"/>
                <a:cs typeface="Arial"/>
              </a:rPr>
              <a:t>red-team attacks stopped, and 8 / 8 harmless requests still answered normally</a:t>
            </a:r>
            <a:endParaRPr sz="1500"/>
          </a:p>
        </p:txBody>
      </p:sp>
      <p:sp>
        <p:nvSpPr>
          <p:cNvPr id="20" name="Text 18">
            <a:extLst xmlns:a="http://schemas.openxmlformats.org/drawingml/2006/main">
              <a:ext uri="{FF2B5EF4-FFF2-40B4-BE49-F238E27FC236}">
                <a16:creationId xmlns:a16="http://schemas.microsoft.com/office/drawing/2014/main" id="{D2683414-D80E-48A5-B0B2-B45A9B00489D}"/>
              </a:ext>
            </a:extLst>
          </p:cNvPr>
          <p:cNvSpPr>
            <a:spLocks xmlns:a="http://schemas.openxmlformats.org/drawingml/2006/main" noGrp="1"/>
          </p:cNvSpPr>
          <p:nvPr/>
        </p:nvSpPr>
        <p:spPr>
          <a:xfrm xmlns:a="http://schemas.openxmlformats.org/drawingml/2006/main">
            <a:off x="6675120" y="3108960"/>
            <a:ext cx="4876495" cy="292608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342900" indent="-342900">
              <a:spcAft>
                <a:spcPts val="300"/>
              </a:spcAft>
              <a:buSzPct val="100000"/>
              <a:buChar char="•"/>
            </a:pPr>
            <a:r>
              <a:rPr sz="1250">
                <a:solidFill>
                  <a:schemeClr val="accent5"/>
                </a:solidFill>
                <a:latin typeface="Arial"/>
                <a:ea typeface="Arial"/>
                <a:cs typeface="Arial"/>
              </a:rPr>
              <a:t>Prompt injection (10)</a:t>
            </a:r>
            <a:endParaRPr sz="1250"/>
          </a:p>
          <a:p xmlns:a="http://schemas.openxmlformats.org/drawingml/2006/main">
            <a:pPr marL="342900" indent="-342900">
              <a:spcAft>
                <a:spcPts val="300"/>
              </a:spcAft>
              <a:buSzPct val="100000"/>
              <a:buChar char="•"/>
            </a:pPr>
            <a:r>
              <a:rPr sz="1250">
                <a:solidFill>
                  <a:schemeClr val="accent5"/>
                </a:solidFill>
                <a:latin typeface="Arial"/>
                <a:ea typeface="Arial"/>
                <a:cs typeface="Arial"/>
              </a:rPr>
              <a:t>Injection in Chinese, Russian, Uzbek, Spanish (5)</a:t>
            </a:r>
            <a:endParaRPr sz="1250"/>
          </a:p>
          <a:p xmlns:a="http://schemas.openxmlformats.org/drawingml/2006/main">
            <a:pPr marL="342900" indent="-342900">
              <a:spcAft>
                <a:spcPts val="300"/>
              </a:spcAft>
              <a:buSzPct val="100000"/>
              <a:buChar char="•"/>
            </a:pPr>
            <a:r>
              <a:rPr sz="1250">
                <a:solidFill>
                  <a:schemeClr val="accent5"/>
                </a:solidFill>
                <a:latin typeface="Arial"/>
                <a:ea typeface="Arial"/>
                <a:cs typeface="Arial"/>
              </a:rPr>
              <a:t>Obfuscated: base64, leetspeak, acrostic (4)</a:t>
            </a:r>
            <a:endParaRPr sz="1250"/>
          </a:p>
          <a:p xmlns:a="http://schemas.openxmlformats.org/drawingml/2006/main">
            <a:pPr marL="342900" indent="-342900">
              <a:spcAft>
                <a:spcPts val="300"/>
              </a:spcAft>
              <a:buSzPct val="100000"/>
              <a:buChar char="•"/>
            </a:pPr>
            <a:r>
              <a:rPr sz="1250">
                <a:solidFill>
                  <a:schemeClr val="accent5"/>
                </a:solidFill>
                <a:latin typeface="Arial"/>
                <a:ea typeface="Arial"/>
                <a:cs typeface="Arial"/>
              </a:rPr>
              <a:t>Role-play jailbreaks (3)</a:t>
            </a:r>
            <a:endParaRPr sz="1250"/>
          </a:p>
          <a:p xmlns:a="http://schemas.openxmlformats.org/drawingml/2006/main">
            <a:pPr marL="342900" indent="-342900">
              <a:spcAft>
                <a:spcPts val="300"/>
              </a:spcAft>
              <a:buSzPct val="100000"/>
              <a:buChar char="•"/>
            </a:pPr>
            <a:r>
              <a:rPr sz="1250">
                <a:solidFill>
                  <a:schemeClr val="accent5"/>
                </a:solidFill>
                <a:latin typeface="Arial"/>
                <a:ea typeface="Arial"/>
                <a:cs typeface="Arial"/>
              </a:rPr>
              <a:t>Injection hidden in fund data (5)</a:t>
            </a:r>
            <a:endParaRPr sz="1250"/>
          </a:p>
          <a:p xmlns:a="http://schemas.openxmlformats.org/drawingml/2006/main">
            <a:pPr marL="342900" indent="-342900">
              <a:spcAft>
                <a:spcPts val="300"/>
              </a:spcAft>
              <a:buSzPct val="100000"/>
              <a:buChar char="•"/>
            </a:pPr>
            <a:r>
              <a:rPr sz="1250">
                <a:solidFill>
                  <a:schemeClr val="accent5"/>
                </a:solidFill>
                <a:latin typeface="Arial"/>
                <a:ea typeface="Arial"/>
                <a:cs typeface="Arial"/>
              </a:rPr>
              <a:t>Personal data leaks (10)</a:t>
            </a:r>
            <a:endParaRPr sz="1250"/>
          </a:p>
          <a:p xmlns:a="http://schemas.openxmlformats.org/drawingml/2006/main">
            <a:pPr marL="342900" indent="-342900">
              <a:spcAft>
                <a:spcPts val="300"/>
              </a:spcAft>
              <a:buSzPct val="100000"/>
              <a:buChar char="•"/>
            </a:pPr>
            <a:r>
              <a:rPr sz="1250">
                <a:solidFill>
                  <a:schemeClr val="accent5"/>
                </a:solidFill>
                <a:latin typeface="Arial"/>
                <a:ea typeface="Arial"/>
                <a:cs typeface="Arial"/>
              </a:rPr>
              <a:t>Unsafe claims and invented numbers (6)</a:t>
            </a:r>
            <a:endParaRPr sz="1250"/>
          </a:p>
          <a:p xmlns:a="http://schemas.openxmlformats.org/drawingml/2006/main">
            <a:pPr marL="342900" indent="-342900">
              <a:spcAft>
                <a:spcPts val="300"/>
              </a:spcAft>
              <a:buSzPct val="100000"/>
              <a:buChar char="•"/>
            </a:pPr>
            <a:r>
              <a:rPr sz="1250">
                <a:solidFill>
                  <a:schemeClr val="accent5"/>
                </a:solidFill>
                <a:latin typeface="Arial"/>
                <a:ea typeface="Arial"/>
                <a:cs typeface="Arial"/>
              </a:rPr>
              <a:t>Suitability bypass (4)</a:t>
            </a:r>
            <a:endParaRPr sz="1250"/>
          </a:p>
          <a:p xmlns:a="http://schemas.openxmlformats.org/drawingml/2006/main">
            <a:pPr marL="342900" indent="-342900">
              <a:spcAft>
                <a:spcPts val="300"/>
              </a:spcAft>
              <a:buSzPct val="100000"/>
              <a:buChar char="•"/>
            </a:pPr>
            <a:r>
              <a:rPr sz="1250">
                <a:solidFill>
                  <a:schemeClr val="accent5"/>
                </a:solidFill>
                <a:latin typeface="Arial"/>
                <a:ea typeface="Arial"/>
                <a:cs typeface="Arial"/>
              </a:rPr>
              <a:t>Execution without consent (6)</a:t>
            </a:r>
            <a:endParaRPr sz="1250"/>
          </a:p>
          <a:p xmlns:a="http://schemas.openxmlformats.org/drawingml/2006/main">
            <a:pPr marL="342900" indent="-342900">
              <a:spcAft>
                <a:spcPts val="300"/>
              </a:spcAft>
              <a:buSzPct val="100000"/>
              <a:buChar char="•"/>
            </a:pPr>
            <a:r>
              <a:rPr sz="1250">
                <a:solidFill>
                  <a:schemeClr val="accent5"/>
                </a:solidFill>
                <a:latin typeface="Arial"/>
                <a:ea typeface="Arial"/>
                <a:cs typeface="Arial"/>
              </a:rPr>
              <a:t>Audit tampering and abuse (4)</a:t>
            </a:r>
            <a:endParaRPr sz="1250"/>
          </a:p>
        </p:txBody>
      </p:sp>
      <p:sp>
        <p:nvSpPr>
          <p:cNvPr id="25" name="Slide Number Placeholder 0">
            <a:extLst xmlns:a="http://schemas.openxmlformats.org/drawingml/2006/main">
              <a:ext uri="{FF2B5EF4-FFF2-40B4-BE49-F238E27FC236}">
                <a16:creationId xmlns:a16="http://schemas.microsoft.com/office/drawing/2014/main" id="{70E0406B-B9D9-4357-82EB-3001C1F17ED5}"/>
              </a:ext>
            </a:extLst>
          </p:cNvPr>
          <p:cNvSpPr>
            <a:spLocks xmlns:a="http://schemas.openxmlformats.org/drawingml/2006/main" noGrp="1"/>
          </p:cNvSpPr>
          <p:nvPr>
            <p:ph type="sldNum" idx="4294967295"/>
          </p:nvPr>
        </p:nvSpPr>
        <p:spPr>
          <a:xfrm xmlns:a="http://schemas.openxmlformats.org/drawingml/2006/main">
            <a:off x="11002975" y="6419088"/>
            <a:ext cx="548640" cy="256032"/>
          </a:xfrm>
          <a:prstGeom xmlns:a="http://schemas.openxmlformats.org/drawingml/2006/main" prst="rect">
            <a:avLst/>
          </a:prstGeom>
        </p:spPr>
        <p:txBody>
          <a:bodyPr xmlns:a="http://schemas.openxmlformats.org/drawingml/2006/main"/>
          <a:lstStyle xmlns:a="http://schemas.openxmlformats.org/drawingml/2006/main">
            <a:lvl1pPr>
              <a:buNone/>
              <a:defRPr sz="950">
                <a:solidFill>
                  <a:schemeClr val="accent5"/>
                </a:solidFill>
              </a:defRPr>
            </a:lvl1pPr>
          </a:lstStyle>
          <a:p xmlns:a="http://schemas.openxmlformats.org/drawingml/2006/main">
            <a:pPr algn="r">
              <a:buNone/>
            </a:pPr>
            <a:fld id="{F7021451-1387-4CA6-816F-3879F97B5CBC}" type="slidenum">
              <a:rPr b="0"/>
              <a:t>8</a:t>
            </a:fld>
            <a:endParaRPr/>
          </a:p>
        </p:txBody>
      </p:sp>
    </p:spTree>
    <p:extLst>
      <p:ext uri="{BB962C8B-B14F-4D97-AF65-F5344CB8AC3E}">
        <p14:creationId xmlns:p14="http://schemas.microsoft.com/office/powerpoint/2010/main" val="237484692"/>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2" name="Text 2">
            <a:extLst xmlns:a="http://schemas.openxmlformats.org/drawingml/2006/main">
              <a:ext uri="{FF2B5EF4-FFF2-40B4-BE49-F238E27FC236}">
                <a16:creationId xmlns:a16="http://schemas.microsoft.com/office/drawing/2014/main" id="{FECBEC92-B472-4BA6-ABA1-0ABDA796EFA2}"/>
              </a:ext>
            </a:extLst>
          </p:cNvPr>
          <p:cNvSpPr>
            <a:spLocks xmlns:a="http://schemas.openxmlformats.org/drawingml/2006/main" noGrp="1"/>
          </p:cNvSpPr>
          <p:nvPr>
            <p:ph type="title" idx="102" hasCustomPrompt="1"/>
          </p:nvPr>
        </p:nvSpPr>
        <p:spPr>
          <a:xfrm xmlns:a="http://schemas.openxmlformats.org/drawingml/2006/main">
            <a:off x="640080" y="457200"/>
            <a:ext cx="10911535" cy="7315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buNone/>
            </a:pPr>
            <a:r>
              <a:rPr sz="3000" b="1">
                <a:solidFill>
                  <a:schemeClr val="tx1"/>
                </a:solidFill>
                <a:latin typeface="Arial"/>
                <a:ea typeface="Arial"/>
                <a:cs typeface="Arial"/>
              </a:rPr>
              <a:t>Measured, not claimed</a:t>
            </a:r>
            <a:endParaRPr sz="3000"/>
          </a:p>
        </p:txBody>
      </p:sp>
      <p:sp>
        <p:nvSpPr>
          <p:cNvPr id="3" name="stats-top">
            <a:extLst xmlns:a="http://schemas.openxmlformats.org/drawingml/2006/main">
              <a:ext uri="{FF2B5EF4-FFF2-40B4-BE49-F238E27FC236}">
                <a16:creationId xmlns:a16="http://schemas.microsoft.com/office/drawing/2014/main" id="{1ACB0D4D-C800-4775-A8CE-51FBE47A785C}"/>
              </a:ext>
            </a:extLst>
          </p:cNvPr>
          <p:cNvSpPr>
            <a:spLocks xmlns:a="http://schemas.openxmlformats.org/drawingml/2006/main" noGrp="1"/>
          </p:cNvSpPr>
          <p:nvPr/>
        </p:nvSpPr>
        <p:spPr>
          <a:xfrm xmlns:a="http://schemas.openxmlformats.org/drawingml/2006/main">
            <a:off x="640080" y="1417320"/>
            <a:ext cx="10911535" cy="0"/>
          </a:xfrm>
          <a:prstGeom xmlns:a="http://schemas.openxmlformats.org/drawingml/2006/main" prst="line">
            <a:avLst/>
          </a:prstGeom>
          <a:noFill xmlns:a="http://schemas.openxmlformats.org/drawingml/2006/main"/>
          <a:ln xmlns:a="http://schemas.openxmlformats.org/drawingml/2006/main" w="9525">
            <a:solidFill>
              <a:srgbClr val="C5CDD5"/>
            </a:solidFill>
            <a:prstDash val="solid"/>
          </a:ln>
        </p:spPr>
      </p:sp>
      <p:sp>
        <p:nvSpPr>
          <p:cNvPr id="4" name="Text 2">
            <a:extLst xmlns:a="http://schemas.openxmlformats.org/drawingml/2006/main">
              <a:ext uri="{FF2B5EF4-FFF2-40B4-BE49-F238E27FC236}">
                <a16:creationId xmlns:a16="http://schemas.microsoft.com/office/drawing/2014/main" id="{2BC84826-2E00-48AD-8732-06F3419986B7}"/>
              </a:ext>
            </a:extLst>
          </p:cNvPr>
          <p:cNvSpPr>
            <a:spLocks xmlns:a="http://schemas.openxmlformats.org/drawingml/2006/main" noGrp="1"/>
          </p:cNvSpPr>
          <p:nvPr/>
        </p:nvSpPr>
        <p:spPr>
          <a:xfrm xmlns:a="http://schemas.openxmlformats.org/drawingml/2006/main">
            <a:off x="640080" y="1600200"/>
            <a:ext cx="2270684" cy="8229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4000" b="1">
                <a:solidFill>
                  <a:schemeClr val="accent1"/>
                </a:solidFill>
                <a:latin typeface="Arial"/>
                <a:ea typeface="Arial"/>
                <a:cs typeface="Arial"/>
              </a:rPr>
              <a:t>30 / 30</a:t>
            </a:r>
            <a:endParaRPr sz="4000"/>
          </a:p>
        </p:txBody>
      </p:sp>
      <p:sp>
        <p:nvSpPr>
          <p:cNvPr id="5" name="Text 3">
            <a:extLst xmlns:a="http://schemas.openxmlformats.org/drawingml/2006/main">
              <a:ext uri="{FF2B5EF4-FFF2-40B4-BE49-F238E27FC236}">
                <a16:creationId xmlns:a16="http://schemas.microsoft.com/office/drawing/2014/main" id="{BB73B57D-98CF-4A76-BAAB-2AE427F4E104}"/>
              </a:ext>
            </a:extLst>
          </p:cNvPr>
          <p:cNvSpPr>
            <a:spLocks xmlns:a="http://schemas.openxmlformats.org/drawingml/2006/main" noGrp="1"/>
          </p:cNvSpPr>
          <p:nvPr/>
        </p:nvSpPr>
        <p:spPr>
          <a:xfrm xmlns:a="http://schemas.openxmlformats.org/drawingml/2006/main">
            <a:off x="640080" y="2468880"/>
            <a:ext cx="2224964" cy="11887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50">
                <a:solidFill>
                  <a:schemeClr val="accent5"/>
                </a:solidFill>
                <a:latin typeface="Arial"/>
                <a:ea typeface="Arial"/>
                <a:cs typeface="Arial"/>
              </a:rPr>
              <a:t>client journeys completed end to end on a live model: 30 scripted clients across C1 to C5, one in five in Chinese</a:t>
            </a:r>
            <a:endParaRPr sz="1250"/>
          </a:p>
        </p:txBody>
      </p:sp>
      <p:sp>
        <p:nvSpPr>
          <p:cNvPr id="6" name="stat-divider-1">
            <a:extLst xmlns:a="http://schemas.openxmlformats.org/drawingml/2006/main">
              <a:ext uri="{FF2B5EF4-FFF2-40B4-BE49-F238E27FC236}">
                <a16:creationId xmlns:a16="http://schemas.microsoft.com/office/drawing/2014/main" id="{34029D68-97B1-4425-8FBF-D310C58C7F35}"/>
              </a:ext>
            </a:extLst>
          </p:cNvPr>
          <p:cNvSpPr>
            <a:spLocks xmlns:a="http://schemas.openxmlformats.org/drawingml/2006/main" noGrp="1"/>
          </p:cNvSpPr>
          <p:nvPr/>
        </p:nvSpPr>
        <p:spPr>
          <a:xfrm xmlns:a="http://schemas.openxmlformats.org/drawingml/2006/main">
            <a:off x="3367964" y="1417320"/>
            <a:ext cx="0" cy="2331720"/>
          </a:xfrm>
          <a:prstGeom xmlns:a="http://schemas.openxmlformats.org/drawingml/2006/main" prst="line">
            <a:avLst/>
          </a:prstGeom>
          <a:noFill xmlns:a="http://schemas.openxmlformats.org/drawingml/2006/main"/>
          <a:ln xmlns:a="http://schemas.openxmlformats.org/drawingml/2006/main" w="9525">
            <a:solidFill>
              <a:srgbClr val="DDE2E7"/>
            </a:solidFill>
            <a:prstDash val="solid"/>
          </a:ln>
        </p:spPr>
      </p:sp>
      <p:sp>
        <p:nvSpPr>
          <p:cNvPr id="7" name="Text 5">
            <a:extLst xmlns:a="http://schemas.openxmlformats.org/drawingml/2006/main">
              <a:ext uri="{FF2B5EF4-FFF2-40B4-BE49-F238E27FC236}">
                <a16:creationId xmlns:a16="http://schemas.microsoft.com/office/drawing/2014/main" id="{68BC268B-1F74-4711-AB23-183D5A8504D3}"/>
              </a:ext>
            </a:extLst>
          </p:cNvPr>
          <p:cNvSpPr>
            <a:spLocks xmlns:a="http://schemas.openxmlformats.org/drawingml/2006/main" noGrp="1"/>
          </p:cNvSpPr>
          <p:nvPr/>
        </p:nvSpPr>
        <p:spPr>
          <a:xfrm xmlns:a="http://schemas.openxmlformats.org/drawingml/2006/main">
            <a:off x="3642284" y="1600200"/>
            <a:ext cx="2270684" cy="8229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4000" b="1">
                <a:solidFill>
                  <a:schemeClr val="accent1"/>
                </a:solidFill>
                <a:latin typeface="Arial"/>
                <a:ea typeface="Arial"/>
                <a:cs typeface="Arial"/>
              </a:rPr>
              <a:t>57 / 57</a:t>
            </a:r>
            <a:endParaRPr sz="4000"/>
          </a:p>
        </p:txBody>
      </p:sp>
      <p:sp>
        <p:nvSpPr>
          <p:cNvPr id="8" name="Text 6">
            <a:extLst xmlns:a="http://schemas.openxmlformats.org/drawingml/2006/main">
              <a:ext uri="{FF2B5EF4-FFF2-40B4-BE49-F238E27FC236}">
                <a16:creationId xmlns:a16="http://schemas.microsoft.com/office/drawing/2014/main" id="{891A36D4-D94F-446F-A0F0-579CA74FEB42}"/>
              </a:ext>
            </a:extLst>
          </p:cNvPr>
          <p:cNvSpPr>
            <a:spLocks xmlns:a="http://schemas.openxmlformats.org/drawingml/2006/main" noGrp="1"/>
          </p:cNvSpPr>
          <p:nvPr/>
        </p:nvSpPr>
        <p:spPr>
          <a:xfrm xmlns:a="http://schemas.openxmlformats.org/drawingml/2006/main">
            <a:off x="3642284" y="2468880"/>
            <a:ext cx="2224964" cy="11887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50">
                <a:solidFill>
                  <a:schemeClr val="accent5"/>
                </a:solidFill>
                <a:latin typeface="Arial"/>
                <a:ea typeface="Arial"/>
                <a:cs typeface="Arial"/>
              </a:rPr>
              <a:t>red-team attacks stopped across 12 categories, with no harmless request refused</a:t>
            </a:r>
            <a:endParaRPr sz="1250"/>
          </a:p>
        </p:txBody>
      </p:sp>
      <p:sp>
        <p:nvSpPr>
          <p:cNvPr id="9" name="stat-divider-2">
            <a:extLst xmlns:a="http://schemas.openxmlformats.org/drawingml/2006/main">
              <a:ext uri="{FF2B5EF4-FFF2-40B4-BE49-F238E27FC236}">
                <a16:creationId xmlns:a16="http://schemas.microsoft.com/office/drawing/2014/main" id="{D7663C27-05E1-42CD-AAF9-4DE04E2AC0C5}"/>
              </a:ext>
            </a:extLst>
          </p:cNvPr>
          <p:cNvSpPr>
            <a:spLocks xmlns:a="http://schemas.openxmlformats.org/drawingml/2006/main" noGrp="1"/>
          </p:cNvSpPr>
          <p:nvPr/>
        </p:nvSpPr>
        <p:spPr>
          <a:xfrm xmlns:a="http://schemas.openxmlformats.org/drawingml/2006/main">
            <a:off x="6095848" y="1417320"/>
            <a:ext cx="0" cy="2331720"/>
          </a:xfrm>
          <a:prstGeom xmlns:a="http://schemas.openxmlformats.org/drawingml/2006/main" prst="line">
            <a:avLst/>
          </a:prstGeom>
          <a:noFill xmlns:a="http://schemas.openxmlformats.org/drawingml/2006/main"/>
          <a:ln xmlns:a="http://schemas.openxmlformats.org/drawingml/2006/main" w="9525">
            <a:solidFill>
              <a:srgbClr val="DDE2E7"/>
            </a:solidFill>
            <a:prstDash val="solid"/>
          </a:ln>
        </p:spPr>
      </p:sp>
      <p:sp>
        <p:nvSpPr>
          <p:cNvPr id="10" name="Text 8">
            <a:extLst xmlns:a="http://schemas.openxmlformats.org/drawingml/2006/main">
              <a:ext uri="{FF2B5EF4-FFF2-40B4-BE49-F238E27FC236}">
                <a16:creationId xmlns:a16="http://schemas.microsoft.com/office/drawing/2014/main" id="{89836D2B-308B-4582-88F9-9DD950375460}"/>
              </a:ext>
            </a:extLst>
          </p:cNvPr>
          <p:cNvSpPr>
            <a:spLocks xmlns:a="http://schemas.openxmlformats.org/drawingml/2006/main" noGrp="1"/>
          </p:cNvSpPr>
          <p:nvPr/>
        </p:nvSpPr>
        <p:spPr>
          <a:xfrm xmlns:a="http://schemas.openxmlformats.org/drawingml/2006/main">
            <a:off x="6370168" y="1600200"/>
            <a:ext cx="2270684" cy="8229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4000" b="1">
                <a:solidFill>
                  <a:schemeClr val="accent1"/>
                </a:solidFill>
                <a:latin typeface="Arial"/>
                <a:ea typeface="Arial"/>
                <a:cs typeface="Arial"/>
              </a:rPr>
              <a:t>156</a:t>
            </a:r>
            <a:endParaRPr sz="4000"/>
          </a:p>
        </p:txBody>
      </p:sp>
      <p:sp>
        <p:nvSpPr>
          <p:cNvPr id="11" name="Text 9">
            <a:extLst xmlns:a="http://schemas.openxmlformats.org/drawingml/2006/main">
              <a:ext uri="{FF2B5EF4-FFF2-40B4-BE49-F238E27FC236}">
                <a16:creationId xmlns:a16="http://schemas.microsoft.com/office/drawing/2014/main" id="{CBA0384A-B086-4365-847E-034A6F53592D}"/>
              </a:ext>
            </a:extLst>
          </p:cNvPr>
          <p:cNvSpPr>
            <a:spLocks xmlns:a="http://schemas.openxmlformats.org/drawingml/2006/main" noGrp="1"/>
          </p:cNvSpPr>
          <p:nvPr/>
        </p:nvSpPr>
        <p:spPr>
          <a:xfrm xmlns:a="http://schemas.openxmlformats.org/drawingml/2006/main">
            <a:off x="6370168" y="2468880"/>
            <a:ext cx="2224964" cy="11887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50">
                <a:solidFill>
                  <a:schemeClr val="accent5"/>
                </a:solidFill>
                <a:latin typeface="Arial"/>
                <a:ea typeface="Arial"/>
                <a:cs typeface="Arial"/>
              </a:rPr>
              <a:t>automated tests, run offline in CI; a FISCO BCOS round trip runs when the chain is up</a:t>
            </a:r>
            <a:endParaRPr sz="1250"/>
          </a:p>
        </p:txBody>
      </p:sp>
      <p:sp>
        <p:nvSpPr>
          <p:cNvPr id="12" name="stat-divider-3">
            <a:extLst xmlns:a="http://schemas.openxmlformats.org/drawingml/2006/main">
              <a:ext uri="{FF2B5EF4-FFF2-40B4-BE49-F238E27FC236}">
                <a16:creationId xmlns:a16="http://schemas.microsoft.com/office/drawing/2014/main" id="{FF87BDBE-484D-4D2C-BC95-D8DAB12B8E45}"/>
              </a:ext>
            </a:extLst>
          </p:cNvPr>
          <p:cNvSpPr>
            <a:spLocks xmlns:a="http://schemas.openxmlformats.org/drawingml/2006/main" noGrp="1"/>
          </p:cNvSpPr>
          <p:nvPr/>
        </p:nvSpPr>
        <p:spPr>
          <a:xfrm xmlns:a="http://schemas.openxmlformats.org/drawingml/2006/main">
            <a:off x="8823731" y="1417320"/>
            <a:ext cx="0" cy="2331720"/>
          </a:xfrm>
          <a:prstGeom xmlns:a="http://schemas.openxmlformats.org/drawingml/2006/main" prst="line">
            <a:avLst/>
          </a:prstGeom>
          <a:noFill xmlns:a="http://schemas.openxmlformats.org/drawingml/2006/main"/>
          <a:ln xmlns:a="http://schemas.openxmlformats.org/drawingml/2006/main" w="9525">
            <a:solidFill>
              <a:srgbClr val="DDE2E7"/>
            </a:solidFill>
            <a:prstDash val="solid"/>
          </a:ln>
        </p:spPr>
      </p:sp>
      <p:sp>
        <p:nvSpPr>
          <p:cNvPr id="13" name="Text 11">
            <a:extLst xmlns:a="http://schemas.openxmlformats.org/drawingml/2006/main">
              <a:ext uri="{FF2B5EF4-FFF2-40B4-BE49-F238E27FC236}">
                <a16:creationId xmlns:a16="http://schemas.microsoft.com/office/drawing/2014/main" id="{A4C3DBF7-9E1F-4F9C-80F2-0FBAB1688ACF}"/>
              </a:ext>
            </a:extLst>
          </p:cNvPr>
          <p:cNvSpPr>
            <a:spLocks xmlns:a="http://schemas.openxmlformats.org/drawingml/2006/main" noGrp="1"/>
          </p:cNvSpPr>
          <p:nvPr/>
        </p:nvSpPr>
        <p:spPr>
          <a:xfrm xmlns:a="http://schemas.openxmlformats.org/drawingml/2006/main">
            <a:off x="9098051" y="1600200"/>
            <a:ext cx="2270684" cy="8229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4000" b="1">
                <a:solidFill>
                  <a:schemeClr val="accent1"/>
                </a:solidFill>
                <a:latin typeface="Arial"/>
                <a:ea typeface="Arial"/>
                <a:cs typeface="Arial"/>
              </a:rPr>
              <a:t>5 / 5</a:t>
            </a:r>
            <a:endParaRPr sz="4000"/>
          </a:p>
        </p:txBody>
      </p:sp>
      <p:sp>
        <p:nvSpPr>
          <p:cNvPr id="14" name="Text 12">
            <a:extLst xmlns:a="http://schemas.openxmlformats.org/drawingml/2006/main">
              <a:ext uri="{FF2B5EF4-FFF2-40B4-BE49-F238E27FC236}">
                <a16:creationId xmlns:a16="http://schemas.microsoft.com/office/drawing/2014/main" id="{69A63998-F1EF-4007-8569-2281CDC8C111}"/>
              </a:ext>
            </a:extLst>
          </p:cNvPr>
          <p:cNvSpPr>
            <a:spLocks xmlns:a="http://schemas.openxmlformats.org/drawingml/2006/main" noGrp="1"/>
          </p:cNvSpPr>
          <p:nvPr/>
        </p:nvSpPr>
        <p:spPr>
          <a:xfrm xmlns:a="http://schemas.openxmlformats.org/drawingml/2006/main">
            <a:off x="9098051" y="2468880"/>
            <a:ext cx="2224964" cy="11887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250">
                <a:solidFill>
                  <a:schemeClr val="accent5"/>
                </a:solidFill>
                <a:latin typeface="Arial"/>
                <a:ea typeface="Arial"/>
                <a:cs typeface="Arial"/>
              </a:rPr>
              <a:t>risk classes stayed inside their volatility band from 2008 to 2026</a:t>
            </a:r>
            <a:endParaRPr sz="1250"/>
          </a:p>
        </p:txBody>
      </p:sp>
      <p:sp>
        <p:nvSpPr>
          <p:cNvPr id="15" name="stats-bottom">
            <a:extLst xmlns:a="http://schemas.openxmlformats.org/drawingml/2006/main">
              <a:ext uri="{FF2B5EF4-FFF2-40B4-BE49-F238E27FC236}">
                <a16:creationId xmlns:a16="http://schemas.microsoft.com/office/drawing/2014/main" id="{1164ED32-E8F8-4361-AC4F-DDE1E9B2E9EE}"/>
              </a:ext>
            </a:extLst>
          </p:cNvPr>
          <p:cNvSpPr>
            <a:spLocks xmlns:a="http://schemas.openxmlformats.org/drawingml/2006/main" noGrp="1"/>
          </p:cNvSpPr>
          <p:nvPr/>
        </p:nvSpPr>
        <p:spPr>
          <a:xfrm xmlns:a="http://schemas.openxmlformats.org/drawingml/2006/main">
            <a:off x="640080" y="3749040"/>
            <a:ext cx="10911535" cy="0"/>
          </a:xfrm>
          <a:prstGeom xmlns:a="http://schemas.openxmlformats.org/drawingml/2006/main" prst="line">
            <a:avLst/>
          </a:prstGeom>
          <a:noFill xmlns:a="http://schemas.openxmlformats.org/drawingml/2006/main"/>
          <a:ln xmlns:a="http://schemas.openxmlformats.org/drawingml/2006/main" w="9525">
            <a:solidFill>
              <a:srgbClr val="DDE2E7"/>
            </a:solidFill>
            <a:prstDash val="solid"/>
          </a:ln>
        </p:spPr>
      </p:sp>
      <p:sp>
        <p:nvSpPr>
          <p:cNvPr id="16" name="Text 14">
            <a:extLst xmlns:a="http://schemas.openxmlformats.org/drawingml/2006/main">
              <a:ext uri="{FF2B5EF4-FFF2-40B4-BE49-F238E27FC236}">
                <a16:creationId xmlns:a16="http://schemas.microsoft.com/office/drawing/2014/main" id="{B653F525-A75D-442D-8B88-8C3044265F56}"/>
              </a:ext>
            </a:extLst>
          </p:cNvPr>
          <p:cNvSpPr>
            <a:spLocks xmlns:a="http://schemas.openxmlformats.org/drawingml/2006/main" noGrp="1"/>
          </p:cNvSpPr>
          <p:nvPr/>
        </p:nvSpPr>
        <p:spPr>
          <a:xfrm xmlns:a="http://schemas.openxmlformats.org/drawingml/2006/main">
            <a:off x="640080" y="4069080"/>
            <a:ext cx="54864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500" b="1">
                <a:solidFill>
                  <a:schemeClr val="accent2"/>
                </a:solidFill>
                <a:latin typeface="Arial"/>
                <a:ea typeface="Arial"/>
                <a:cs typeface="Arial"/>
              </a:rPr>
              <a:t>What the backtest taught us</a:t>
            </a:r>
            <a:endParaRPr sz="1500"/>
          </a:p>
        </p:txBody>
      </p:sp>
      <p:sp>
        <p:nvSpPr>
          <p:cNvPr id="17" name="Text 15">
            <a:extLst xmlns:a="http://schemas.openxmlformats.org/drawingml/2006/main">
              <a:ext uri="{FF2B5EF4-FFF2-40B4-BE49-F238E27FC236}">
                <a16:creationId xmlns:a16="http://schemas.microsoft.com/office/drawing/2014/main" id="{E2BF7524-24D3-4954-B6AD-C0785CAB7FAE}"/>
              </a:ext>
            </a:extLst>
          </p:cNvPr>
          <p:cNvSpPr>
            <a:spLocks xmlns:a="http://schemas.openxmlformats.org/drawingml/2006/main" noGrp="1"/>
          </p:cNvSpPr>
          <p:nvPr/>
        </p:nvSpPr>
        <p:spPr>
          <a:xfrm xmlns:a="http://schemas.openxmlformats.org/drawingml/2006/main">
            <a:off x="640080" y="4480560"/>
            <a:ext cx="9997135" cy="11887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700">
                <a:solidFill>
                  <a:schemeClr val="tx1"/>
                </a:solidFill>
                <a:latin typeface="Arial"/>
                <a:ea typeface="Arial"/>
                <a:cs typeface="Arial"/>
              </a:rPr>
              <a:t>Every class kept its volatility target for 18 years, yet every class fell further than that number suggests: C5 lost 34% in 2008. A volatility figure does not tell a client what 2008 feels like. That is why Keel enforces the client's own loss limit and has them rehearse the crash.</a:t>
            </a:r>
            <a:endParaRPr sz="1700"/>
          </a:p>
        </p:txBody>
      </p:sp>
      <p:sp>
        <p:nvSpPr>
          <p:cNvPr id="25" name="Slide Number Placeholder 0">
            <a:extLst xmlns:a="http://schemas.openxmlformats.org/drawingml/2006/main">
              <a:ext uri="{FF2B5EF4-FFF2-40B4-BE49-F238E27FC236}">
                <a16:creationId xmlns:a16="http://schemas.microsoft.com/office/drawing/2014/main" id="{D19A1347-F4E8-4DB0-B466-105874D41656}"/>
              </a:ext>
            </a:extLst>
          </p:cNvPr>
          <p:cNvSpPr>
            <a:spLocks xmlns:a="http://schemas.openxmlformats.org/drawingml/2006/main" noGrp="1"/>
          </p:cNvSpPr>
          <p:nvPr>
            <p:ph type="sldNum" idx="4294967295"/>
          </p:nvPr>
        </p:nvSpPr>
        <p:spPr>
          <a:xfrm xmlns:a="http://schemas.openxmlformats.org/drawingml/2006/main">
            <a:off x="11002975" y="6419088"/>
            <a:ext cx="548640" cy="256032"/>
          </a:xfrm>
          <a:prstGeom xmlns:a="http://schemas.openxmlformats.org/drawingml/2006/main" prst="rect">
            <a:avLst/>
          </a:prstGeom>
        </p:spPr>
        <p:txBody>
          <a:bodyPr xmlns:a="http://schemas.openxmlformats.org/drawingml/2006/main"/>
          <a:lstStyle xmlns:a="http://schemas.openxmlformats.org/drawingml/2006/main">
            <a:lvl1pPr>
              <a:buNone/>
              <a:defRPr sz="950">
                <a:solidFill>
                  <a:schemeClr val="accent5"/>
                </a:solidFill>
              </a:defRPr>
            </a:lvl1pPr>
          </a:lstStyle>
          <a:p xmlns:a="http://schemas.openxmlformats.org/drawingml/2006/main">
            <a:pPr algn="r">
              <a:buNone/>
            </a:pPr>
            <a:fld id="{F7021451-1387-4CA6-816F-3879F97B5CBC}" type="slidenum">
              <a:rPr b="0"/>
              <a:t>9</a:t>
            </a:fld>
            <a:endParaRPr/>
          </a:p>
        </p:txBody>
      </p:sp>
    </p:spTree>
    <p:extLst>
      <p:ext uri="{BB962C8B-B14F-4D97-AF65-F5344CB8AC3E}">
        <p14:creationId xmlns:p14="http://schemas.microsoft.com/office/powerpoint/2010/main" val="203549776"/>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sp>
        <p:nvSpPr>
          <p:cNvPr id="2" name="Text 2">
            <a:extLst xmlns:a="http://schemas.openxmlformats.org/drawingml/2006/main">
              <a:ext uri="{FF2B5EF4-FFF2-40B4-BE49-F238E27FC236}">
                <a16:creationId xmlns:a16="http://schemas.microsoft.com/office/drawing/2014/main" id="{9BC98064-39E5-46CF-8A29-FF887C3B6F35}"/>
              </a:ext>
            </a:extLst>
          </p:cNvPr>
          <p:cNvSpPr>
            <a:spLocks xmlns:a="http://schemas.openxmlformats.org/drawingml/2006/main" noGrp="1"/>
          </p:cNvSpPr>
          <p:nvPr>
            <p:ph type="title" idx="102" hasCustomPrompt="1"/>
          </p:nvPr>
        </p:nvSpPr>
        <p:spPr>
          <a:xfrm xmlns:a="http://schemas.openxmlformats.org/drawingml/2006/main">
            <a:off x="640080" y="457200"/>
            <a:ext cx="10911535" cy="7315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buNone/>
            </a:pPr>
            <a:r>
              <a:rPr sz="3000" b="1">
                <a:solidFill>
                  <a:schemeClr val="tx1"/>
                </a:solidFill>
                <a:latin typeface="Arial"/>
                <a:ea typeface="Arial"/>
                <a:cs typeface="Arial"/>
              </a:rPr>
              <a:t>Architecture</a:t>
            </a:r>
            <a:endParaRPr sz="3000"/>
          </a:p>
        </p:txBody>
      </p:sp>
      <p:pic>
        <p:nvPicPr>
          <p:cNvPr id="3" name="architecture">
            <a:extLst xmlns:a="http://schemas.openxmlformats.org/drawingml/2006/main">
              <a:ext uri="{FF2B5EF4-FFF2-40B4-BE49-F238E27FC236}">
                <a16:creationId xmlns:a16="http://schemas.microsoft.com/office/drawing/2014/main" id="{A8BF52A7-4A2B-4147-B6C3-4C3EE752B531}"/>
              </a:ext>
            </a:extLst>
          </p:cNvPr>
          <p:cNvPicPr>
            <a:picLocks xmlns:a="http://schemas.openxmlformats.org/drawingml/2006/main" noChangeAspect="1"/>
          </p:cNvPicPr>
          <p:nvPr/>
        </p:nvPicPr>
        <p:blipFill>
          <a:blip xmlns:r="http://schemas.openxmlformats.org/officeDocument/2006/relationships" xmlns:a="http://schemas.openxmlformats.org/drawingml/2006/main" r:embed="Rc480e0d4a6ec41be"/>
          <a:stretch xmlns:a="http://schemas.openxmlformats.org/drawingml/2006/main">
            <a:fillRect l="0" t="0" r="0" b="0"/>
          </a:stretch>
        </p:blipFill>
        <p:spPr>
          <a:xfrm xmlns:a="http://schemas.openxmlformats.org/drawingml/2006/main">
            <a:off x="640080" y="1325880"/>
            <a:ext cx="6766560" cy="4736592"/>
          </a:xfrm>
          <a:prstGeom xmlns:a="http://schemas.openxmlformats.org/drawingml/2006/main" prst="rect">
            <a:avLst/>
          </a:prstGeom>
        </p:spPr>
      </p:pic>
      <p:sp>
        <p:nvSpPr>
          <p:cNvPr id="4" name="arch-divider">
            <a:extLst xmlns:a="http://schemas.openxmlformats.org/drawingml/2006/main">
              <a:ext uri="{FF2B5EF4-FFF2-40B4-BE49-F238E27FC236}">
                <a16:creationId xmlns:a16="http://schemas.microsoft.com/office/drawing/2014/main" id="{951BAFA1-F286-4DEE-911F-9DD42D98D305}"/>
              </a:ext>
            </a:extLst>
          </p:cNvPr>
          <p:cNvSpPr>
            <a:spLocks xmlns:a="http://schemas.openxmlformats.org/drawingml/2006/main" noGrp="1"/>
          </p:cNvSpPr>
          <p:nvPr/>
        </p:nvSpPr>
        <p:spPr>
          <a:xfrm xmlns:a="http://schemas.openxmlformats.org/drawingml/2006/main">
            <a:off x="7635240" y="1417320"/>
            <a:ext cx="0" cy="4572000"/>
          </a:xfrm>
          <a:prstGeom xmlns:a="http://schemas.openxmlformats.org/drawingml/2006/main" prst="line">
            <a:avLst/>
          </a:prstGeom>
          <a:noFill xmlns:a="http://schemas.openxmlformats.org/drawingml/2006/main"/>
          <a:ln xmlns:a="http://schemas.openxmlformats.org/drawingml/2006/main" w="9525">
            <a:solidFill>
              <a:srgbClr val="DDE2E7"/>
            </a:solidFill>
            <a:prstDash val="solid"/>
          </a:ln>
        </p:spPr>
      </p:sp>
      <p:sp>
        <p:nvSpPr>
          <p:cNvPr id="5" name="Text 2">
            <a:extLst xmlns:a="http://schemas.openxmlformats.org/drawingml/2006/main">
              <a:ext uri="{FF2B5EF4-FFF2-40B4-BE49-F238E27FC236}">
                <a16:creationId xmlns:a16="http://schemas.microsoft.com/office/drawing/2014/main" id="{70E48CEF-2F7C-43AD-8529-AD290B200E55}"/>
              </a:ext>
            </a:extLst>
          </p:cNvPr>
          <p:cNvSpPr>
            <a:spLocks xmlns:a="http://schemas.openxmlformats.org/drawingml/2006/main" noGrp="1"/>
          </p:cNvSpPr>
          <p:nvPr/>
        </p:nvSpPr>
        <p:spPr>
          <a:xfrm xmlns:a="http://schemas.openxmlformats.org/drawingml/2006/main">
            <a:off x="7863840" y="1417320"/>
            <a:ext cx="3687775" cy="3200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500" b="1">
                <a:solidFill>
                  <a:schemeClr val="tx1"/>
                </a:solidFill>
                <a:latin typeface="Arial"/>
                <a:ea typeface="Arial"/>
                <a:cs typeface="Arial"/>
              </a:rPr>
              <a:t>The model is untrusted</a:t>
            </a:r>
            <a:endParaRPr sz="1500"/>
          </a:p>
        </p:txBody>
      </p:sp>
      <p:sp>
        <p:nvSpPr>
          <p:cNvPr id="6" name="Text 3">
            <a:extLst xmlns:a="http://schemas.openxmlformats.org/drawingml/2006/main">
              <a:ext uri="{FF2B5EF4-FFF2-40B4-BE49-F238E27FC236}">
                <a16:creationId xmlns:a16="http://schemas.microsoft.com/office/drawing/2014/main" id="{ECD7DB02-9AA5-4A8B-B40E-7FF09F44705A}"/>
              </a:ext>
            </a:extLst>
          </p:cNvPr>
          <p:cNvSpPr>
            <a:spLocks xmlns:a="http://schemas.openxmlformats.org/drawingml/2006/main" noGrp="1"/>
          </p:cNvSpPr>
          <p:nvPr/>
        </p:nvSpPr>
        <p:spPr>
          <a:xfrm xmlns:a="http://schemas.openxmlformats.org/drawingml/2006/main">
            <a:off x="7863840" y="1783080"/>
            <a:ext cx="3687775" cy="10058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300">
                <a:solidFill>
                  <a:schemeClr val="accent5"/>
                </a:solidFill>
                <a:latin typeface="Arial"/>
                <a:ea typeface="Arial"/>
                <a:cs typeface="Arial"/>
              </a:rPr>
              <a:t>It can only talk and request tools. It never sees personal data and cannot reach the account.</a:t>
            </a:r>
            <a:endParaRPr sz="1300"/>
          </a:p>
        </p:txBody>
      </p:sp>
      <p:sp>
        <p:nvSpPr>
          <p:cNvPr id="7" name="arch-rule-1">
            <a:extLst xmlns:a="http://schemas.openxmlformats.org/drawingml/2006/main">
              <a:ext uri="{FF2B5EF4-FFF2-40B4-BE49-F238E27FC236}">
                <a16:creationId xmlns:a16="http://schemas.microsoft.com/office/drawing/2014/main" id="{5760367A-FCE0-4F57-B6AA-7D71D225B52B}"/>
              </a:ext>
            </a:extLst>
          </p:cNvPr>
          <p:cNvSpPr>
            <a:spLocks xmlns:a="http://schemas.openxmlformats.org/drawingml/2006/main" noGrp="1"/>
          </p:cNvSpPr>
          <p:nvPr/>
        </p:nvSpPr>
        <p:spPr>
          <a:xfrm xmlns:a="http://schemas.openxmlformats.org/drawingml/2006/main">
            <a:off x="7863840" y="2788920"/>
            <a:ext cx="3687775" cy="0"/>
          </a:xfrm>
          <a:prstGeom xmlns:a="http://schemas.openxmlformats.org/drawingml/2006/main" prst="line">
            <a:avLst/>
          </a:prstGeom>
          <a:noFill xmlns:a="http://schemas.openxmlformats.org/drawingml/2006/main"/>
          <a:ln xmlns:a="http://schemas.openxmlformats.org/drawingml/2006/main" w="9525">
            <a:solidFill>
              <a:srgbClr val="DDE2E7"/>
            </a:solidFill>
            <a:prstDash val="solid"/>
          </a:ln>
        </p:spPr>
      </p:sp>
      <p:sp>
        <p:nvSpPr>
          <p:cNvPr id="8" name="Text 5">
            <a:extLst xmlns:a="http://schemas.openxmlformats.org/drawingml/2006/main">
              <a:ext uri="{FF2B5EF4-FFF2-40B4-BE49-F238E27FC236}">
                <a16:creationId xmlns:a16="http://schemas.microsoft.com/office/drawing/2014/main" id="{44743D1B-8882-4971-9C6B-1F74447E7044}"/>
              </a:ext>
            </a:extLst>
          </p:cNvPr>
          <p:cNvSpPr>
            <a:spLocks xmlns:a="http://schemas.openxmlformats.org/drawingml/2006/main" noGrp="1"/>
          </p:cNvSpPr>
          <p:nvPr/>
        </p:nvSpPr>
        <p:spPr>
          <a:xfrm xmlns:a="http://schemas.openxmlformats.org/drawingml/2006/main">
            <a:off x="7863840" y="2926080"/>
            <a:ext cx="3687775" cy="3200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500" b="1">
                <a:solidFill>
                  <a:schemeClr val="tx1"/>
                </a:solidFill>
                <a:latin typeface="Arial"/>
                <a:ea typeface="Arial"/>
                <a:cs typeface="Arial"/>
              </a:rPr>
              <a:t>Versioned advice</a:t>
            </a:r>
            <a:endParaRPr sz="1500"/>
          </a:p>
        </p:txBody>
      </p:sp>
      <p:sp>
        <p:nvSpPr>
          <p:cNvPr id="9" name="Text 6">
            <a:extLst xmlns:a="http://schemas.openxmlformats.org/drawingml/2006/main">
              <a:ext uri="{FF2B5EF4-FFF2-40B4-BE49-F238E27FC236}">
                <a16:creationId xmlns:a16="http://schemas.microsoft.com/office/drawing/2014/main" id="{11AE410C-3960-44F5-9444-307F0F2E4B36}"/>
              </a:ext>
            </a:extLst>
          </p:cNvPr>
          <p:cNvSpPr>
            <a:spLocks xmlns:a="http://schemas.openxmlformats.org/drawingml/2006/main" noGrp="1"/>
          </p:cNvSpPr>
          <p:nvPr/>
        </p:nvSpPr>
        <p:spPr>
          <a:xfrm xmlns:a="http://schemas.openxmlformats.org/drawingml/2006/main">
            <a:off x="7863840" y="3291840"/>
            <a:ext cx="3687775" cy="10058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300">
                <a:solidFill>
                  <a:schemeClr val="accent5"/>
                </a:solidFill>
                <a:latin typeface="Arial"/>
                <a:ea typeface="Arial"/>
                <a:cs typeface="Arial"/>
              </a:rPr>
              <a:t>Advice binds the profile, goal, catalog and calculation versions. Material changes make old advice stale.</a:t>
            </a:r>
            <a:endParaRPr sz="1300"/>
          </a:p>
        </p:txBody>
      </p:sp>
      <p:sp>
        <p:nvSpPr>
          <p:cNvPr id="10" name="arch-rule-2">
            <a:extLst xmlns:a="http://schemas.openxmlformats.org/drawingml/2006/main">
              <a:ext uri="{FF2B5EF4-FFF2-40B4-BE49-F238E27FC236}">
                <a16:creationId xmlns:a16="http://schemas.microsoft.com/office/drawing/2014/main" id="{3EBB5DA4-DFAF-40DC-BC3F-0E9D5924CCD5}"/>
              </a:ext>
            </a:extLst>
          </p:cNvPr>
          <p:cNvSpPr>
            <a:spLocks xmlns:a="http://schemas.openxmlformats.org/drawingml/2006/main" noGrp="1"/>
          </p:cNvSpPr>
          <p:nvPr/>
        </p:nvSpPr>
        <p:spPr>
          <a:xfrm xmlns:a="http://schemas.openxmlformats.org/drawingml/2006/main">
            <a:off x="7863840" y="4297680"/>
            <a:ext cx="3687775" cy="0"/>
          </a:xfrm>
          <a:prstGeom xmlns:a="http://schemas.openxmlformats.org/drawingml/2006/main" prst="line">
            <a:avLst/>
          </a:prstGeom>
          <a:noFill xmlns:a="http://schemas.openxmlformats.org/drawingml/2006/main"/>
          <a:ln xmlns:a="http://schemas.openxmlformats.org/drawingml/2006/main" w="9525">
            <a:solidFill>
              <a:srgbClr val="DDE2E7"/>
            </a:solidFill>
            <a:prstDash val="solid"/>
          </a:ln>
        </p:spPr>
      </p:sp>
      <p:sp>
        <p:nvSpPr>
          <p:cNvPr id="11" name="Text 8">
            <a:extLst xmlns:a="http://schemas.openxmlformats.org/drawingml/2006/main">
              <a:ext uri="{FF2B5EF4-FFF2-40B4-BE49-F238E27FC236}">
                <a16:creationId xmlns:a16="http://schemas.microsoft.com/office/drawing/2014/main" id="{B1FDAF0B-CA4F-4DAC-9E0F-BDF0C956BE0F}"/>
              </a:ext>
            </a:extLst>
          </p:cNvPr>
          <p:cNvSpPr>
            <a:spLocks xmlns:a="http://schemas.openxmlformats.org/drawingml/2006/main" noGrp="1"/>
          </p:cNvSpPr>
          <p:nvPr/>
        </p:nvSpPr>
        <p:spPr>
          <a:xfrm xmlns:a="http://schemas.openxmlformats.org/drawingml/2006/main">
            <a:off x="7863840" y="4434840"/>
            <a:ext cx="3687775" cy="3200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500" b="1">
                <a:solidFill>
                  <a:schemeClr val="tx1"/>
                </a:solidFill>
                <a:latin typeface="Arial"/>
                <a:ea typeface="Arial"/>
                <a:cs typeface="Arial"/>
              </a:rPr>
              <a:t>Stage-aware tools</a:t>
            </a:r>
            <a:endParaRPr sz="1500"/>
          </a:p>
        </p:txBody>
      </p:sp>
      <p:sp>
        <p:nvSpPr>
          <p:cNvPr id="12" name="Text 9">
            <a:extLst xmlns:a="http://schemas.openxmlformats.org/drawingml/2006/main">
              <a:ext uri="{FF2B5EF4-FFF2-40B4-BE49-F238E27FC236}">
                <a16:creationId xmlns:a16="http://schemas.microsoft.com/office/drawing/2014/main" id="{6F387AAA-60A4-43EF-B6A0-D7A77D4BA954}"/>
              </a:ext>
            </a:extLst>
          </p:cNvPr>
          <p:cNvSpPr>
            <a:spLocks xmlns:a="http://schemas.openxmlformats.org/drawingml/2006/main" noGrp="1"/>
          </p:cNvSpPr>
          <p:nvPr/>
        </p:nvSpPr>
        <p:spPr>
          <a:xfrm xmlns:a="http://schemas.openxmlformats.org/drawingml/2006/main">
            <a:off x="7863840" y="4800600"/>
            <a:ext cx="3687775" cy="10058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300">
                <a:solidFill>
                  <a:schemeClr val="accent5"/>
                </a:solidFill>
                <a:latin typeface="Arial"/>
                <a:ea typeface="Arial"/>
                <a:cs typeface="Arial"/>
              </a:rPr>
              <a:t>Each stage exposes only valid tools, with at most eight model steps per turn. Offline tests need no API key.</a:t>
            </a:r>
            <a:endParaRPr sz="1300"/>
          </a:p>
        </p:txBody>
      </p:sp>
      <p:sp>
        <p:nvSpPr>
          <p:cNvPr id="25" name="Slide Number Placeholder 0">
            <a:extLst xmlns:a="http://schemas.openxmlformats.org/drawingml/2006/main">
              <a:ext uri="{FF2B5EF4-FFF2-40B4-BE49-F238E27FC236}">
                <a16:creationId xmlns:a16="http://schemas.microsoft.com/office/drawing/2014/main" id="{3BCCF2B8-DCD8-4844-A61E-354EC641D52C}"/>
              </a:ext>
            </a:extLst>
          </p:cNvPr>
          <p:cNvSpPr>
            <a:spLocks xmlns:a="http://schemas.openxmlformats.org/drawingml/2006/main" noGrp="1"/>
          </p:cNvSpPr>
          <p:nvPr>
            <p:ph type="sldNum" idx="4294967295"/>
          </p:nvPr>
        </p:nvSpPr>
        <p:spPr>
          <a:xfrm xmlns:a="http://schemas.openxmlformats.org/drawingml/2006/main">
            <a:off x="11002975" y="6419088"/>
            <a:ext cx="548640" cy="256032"/>
          </a:xfrm>
          <a:prstGeom xmlns:a="http://schemas.openxmlformats.org/drawingml/2006/main" prst="rect">
            <a:avLst/>
          </a:prstGeom>
        </p:spPr>
        <p:txBody>
          <a:bodyPr xmlns:a="http://schemas.openxmlformats.org/drawingml/2006/main"/>
          <a:lstStyle xmlns:a="http://schemas.openxmlformats.org/drawingml/2006/main">
            <a:lvl1pPr>
              <a:buNone/>
              <a:defRPr sz="950">
                <a:solidFill>
                  <a:schemeClr val="accent5"/>
                </a:solidFill>
              </a:defRPr>
            </a:lvl1pPr>
          </a:lstStyle>
          <a:p xmlns:a="http://schemas.openxmlformats.org/drawingml/2006/main">
            <a:pPr algn="r">
              <a:buNone/>
            </a:pPr>
            <a:fld id="{F7021451-1387-4CA6-816F-3879F97B5CBC}" type="slidenum">
              <a:rPr b="0"/>
              <a:t>10</a:t>
            </a:fld>
            <a:endParaRPr/>
          </a:p>
        </p:txBody>
      </p:sp>
    </p:spTree>
    <p:extLst>
      <p:ext uri="{BB962C8B-B14F-4D97-AF65-F5344CB8AC3E}">
        <p14:creationId xmlns:p14="http://schemas.microsoft.com/office/powerpoint/2010/main" val="2049437935"/>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sp>
        <p:nvSpPr>
          <p:cNvPr id="2" name="Text 2">
            <a:extLst xmlns:a="http://schemas.openxmlformats.org/drawingml/2006/main">
              <a:ext uri="{FF2B5EF4-FFF2-40B4-BE49-F238E27FC236}">
                <a16:creationId xmlns:a16="http://schemas.microsoft.com/office/drawing/2014/main" id="{36F1294C-FCBB-45BE-B5A0-C0A9C456B9D4}"/>
              </a:ext>
            </a:extLst>
          </p:cNvPr>
          <p:cNvSpPr>
            <a:spLocks xmlns:a="http://schemas.openxmlformats.org/drawingml/2006/main" noGrp="1"/>
          </p:cNvSpPr>
          <p:nvPr>
            <p:ph type="title" idx="102" hasCustomPrompt="1"/>
          </p:nvPr>
        </p:nvSpPr>
        <p:spPr>
          <a:xfrm xmlns:a="http://schemas.openxmlformats.org/drawingml/2006/main">
            <a:off x="640080" y="457200"/>
            <a:ext cx="10911535" cy="73152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l">
              <a:buNone/>
            </a:pPr>
            <a:r>
              <a:rPr sz="3000" b="1">
                <a:solidFill>
                  <a:schemeClr val="tx1"/>
                </a:solidFill>
                <a:latin typeface="Arial"/>
                <a:ea typeface="Arial"/>
                <a:cs typeface="Arial"/>
              </a:rPr>
              <a:t>Built for a bank like WeBank</a:t>
            </a:r>
            <a:endParaRPr sz="3000"/>
          </a:p>
        </p:txBody>
      </p:sp>
      <p:sp>
        <p:nvSpPr>
          <p:cNvPr id="3" name="fit-top">
            <a:extLst xmlns:a="http://schemas.openxmlformats.org/drawingml/2006/main">
              <a:ext uri="{FF2B5EF4-FFF2-40B4-BE49-F238E27FC236}">
                <a16:creationId xmlns:a16="http://schemas.microsoft.com/office/drawing/2014/main" id="{5FB55D36-D690-4821-9914-F8A5C2816BDD}"/>
              </a:ext>
            </a:extLst>
          </p:cNvPr>
          <p:cNvSpPr>
            <a:spLocks xmlns:a="http://schemas.openxmlformats.org/drawingml/2006/main" noGrp="1"/>
          </p:cNvSpPr>
          <p:nvPr/>
        </p:nvSpPr>
        <p:spPr>
          <a:xfrm xmlns:a="http://schemas.openxmlformats.org/drawingml/2006/main">
            <a:off x="640080" y="1417320"/>
            <a:ext cx="10911535" cy="0"/>
          </a:xfrm>
          <a:prstGeom xmlns:a="http://schemas.openxmlformats.org/drawingml/2006/main" prst="line">
            <a:avLst/>
          </a:prstGeom>
          <a:noFill xmlns:a="http://schemas.openxmlformats.org/drawingml/2006/main"/>
          <a:ln xmlns:a="http://schemas.openxmlformats.org/drawingml/2006/main" w="9525">
            <a:solidFill>
              <a:srgbClr val="C5CDD5"/>
            </a:solidFill>
            <a:prstDash val="solid"/>
          </a:ln>
        </p:spPr>
      </p:sp>
      <p:sp>
        <p:nvSpPr>
          <p:cNvPr id="4" name="fit-middle">
            <a:extLst xmlns:a="http://schemas.openxmlformats.org/drawingml/2006/main">
              <a:ext uri="{FF2B5EF4-FFF2-40B4-BE49-F238E27FC236}">
                <a16:creationId xmlns:a16="http://schemas.microsoft.com/office/drawing/2014/main" id="{E066F0C1-9281-4351-890A-3D4DD4FD3C6C}"/>
              </a:ext>
            </a:extLst>
          </p:cNvPr>
          <p:cNvSpPr>
            <a:spLocks xmlns:a="http://schemas.openxmlformats.org/drawingml/2006/main" noGrp="1"/>
          </p:cNvSpPr>
          <p:nvPr/>
        </p:nvSpPr>
        <p:spPr>
          <a:xfrm xmlns:a="http://schemas.openxmlformats.org/drawingml/2006/main">
            <a:off x="640080" y="3657600"/>
            <a:ext cx="10911535" cy="0"/>
          </a:xfrm>
          <a:prstGeom xmlns:a="http://schemas.openxmlformats.org/drawingml/2006/main" prst="line">
            <a:avLst/>
          </a:prstGeom>
          <a:noFill xmlns:a="http://schemas.openxmlformats.org/drawingml/2006/main"/>
          <a:ln xmlns:a="http://schemas.openxmlformats.org/drawingml/2006/main" w="9525">
            <a:solidFill>
              <a:srgbClr val="DDE2E7"/>
            </a:solidFill>
            <a:prstDash val="solid"/>
          </a:ln>
        </p:spPr>
      </p:sp>
      <p:sp>
        <p:nvSpPr>
          <p:cNvPr id="5" name="fit-divider">
            <a:extLst xmlns:a="http://schemas.openxmlformats.org/drawingml/2006/main">
              <a:ext uri="{FF2B5EF4-FFF2-40B4-BE49-F238E27FC236}">
                <a16:creationId xmlns:a16="http://schemas.microsoft.com/office/drawing/2014/main" id="{FE8FAD8E-5393-4A26-B68A-D65C53593A56}"/>
              </a:ext>
            </a:extLst>
          </p:cNvPr>
          <p:cNvSpPr>
            <a:spLocks xmlns:a="http://schemas.openxmlformats.org/drawingml/2006/main" noGrp="1"/>
          </p:cNvSpPr>
          <p:nvPr/>
        </p:nvSpPr>
        <p:spPr>
          <a:xfrm xmlns:a="http://schemas.openxmlformats.org/drawingml/2006/main">
            <a:off x="6095848" y="1417320"/>
            <a:ext cx="0" cy="4480560"/>
          </a:xfrm>
          <a:prstGeom xmlns:a="http://schemas.openxmlformats.org/drawingml/2006/main" prst="line">
            <a:avLst/>
          </a:prstGeom>
          <a:noFill xmlns:a="http://schemas.openxmlformats.org/drawingml/2006/main"/>
          <a:ln xmlns:a="http://schemas.openxmlformats.org/drawingml/2006/main" w="9525">
            <a:solidFill>
              <a:srgbClr val="DDE2E7"/>
            </a:solidFill>
            <a:prstDash val="solid"/>
          </a:ln>
        </p:spPr>
      </p:sp>
      <p:sp>
        <p:nvSpPr>
          <p:cNvPr id="6" name="Text 4">
            <a:extLst xmlns:a="http://schemas.openxmlformats.org/drawingml/2006/main">
              <a:ext uri="{FF2B5EF4-FFF2-40B4-BE49-F238E27FC236}">
                <a16:creationId xmlns:a16="http://schemas.microsoft.com/office/drawing/2014/main" id="{78B43AA9-3CC2-4AAA-9C7A-05448CDE63F0}"/>
              </a:ext>
            </a:extLst>
          </p:cNvPr>
          <p:cNvSpPr>
            <a:spLocks xmlns:a="http://schemas.openxmlformats.org/drawingml/2006/main" noGrp="1"/>
          </p:cNvSpPr>
          <p:nvPr/>
        </p:nvSpPr>
        <p:spPr>
          <a:xfrm xmlns:a="http://schemas.openxmlformats.org/drawingml/2006/main">
            <a:off x="640080" y="1645920"/>
            <a:ext cx="3809848"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800" b="1">
                <a:solidFill>
                  <a:schemeClr val="tx1"/>
                </a:solidFill>
                <a:latin typeface="Arial"/>
                <a:ea typeface="Arial"/>
                <a:cs typeface="Arial"/>
              </a:rPr>
              <a:t>FISCO BCOS</a:t>
            </a:r>
            <a:endParaRPr sz="1800"/>
          </a:p>
        </p:txBody>
      </p:sp>
      <p:sp>
        <p:nvSpPr>
          <p:cNvPr id="7" name="Text 5">
            <a:extLst xmlns:a="http://schemas.openxmlformats.org/drawingml/2006/main">
              <a:ext uri="{FF2B5EF4-FFF2-40B4-BE49-F238E27FC236}">
                <a16:creationId xmlns:a16="http://schemas.microsoft.com/office/drawing/2014/main" id="{0FB38C3E-A169-4CE5-8A3C-A95B401850AB}"/>
              </a:ext>
            </a:extLst>
          </p:cNvPr>
          <p:cNvSpPr>
            <a:spLocks xmlns:a="http://schemas.openxmlformats.org/drawingml/2006/main" noGrp="1"/>
          </p:cNvSpPr>
          <p:nvPr/>
        </p:nvSpPr>
        <p:spPr>
          <a:xfrm xmlns:a="http://schemas.openxmlformats.org/drawingml/2006/main">
            <a:off x="4632808" y="1645920"/>
            <a:ext cx="9144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1300" b="1">
                <a:solidFill>
                  <a:schemeClr val="accent1"/>
                </a:solidFill>
                <a:latin typeface="Arial"/>
                <a:ea typeface="Arial"/>
                <a:cs typeface="Arial"/>
              </a:rPr>
              <a:t>Built</a:t>
            </a:r>
            <a:endParaRPr sz="1300"/>
          </a:p>
        </p:txBody>
      </p:sp>
      <p:sp>
        <p:nvSpPr>
          <p:cNvPr id="8" name="Text 6">
            <a:extLst xmlns:a="http://schemas.openxmlformats.org/drawingml/2006/main">
              <a:ext uri="{FF2B5EF4-FFF2-40B4-BE49-F238E27FC236}">
                <a16:creationId xmlns:a16="http://schemas.microsoft.com/office/drawing/2014/main" id="{477B4ECE-ED7E-4411-A46D-949802CAA3F4}"/>
              </a:ext>
            </a:extLst>
          </p:cNvPr>
          <p:cNvSpPr>
            <a:spLocks xmlns:a="http://schemas.openxmlformats.org/drawingml/2006/main" noGrp="1"/>
          </p:cNvSpPr>
          <p:nvPr/>
        </p:nvSpPr>
        <p:spPr>
          <a:xfrm xmlns:a="http://schemas.openxmlformats.org/drawingml/2006/main">
            <a:off x="640080" y="2148840"/>
            <a:ext cx="4907128" cy="12801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400">
                <a:solidFill>
                  <a:schemeClr val="accent5"/>
                </a:solidFill>
                <a:latin typeface="Arial"/>
                <a:ea typeface="Arial"/>
                <a:cs typeface="Arial"/>
              </a:rPr>
              <a:t>Advisory records anchored on WeBank's consortium chain. In production the nodes would be run by the bank, an auditor and the regulator.</a:t>
            </a:r>
            <a:endParaRPr sz="1400"/>
          </a:p>
        </p:txBody>
      </p:sp>
      <p:sp>
        <p:nvSpPr>
          <p:cNvPr id="9" name="Text 7">
            <a:extLst xmlns:a="http://schemas.openxmlformats.org/drawingml/2006/main">
              <a:ext uri="{FF2B5EF4-FFF2-40B4-BE49-F238E27FC236}">
                <a16:creationId xmlns:a16="http://schemas.microsoft.com/office/drawing/2014/main" id="{C48D19B7-549E-4E43-82EF-12E88ED97B2E}"/>
              </a:ext>
            </a:extLst>
          </p:cNvPr>
          <p:cNvSpPr>
            <a:spLocks xmlns:a="http://schemas.openxmlformats.org/drawingml/2006/main" noGrp="1"/>
          </p:cNvSpPr>
          <p:nvPr/>
        </p:nvSpPr>
        <p:spPr>
          <a:xfrm xmlns:a="http://schemas.openxmlformats.org/drawingml/2006/main">
            <a:off x="6461608" y="1645920"/>
            <a:ext cx="3809848"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800" b="1">
                <a:solidFill>
                  <a:schemeClr val="tx1"/>
                </a:solidFill>
                <a:latin typeface="Arial"/>
                <a:ea typeface="Arial"/>
                <a:cs typeface="Arial"/>
              </a:rPr>
              <a:t>FATE federated learning</a:t>
            </a:r>
            <a:endParaRPr sz="1800"/>
          </a:p>
        </p:txBody>
      </p:sp>
      <p:sp>
        <p:nvSpPr>
          <p:cNvPr id="10" name="Text 8">
            <a:extLst xmlns:a="http://schemas.openxmlformats.org/drawingml/2006/main">
              <a:ext uri="{FF2B5EF4-FFF2-40B4-BE49-F238E27FC236}">
                <a16:creationId xmlns:a16="http://schemas.microsoft.com/office/drawing/2014/main" id="{62C5850C-C934-4910-946F-59288717BD4D}"/>
              </a:ext>
            </a:extLst>
          </p:cNvPr>
          <p:cNvSpPr>
            <a:spLocks xmlns:a="http://schemas.openxmlformats.org/drawingml/2006/main" noGrp="1"/>
          </p:cNvSpPr>
          <p:nvPr/>
        </p:nvSpPr>
        <p:spPr>
          <a:xfrm xmlns:a="http://schemas.openxmlformats.org/drawingml/2006/main">
            <a:off x="10454335" y="1645920"/>
            <a:ext cx="9144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1300" b="1">
                <a:solidFill>
                  <a:schemeClr val="accent2"/>
                </a:solidFill>
                <a:latin typeface="Arial"/>
                <a:ea typeface="Arial"/>
                <a:cs typeface="Arial"/>
              </a:rPr>
              <a:t>Next</a:t>
            </a:r>
            <a:endParaRPr sz="1300"/>
          </a:p>
        </p:txBody>
      </p:sp>
      <p:sp>
        <p:nvSpPr>
          <p:cNvPr id="11" name="Text 9">
            <a:extLst xmlns:a="http://schemas.openxmlformats.org/drawingml/2006/main">
              <a:ext uri="{FF2B5EF4-FFF2-40B4-BE49-F238E27FC236}">
                <a16:creationId xmlns:a16="http://schemas.microsoft.com/office/drawing/2014/main" id="{373F00CC-0992-4374-961F-FC3CE6106516}"/>
              </a:ext>
            </a:extLst>
          </p:cNvPr>
          <p:cNvSpPr>
            <a:spLocks xmlns:a="http://schemas.openxmlformats.org/drawingml/2006/main" noGrp="1"/>
          </p:cNvSpPr>
          <p:nvPr/>
        </p:nvSpPr>
        <p:spPr>
          <a:xfrm xmlns:a="http://schemas.openxmlformats.org/drawingml/2006/main">
            <a:off x="6461608" y="2148840"/>
            <a:ext cx="4907128" cy="12801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400">
                <a:solidFill>
                  <a:schemeClr val="accent5"/>
                </a:solidFill>
                <a:latin typeface="Arial"/>
                <a:ea typeface="Arial"/>
                <a:cs typeface="Arial"/>
              </a:rPr>
              <a:t>Crash Rehearsal creates a new signal, revealed risk tolerance. Banks could learn to predict it from questionnaires with FATE without pooling client data.</a:t>
            </a:r>
            <a:endParaRPr sz="1400"/>
          </a:p>
        </p:txBody>
      </p:sp>
      <p:sp>
        <p:nvSpPr>
          <p:cNvPr id="12" name="Text 10">
            <a:extLst xmlns:a="http://schemas.openxmlformats.org/drawingml/2006/main">
              <a:ext uri="{FF2B5EF4-FFF2-40B4-BE49-F238E27FC236}">
                <a16:creationId xmlns:a16="http://schemas.microsoft.com/office/drawing/2014/main" id="{2F4C3882-4159-4E16-B457-AB998EA61E49}"/>
              </a:ext>
            </a:extLst>
          </p:cNvPr>
          <p:cNvSpPr>
            <a:spLocks xmlns:a="http://schemas.openxmlformats.org/drawingml/2006/main" noGrp="1"/>
          </p:cNvSpPr>
          <p:nvPr/>
        </p:nvSpPr>
        <p:spPr>
          <a:xfrm xmlns:a="http://schemas.openxmlformats.org/drawingml/2006/main">
            <a:off x="640080" y="3886200"/>
            <a:ext cx="3809848"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800" b="1">
                <a:solidFill>
                  <a:schemeClr val="tx1"/>
                </a:solidFill>
                <a:latin typeface="Arial"/>
                <a:ea typeface="Arial"/>
                <a:cs typeface="Arial"/>
              </a:rPr>
              <a:t>Fund distribution</a:t>
            </a:r>
            <a:endParaRPr sz="1800"/>
          </a:p>
        </p:txBody>
      </p:sp>
      <p:sp>
        <p:nvSpPr>
          <p:cNvPr id="13" name="Text 11">
            <a:extLst xmlns:a="http://schemas.openxmlformats.org/drawingml/2006/main">
              <a:ext uri="{FF2B5EF4-FFF2-40B4-BE49-F238E27FC236}">
                <a16:creationId xmlns:a16="http://schemas.microsoft.com/office/drawing/2014/main" id="{B63901A5-CDFD-46BB-884E-1C8865ADD3D6}"/>
              </a:ext>
            </a:extLst>
          </p:cNvPr>
          <p:cNvSpPr>
            <a:spLocks xmlns:a="http://schemas.openxmlformats.org/drawingml/2006/main" noGrp="1"/>
          </p:cNvSpPr>
          <p:nvPr/>
        </p:nvSpPr>
        <p:spPr>
          <a:xfrm xmlns:a="http://schemas.openxmlformats.org/drawingml/2006/main">
            <a:off x="4632808" y="3886200"/>
            <a:ext cx="9144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1300" b="1">
                <a:solidFill>
                  <a:schemeClr val="accent1"/>
                </a:solidFill>
                <a:latin typeface="Arial"/>
                <a:ea typeface="Arial"/>
                <a:cs typeface="Arial"/>
              </a:rPr>
              <a:t>Built</a:t>
            </a:r>
            <a:endParaRPr sz="1300"/>
          </a:p>
        </p:txBody>
      </p:sp>
      <p:sp>
        <p:nvSpPr>
          <p:cNvPr id="14" name="Text 12">
            <a:extLst xmlns:a="http://schemas.openxmlformats.org/drawingml/2006/main">
              <a:ext uri="{FF2B5EF4-FFF2-40B4-BE49-F238E27FC236}">
                <a16:creationId xmlns:a16="http://schemas.microsoft.com/office/drawing/2014/main" id="{33ABBC08-E088-4D9F-ADFE-964A2626395A}"/>
              </a:ext>
            </a:extLst>
          </p:cNvPr>
          <p:cNvSpPr>
            <a:spLocks xmlns:a="http://schemas.openxmlformats.org/drawingml/2006/main" noGrp="1"/>
          </p:cNvSpPr>
          <p:nvPr/>
        </p:nvSpPr>
        <p:spPr>
          <a:xfrm xmlns:a="http://schemas.openxmlformats.org/drawingml/2006/main">
            <a:off x="640080" y="4389120"/>
            <a:ext cx="4907128" cy="12801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400">
                <a:solidFill>
                  <a:schemeClr val="accent5"/>
                </a:solidFill>
                <a:latin typeface="Arial"/>
                <a:ea typeface="Arial"/>
                <a:cs typeface="Arial"/>
              </a:rPr>
              <a:t>Real public funds with distributor risk levels: the products a digital bank already sells.</a:t>
            </a:r>
            <a:endParaRPr sz="1400"/>
          </a:p>
        </p:txBody>
      </p:sp>
      <p:sp>
        <p:nvSpPr>
          <p:cNvPr id="15" name="Text 13">
            <a:extLst xmlns:a="http://schemas.openxmlformats.org/drawingml/2006/main">
              <a:ext uri="{FF2B5EF4-FFF2-40B4-BE49-F238E27FC236}">
                <a16:creationId xmlns:a16="http://schemas.microsoft.com/office/drawing/2014/main" id="{A9FB0EA1-8010-4EF5-BEA5-FA1692056771}"/>
              </a:ext>
            </a:extLst>
          </p:cNvPr>
          <p:cNvSpPr>
            <a:spLocks xmlns:a="http://schemas.openxmlformats.org/drawingml/2006/main" noGrp="1"/>
          </p:cNvSpPr>
          <p:nvPr/>
        </p:nvSpPr>
        <p:spPr>
          <a:xfrm xmlns:a="http://schemas.openxmlformats.org/drawingml/2006/main">
            <a:off x="6461608" y="3886200"/>
            <a:ext cx="3809848"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800" b="1">
                <a:solidFill>
                  <a:schemeClr val="tx1"/>
                </a:solidFill>
                <a:latin typeface="Arial"/>
                <a:ea typeface="Arial"/>
                <a:cs typeface="Arial"/>
              </a:rPr>
              <a:t>Bilingual by design</a:t>
            </a:r>
            <a:endParaRPr sz="1800"/>
          </a:p>
        </p:txBody>
      </p:sp>
      <p:sp>
        <p:nvSpPr>
          <p:cNvPr id="16" name="Text 14">
            <a:extLst xmlns:a="http://schemas.openxmlformats.org/drawingml/2006/main">
              <a:ext uri="{FF2B5EF4-FFF2-40B4-BE49-F238E27FC236}">
                <a16:creationId xmlns:a16="http://schemas.microsoft.com/office/drawing/2014/main" id="{2A10A855-F3C3-42D5-9E40-F008CF21B812}"/>
              </a:ext>
            </a:extLst>
          </p:cNvPr>
          <p:cNvSpPr>
            <a:spLocks xmlns:a="http://schemas.openxmlformats.org/drawingml/2006/main" noGrp="1"/>
          </p:cNvSpPr>
          <p:nvPr/>
        </p:nvSpPr>
        <p:spPr>
          <a:xfrm xmlns:a="http://schemas.openxmlformats.org/drawingml/2006/main">
            <a:off x="10454335" y="3886200"/>
            <a:ext cx="914400" cy="3657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gn="r">
              <a:buNone/>
            </a:pPr>
            <a:r>
              <a:rPr sz="1300" b="1">
                <a:solidFill>
                  <a:schemeClr val="accent1"/>
                </a:solidFill>
                <a:latin typeface="Arial"/>
                <a:ea typeface="Arial"/>
                <a:cs typeface="Arial"/>
              </a:rPr>
              <a:t>Built</a:t>
            </a:r>
            <a:endParaRPr sz="1300"/>
          </a:p>
        </p:txBody>
      </p:sp>
      <p:sp>
        <p:nvSpPr>
          <p:cNvPr id="17" name="Text 15">
            <a:extLst xmlns:a="http://schemas.openxmlformats.org/drawingml/2006/main">
              <a:ext uri="{FF2B5EF4-FFF2-40B4-BE49-F238E27FC236}">
                <a16:creationId xmlns:a16="http://schemas.microsoft.com/office/drawing/2014/main" id="{FEAFDDC4-5C71-4040-B391-AB24FEB83BD7}"/>
              </a:ext>
            </a:extLst>
          </p:cNvPr>
          <p:cNvSpPr>
            <a:spLocks xmlns:a="http://schemas.openxmlformats.org/drawingml/2006/main" noGrp="1"/>
          </p:cNvSpPr>
          <p:nvPr/>
        </p:nvSpPr>
        <p:spPr>
          <a:xfrm xmlns:a="http://schemas.openxmlformats.org/drawingml/2006/main">
            <a:off x="6461608" y="4389120"/>
            <a:ext cx="4907128" cy="128016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1400">
                <a:solidFill>
                  <a:schemeClr val="accent5"/>
                </a:solidFill>
                <a:latin typeface="Arial"/>
                <a:ea typeface="Arial"/>
                <a:cs typeface="Arial"/>
              </a:rPr>
              <a:t>English and 简体中文 throughout, for Shenzhen and clients across the region.</a:t>
            </a:r>
            <a:endParaRPr sz="1400"/>
          </a:p>
        </p:txBody>
      </p:sp>
      <p:sp>
        <p:nvSpPr>
          <p:cNvPr id="25" name="Slide Number Placeholder 0">
            <a:extLst xmlns:a="http://schemas.openxmlformats.org/drawingml/2006/main">
              <a:ext uri="{FF2B5EF4-FFF2-40B4-BE49-F238E27FC236}">
                <a16:creationId xmlns:a16="http://schemas.microsoft.com/office/drawing/2014/main" id="{46338CE0-FA94-44C1-8C24-71DD246FD0EB}"/>
              </a:ext>
            </a:extLst>
          </p:cNvPr>
          <p:cNvSpPr>
            <a:spLocks xmlns:a="http://schemas.openxmlformats.org/drawingml/2006/main" noGrp="1"/>
          </p:cNvSpPr>
          <p:nvPr>
            <p:ph type="sldNum" idx="4294967295"/>
          </p:nvPr>
        </p:nvSpPr>
        <p:spPr>
          <a:xfrm xmlns:a="http://schemas.openxmlformats.org/drawingml/2006/main">
            <a:off x="11002975" y="6419088"/>
            <a:ext cx="548640" cy="256032"/>
          </a:xfrm>
          <a:prstGeom xmlns:a="http://schemas.openxmlformats.org/drawingml/2006/main" prst="rect">
            <a:avLst/>
          </a:prstGeom>
        </p:spPr>
        <p:txBody>
          <a:bodyPr xmlns:a="http://schemas.openxmlformats.org/drawingml/2006/main"/>
          <a:lstStyle xmlns:a="http://schemas.openxmlformats.org/drawingml/2006/main">
            <a:lvl1pPr>
              <a:buNone/>
              <a:defRPr sz="950">
                <a:solidFill>
                  <a:schemeClr val="accent5"/>
                </a:solidFill>
              </a:defRPr>
            </a:lvl1pPr>
          </a:lstStyle>
          <a:p xmlns:a="http://schemas.openxmlformats.org/drawingml/2006/main">
            <a:pPr algn="r">
              <a:buNone/>
            </a:pPr>
            <a:fld id="{F7021451-1387-4CA6-816F-3879F97B5CBC}" type="slidenum">
              <a:rPr b="0"/>
              <a:t>11</a:t>
            </a:fld>
            <a:endParaRPr/>
          </a:p>
        </p:txBody>
      </p:sp>
    </p:spTree>
    <p:extLst>
      <p:ext uri="{BB962C8B-B14F-4D97-AF65-F5344CB8AC3E}">
        <p14:creationId xmlns:p14="http://schemas.microsoft.com/office/powerpoint/2010/main" val="1337075826"/>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pic>
        <p:nvPicPr>
          <p:cNvPr id="2" name="logo-close">
            <a:extLst xmlns:a="http://schemas.openxmlformats.org/drawingml/2006/main">
              <a:ext uri="{FF2B5EF4-FFF2-40B4-BE49-F238E27FC236}">
                <a16:creationId xmlns:a16="http://schemas.microsoft.com/office/drawing/2014/main" id="{1974FF90-CD22-4041-8B70-9DE57C1CC2F4}"/>
              </a:ext>
            </a:extLst>
          </p:cNvPr>
          <p:cNvPicPr>
            <a:picLocks xmlns:a="http://schemas.openxmlformats.org/drawingml/2006/main" noChangeAspect="1"/>
          </p:cNvPicPr>
          <p:nvPr/>
        </p:nvPicPr>
        <p:blipFill>
          <a:blip xmlns:r="http://schemas.openxmlformats.org/officeDocument/2006/relationships" xmlns:a="http://schemas.openxmlformats.org/drawingml/2006/main" r:embed="R55564371f16b4077"/>
          <a:stretch xmlns:a="http://schemas.openxmlformats.org/drawingml/2006/main">
            <a:fillRect l="0" t="0" r="0" b="0"/>
          </a:stretch>
        </p:blipFill>
        <p:spPr>
          <a:xfrm xmlns:a="http://schemas.openxmlformats.org/drawingml/2006/main">
            <a:off x="640080" y="640080"/>
            <a:ext cx="457200" cy="457200"/>
          </a:xfrm>
          <a:prstGeom xmlns:a="http://schemas.openxmlformats.org/drawingml/2006/main" prst="rect">
            <a:avLst/>
          </a:prstGeom>
        </p:spPr>
      </p:pic>
      <p:sp>
        <p:nvSpPr>
          <p:cNvPr id="3" name="Text 0">
            <a:extLst xmlns:a="http://schemas.openxmlformats.org/drawingml/2006/main">
              <a:ext uri="{FF2B5EF4-FFF2-40B4-BE49-F238E27FC236}">
                <a16:creationId xmlns:a16="http://schemas.microsoft.com/office/drawing/2014/main" id="{9600A348-9227-42CA-98D0-0939B2CAADF2}"/>
              </a:ext>
            </a:extLst>
          </p:cNvPr>
          <p:cNvSpPr>
            <a:spLocks xmlns:a="http://schemas.openxmlformats.org/drawingml/2006/main" noGrp="1"/>
          </p:cNvSpPr>
          <p:nvPr/>
        </p:nvSpPr>
        <p:spPr>
          <a:xfrm xmlns:a="http://schemas.openxmlformats.org/drawingml/2006/main">
            <a:off x="640080" y="1737360"/>
            <a:ext cx="10058400" cy="1280160"/>
          </a:xfrm>
          <a:prstGeom xmlns:a="http://schemas.openxmlformats.org/drawingml/2006/main" prst="rect">
            <a:avLst/>
          </a:prstGeom>
          <a:noFill xmlns:a="http://schemas.openxmlformats.org/drawingml/2006/main"/>
        </p:spPr>
        <p:txBody>
          <a:bodyPr xmlns:a="http://schemas.openxmlformats.org/drawingml/2006/main" wrap="square" lIns="0" tIns="0" rIns="0" bIns="0" anchor="b"/>
          <a:lstStyle xmlns:a="http://schemas.openxmlformats.org/drawingml/2006/main"/>
          <a:p xmlns:a="http://schemas.openxmlformats.org/drawingml/2006/main">
            <a:pPr marL="0" indent="0">
              <a:buNone/>
            </a:pPr>
            <a:r>
              <a:rPr sz="6000" b="1">
                <a:solidFill>
                  <a:schemeClr val="bg1"/>
                </a:solidFill>
                <a:latin typeface="Arial"/>
                <a:ea typeface="Arial"/>
                <a:cs typeface="Arial"/>
              </a:rPr>
              <a:t>Advice you can check.</a:t>
            </a:r>
            <a:endParaRPr sz="6000"/>
          </a:p>
        </p:txBody>
      </p:sp>
      <p:sp>
        <p:nvSpPr>
          <p:cNvPr id="4" name="Text 1">
            <a:extLst xmlns:a="http://schemas.openxmlformats.org/drawingml/2006/main">
              <a:ext uri="{FF2B5EF4-FFF2-40B4-BE49-F238E27FC236}">
                <a16:creationId xmlns:a16="http://schemas.microsoft.com/office/drawing/2014/main" id="{8A267D71-7562-4BC1-BDE7-E2F4903D0D8B}"/>
              </a:ext>
            </a:extLst>
          </p:cNvPr>
          <p:cNvSpPr>
            <a:spLocks xmlns:a="http://schemas.openxmlformats.org/drawingml/2006/main" noGrp="1"/>
          </p:cNvSpPr>
          <p:nvPr/>
        </p:nvSpPr>
        <p:spPr>
          <a:xfrm xmlns:a="http://schemas.openxmlformats.org/drawingml/2006/main">
            <a:off x="640080" y="3291840"/>
            <a:ext cx="9875520" cy="100584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buNone/>
            </a:pPr>
            <a:r>
              <a:rPr sz="2100">
                <a:solidFill>
                  <a:srgbClr val="A6B1BC"/>
                </a:solidFill>
                <a:latin typeface="Arial"/>
                <a:ea typeface="Arial"/>
                <a:cs typeface="Arial"/>
              </a:rPr>
              <a:t>Rehearse the crash before investing. Ground every number in code. Let only the client move money. Anchor the record on chain.</a:t>
            </a:r>
            <a:endParaRPr sz="2100"/>
          </a:p>
        </p:txBody>
      </p:sp>
      <p:sp>
        <p:nvSpPr>
          <p:cNvPr id="5" name="close-rule">
            <a:extLst xmlns:a="http://schemas.openxmlformats.org/drawingml/2006/main">
              <a:ext uri="{FF2B5EF4-FFF2-40B4-BE49-F238E27FC236}">
                <a16:creationId xmlns:a16="http://schemas.microsoft.com/office/drawing/2014/main" id="{E2FE5011-877E-4744-AE61-F52C1A31495C}"/>
              </a:ext>
            </a:extLst>
          </p:cNvPr>
          <p:cNvSpPr>
            <a:spLocks xmlns:a="http://schemas.openxmlformats.org/drawingml/2006/main" noGrp="1"/>
          </p:cNvSpPr>
          <p:nvPr/>
        </p:nvSpPr>
        <p:spPr>
          <a:xfrm xmlns:a="http://schemas.openxmlformats.org/drawingml/2006/main">
            <a:off x="640080" y="5257800"/>
            <a:ext cx="10911535" cy="0"/>
          </a:xfrm>
          <a:prstGeom xmlns:a="http://schemas.openxmlformats.org/drawingml/2006/main" prst="line">
            <a:avLst/>
          </a:prstGeom>
          <a:noFill xmlns:a="http://schemas.openxmlformats.org/drawingml/2006/main"/>
          <a:ln xmlns:a="http://schemas.openxmlformats.org/drawingml/2006/main" w="9525">
            <a:solidFill>
              <a:srgbClr val="2E3F4E"/>
            </a:solidFill>
            <a:prstDash val="solid"/>
          </a:ln>
        </p:spPr>
      </p:sp>
      <p:sp>
        <p:nvSpPr>
          <p:cNvPr id="6" name="Text 3">
            <a:extLst xmlns:a="http://schemas.openxmlformats.org/drawingml/2006/main">
              <a:ext uri="{FF2B5EF4-FFF2-40B4-BE49-F238E27FC236}">
                <a16:creationId xmlns:a16="http://schemas.microsoft.com/office/drawing/2014/main" id="{1F428687-063C-4D71-9DD7-027E2F90BABC}"/>
              </a:ext>
            </a:extLst>
          </p:cNvPr>
          <p:cNvSpPr>
            <a:spLocks xmlns:a="http://schemas.openxmlformats.org/drawingml/2006/main" noGrp="1"/>
          </p:cNvSpPr>
          <p:nvPr/>
        </p:nvSpPr>
        <p:spPr>
          <a:xfrm xmlns:a="http://schemas.openxmlformats.org/drawingml/2006/main">
            <a:off x="640080" y="5440680"/>
            <a:ext cx="10515600" cy="685800"/>
          </a:xfrm>
          <a:prstGeom xmlns:a="http://schemas.openxmlformats.org/drawingml/2006/main" prst="rect">
            <a:avLst/>
          </a:prstGeom>
          <a:noFill xmlns:a="http://schemas.openxmlformats.org/drawingml/2006/main"/>
        </p:spPr>
        <p:txBody>
          <a:bodyPr xmlns:a="http://schemas.openxmlformats.org/drawingml/2006/main" wrap="square" lIns="0" tIns="0" rIns="0" bIns="0" anchor="t"/>
          <a:lstStyle xmlns:a="http://schemas.openxmlformats.org/drawingml/2006/main"/>
          <a:p xmlns:a="http://schemas.openxmlformats.org/drawingml/2006/main">
            <a:pPr marL="0" indent="0">
              <a:lnSpc>
                <a:spcPct val="120000"/>
              </a:lnSpc>
              <a:buNone/>
            </a:pPr>
            <a:r>
              <a:rPr sz="1400">
                <a:solidFill>
                  <a:srgbClr val="A6B1BC"/>
                </a:solidFill>
                <a:latin typeface="Arial"/>
                <a:ea typeface="Arial"/>
                <a:cs typeface="Arial"/>
              </a:rPr>
              <a:t>Code and documentation: github.com/erkinovvv/keel</a:t>
            </a:r>
            <a:endParaRPr sz="1400"/>
          </a:p>
          <a:p xmlns:a="http://schemas.openxmlformats.org/drawingml/2006/main">
            <a:pPr marL="0" indent="0">
              <a:lnSpc>
                <a:spcPct val="120000"/>
              </a:lnSpc>
              <a:buNone/>
            </a:pPr>
            <a:r>
              <a:rPr sz="1400">
                <a:solidFill>
                  <a:srgbClr val="A6B1BC"/>
                </a:solidFill>
                <a:latin typeface="Arial"/>
                <a:ea typeface="Arial"/>
                <a:cs typeface="Arial"/>
              </a:rPr>
              <a:t>Team Keel   Westminster International University in Tashkent</a:t>
            </a:r>
          </a:p>
        </p:txBody>
      </p:sp>
      <p:sp>
        <p:nvSpPr>
          <p:cNvPr id="25" name="Slide Number Placeholder 0">
            <a:extLst xmlns:a="http://schemas.openxmlformats.org/drawingml/2006/main">
              <a:ext uri="{FF2B5EF4-FFF2-40B4-BE49-F238E27FC236}">
                <a16:creationId xmlns:a16="http://schemas.microsoft.com/office/drawing/2014/main" id="{BEDCCDC5-37AD-4D67-8EF1-612362AFE85A}"/>
              </a:ext>
            </a:extLst>
          </p:cNvPr>
          <p:cNvSpPr>
            <a:spLocks xmlns:a="http://schemas.openxmlformats.org/drawingml/2006/main" noGrp="1"/>
          </p:cNvSpPr>
          <p:nvPr>
            <p:ph type="sldNum" idx="4294967295"/>
          </p:nvPr>
        </p:nvSpPr>
        <p:spPr>
          <a:xfrm xmlns:a="http://schemas.openxmlformats.org/drawingml/2006/main">
            <a:off x="11002975" y="6419088"/>
            <a:ext cx="548640" cy="256032"/>
          </a:xfrm>
          <a:prstGeom xmlns:a="http://schemas.openxmlformats.org/drawingml/2006/main" prst="rect">
            <a:avLst/>
          </a:prstGeom>
        </p:spPr>
        <p:txBody>
          <a:bodyPr xmlns:a="http://schemas.openxmlformats.org/drawingml/2006/main"/>
          <a:lstStyle xmlns:a="http://schemas.openxmlformats.org/drawingml/2006/main">
            <a:lvl1pPr>
              <a:buNone/>
              <a:defRPr sz="950">
                <a:solidFill>
                  <a:srgbClr val="A6B1BC"/>
                </a:solidFill>
              </a:defRPr>
            </a:lvl1pPr>
          </a:lstStyle>
          <a:p xmlns:a="http://schemas.openxmlformats.org/drawingml/2006/main">
            <a:pPr algn="r">
              <a:buNone/>
            </a:pPr>
            <a:fld id="{F7021451-1387-4CA6-816F-3879F97B5CBC}" type="slidenum">
              <a:rPr b="0"/>
              <a:t>12</a:t>
            </a:fld>
            <a:endParaRPr/>
          </a:p>
        </p:txBody>
      </p:sp>
    </p:spTree>
    <p:extLst>
      <p:ext uri="{BB962C8B-B14F-4D97-AF65-F5344CB8AC3E}">
        <p14:creationId xmlns:p14="http://schemas.microsoft.com/office/powerpoint/2010/main" val="639351078"/>
      </p:ext>
    </p:extLst>
  </p:cSld>
</p:sld>
</file>

<file path=ppt/theme/theme1.xml><?xml version="1.0" encoding="utf-8"?>
<a:theme xmlns:a="http://schemas.openxmlformats.org/drawingml/2006/main" name="Keel">
  <a:themeElements>
    <a:clrScheme name="Keel">
      <a:dk1>
        <a:srgbClr val="0F1B26"/>
      </a:dk1>
      <a:lt1>
        <a:srgbClr val="FFFFFF"/>
      </a:lt1>
      <a:dk2>
        <a:srgbClr val="0A1016"/>
      </a:dk2>
      <a:lt2>
        <a:srgbClr val="F5F6F7"/>
      </a:lt2>
      <a:accent1>
        <a:srgbClr val="23476B"/>
      </a:accent1>
      <a:accent2>
        <a:srgbClr val="8A6420"/>
      </a:accent2>
      <a:accent3>
        <a:srgbClr val="0F9A8C"/>
      </a:accent3>
      <a:accent4>
        <a:srgbClr val="C9623A"/>
      </a:accent4>
      <a:accent5>
        <a:srgbClr val="5A6773"/>
      </a:accent5>
      <a:accent6>
        <a:srgbClr val="C9A45C"/>
      </a:accent6>
      <a:hlink>
        <a:srgbClr val="23476B"/>
      </a:hlink>
      <a:folHlink>
        <a:srgbClr val="6E4F16"/>
      </a:folHlink>
    </a:clrScheme>
    <a:fontScheme name="Keel">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Keel">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2026-10-15T18:28:56.3100000Z</dcterms:created>
  <dcterms:modified xsi:type="dcterms:W3CDTF">2026-10-15T18:28:56.3100000Z</dcterms:modified>
</coreProperties>
</file>