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811f60ca-93eb-6357-3099-25bacc7e298c}">
          <p14:sldIdLst>
            <p14:sldId id="256"/>
            <p14:sldId id="257"/>
          </p14:sldIdLst>
        </p14:section>
        <p14:section name="Keel" id="{088f20d2-fdfb-898f-74d0-c7d71e011560}">
          <p14:sldIdLst>
            <p14:sldId id="258"/>
            <p14:sldId id="259"/>
            <p14:sldId id="260"/>
          </p14:sldIdLst>
        </p14:section>
        <p14:section name="Proof" id="{daa3406c-36f9-ad4d-25a0-876ba57f1f5d}">
          <p14:sldIdLst>
            <p14:sldId id="261"/>
            <p14:sldId id="262"/>
            <p14:sldId id="263"/>
          </p14:sldIdLst>
        </p14:section>
        <p14:section name="Results and fit" id="{245c2944-443e-6e83-5ec7-edfb7422ce92}">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[names] from Westminster International University in Tashkent. Our project for Topic B is Keel, an AI wealth advisor. It does two things differently: before a client invests, it lets them live through a market crash with the exact portfolio it recommends; and every number it shows can be traced to the code that computed it. In the next nine minutes we show how, and why it matters to a bank like WeBank.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First, risk questionnaires are easy to game: clients choose the answers that unlock the product they want, then panic-sell in the first crash. Second, language-model advisors invent numbers and can be jailbroken. Third, everyone says their advice is explainable, but nobody can verify a recommendation after the fact. Topic B asks for compliant and explainable advice. We made both claims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core insight. What clients say about risk in a questionnaire is not what they do in a crash. So before any money moves, Keel has the client live through 2008 with the exact portfolio it is about to recommend, month by month, and lets them press Sell at any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Keel follows the five steps a licensed advisor follows: risk profile, portfolio, a crash rehearsal, goal planning and investing. The client can do it in conversation, in English or Chinese, or with a two-minute questionnaire; both fill the same client file. Every underlined number opens its source: which function computed it and which audit record holds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rehearsal. The screen goes dark; the client's own portfolio moves month by month on real data, the headlines of the time appear, and the Sell button always shows the loss it would lock in. In one of our recorded evidence sessions, a client who said they would buy more in a crash sold in September 2008, 12.5 percent below the peak. Holding would have ended at 133,266 on 100,000; selling ended at 89,601. Keel lowered the class from C5 to C3 and refused the old portfolio. Behaviour can only make the advice safer, never riskier.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design rule: the model talks, code decides. The language model handles the conversation. Every figure, the risk class, suitability, limits and the order path live in deterministic server code the model cannot reach. Every number in the interface links to the function that computed it. An output guard checks each number in a reply against the session's tool results. And every decision goes into a hash-chained audit log whose head we write to a smart contract on WeBank's FISCO BCOS; change one record and verification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products are 24 real Chinese public mutual funds: money market, bond and balanced funds, CSI 300 and 500, Hang Seng, S&amp;P 500, Nasdaq-100, gold and US real estate, the kind of products a digital bank distributes. Risk levels R1 to R5 come from the distributor labels, fees are the real fees, and volatility comes from ten years of NAV history. The table shows the resulting ladder, from 1.1 percent a year for C1 to 8 percent for C5, each with its worst historical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thirty percent of the score, so we enforce it in code, not in prompts. There are four permission tiers, and every session starts at Advise. Trading needs a signed risk disclosure, and every order needs a one-time token that only the person holding the confirm button receives; the model has no tool that can obtain one. Personal data is masked before any model call. Our red-team suite stops all 57 attacks, in five languages, and still answers all 8 harmless control requests normally.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measured. Twenty-nine of thirty scripted clients completed the whole journey on a live model. All 57 red-team attacks were stopped. 129 automated tests run offline in continuous integration. And a backtest from 2008 to 2026: every risk class stayed inside its volatility band, yet every one fell further than that number suggests; C5 lost 34 percent in 2008. That is exactly why Keel enforces the client's own loss limit and makes them rehearse the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in one picture. The language model sits outside the decision path: it can only talk and request tools. Every message passes an input guard that masks personal data and catches injection, then a bounded agent loop that only sees the tools valid for the current stage, then an output guard that refuses numbers no tool produced. Numbers come from the deterministic engine; money moves only through client actions with a one-time token; and everything lands in an audit log anchored on FISCO BCOS.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fits WeBank. The audit records already go to FISCO BCOS, the chain WeBank built. Next comes FATE: Crash Rehearsal produces a new signal, revealed risk tolerance, and banks could learn to predict it from questionnaire answers with federated learning, without pooling client data. The products are real public funds like those a digital bank distributes, and the whole interface is bilingual.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Keel: advice you can check. We rehearse the crash before the client invests, every number is grounded in audited code, only the client can move money, and the record lives on chain. Thank you; we are happy to take questions and to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640080" y="6355080"/>
            <a:ext cx="10911535" cy="0"/>
          </a:xfrm>
          <a:prstGeom prst="line">
            <a:avLst/>
          </a:prstGeom>
          <a:noFill/>
          <a:ln w="9525">
            <a:solidFill>
              <a:srgbClr val="DDE2E7"/>
            </a:solidFill>
            <a:prstDash val="solid"/>
          </a:ln>
        </p:spPr>
      </p:sp>
      <p:sp>
        <p:nvSpPr>
          <p:cNvPr id="3" name="Text 1"/>
          <p:cNvSpPr/>
          <p:nvPr/>
        </p:nvSpPr>
        <p:spPr>
          <a:xfrm>
            <a:off x="640080" y="6419088"/>
            <a:ext cx="7315200" cy="256032"/>
          </a:xfrm>
          <a:prstGeom prst="rect">
            <a:avLst/>
          </a:prstGeom>
          <a:noFill/>
          <a:ln/>
        </p:spPr>
        <p:txBody>
          <a:bodyPr wrap="square" lIns="0" tIns="0" rIns="0" bIns="0" rtlCol="0" anchor="ctr"/>
          <a:lstStyle/>
          <a:p>
            <a:pPr indent="0" marL="0">
              <a:buNone/>
            </a:pPr>
            <a:r>
              <a:rPr lang="en-US" sz="950" dirty="0">
                <a:solidFill>
                  <a:schemeClr val="accent5"/>
                </a:solidFill>
              </a:rPr>
              <a:t>Keel   FinTechathon 2026, International Track, Topic B</a:t>
            </a:r>
            <a:endParaRPr lang="en-US" sz="950" dirty="0"/>
          </a:p>
        </p:txBody>
      </p:sp>
      <p:sp>
        <p:nvSpPr>
          <p:cNvPr id="4" name="Text 2"/>
          <p:cNvSpPr/>
          <p:nvPr>
            <p:ph idx="102" type="title" hasCustomPrompt="1"/>
          </p:nvPr>
        </p:nvSpPr>
        <p:spPr>
          <a:xfrm>
            <a:off x="640080" y="457200"/>
            <a:ext cx="10911535" cy="73152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A6B1B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Keel logo">    </p:cNvPr>
          <p:cNvPicPr>
            <a:picLocks noChangeAspect="1"/>
          </p:cNvPicPr>
          <p:nvPr/>
        </p:nvPicPr>
        <p:blipFill>
          <a:blip r:embed="rId1"/>
          <a:stretch>
            <a:fillRect/>
          </a:stretch>
        </p:blipFill>
        <p:spPr>
          <a:xfrm>
            <a:off x="640080" y="640080"/>
            <a:ext cx="457200" cy="457200"/>
          </a:xfrm>
          <a:prstGeom prst="rect">
            <a:avLst/>
          </a:prstGeom>
        </p:spPr>
      </p:pic>
      <p:sp>
        <p:nvSpPr>
          <p:cNvPr id="3" name="Text 0"/>
          <p:cNvSpPr txBox="1"/>
          <p:nvPr/>
        </p:nvSpPr>
        <p:spPr>
          <a:xfrm>
            <a:off x="1261872" y="640080"/>
            <a:ext cx="2743200" cy="45720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Keel</a:t>
            </a:r>
            <a:endParaRPr lang="en-US" sz="2200" dirty="0"/>
          </a:p>
        </p:txBody>
      </p:sp>
      <p:sp>
        <p:nvSpPr>
          <p:cNvPr id="4" name="Text 1"/>
          <p:cNvSpPr txBox="1"/>
          <p:nvPr/>
        </p:nvSpPr>
        <p:spPr>
          <a:xfrm>
            <a:off x="640080" y="1920240"/>
            <a:ext cx="10241280" cy="2194560"/>
          </a:xfrm>
          <a:prstGeom prst="rect">
            <a:avLst/>
          </a:prstGeom>
          <a:noFill/>
          <a:ln/>
        </p:spPr>
        <p:txBody>
          <a:bodyPr wrap="square" lIns="0" tIns="0" rIns="0" bIns="0" rtlCol="0" anchor="b"/>
          <a:lstStyle/>
          <a:p>
            <a:pPr indent="0" marL="0">
              <a:lnSpc>
                <a:spcPct val="95000"/>
              </a:lnSpc>
              <a:buNone/>
            </a:pPr>
            <a:r>
              <a:rPr lang="en-US" sz="4400" b="1" dirty="0">
                <a:solidFill>
                  <a:schemeClr val="bg1"/>
                </a:solidFill>
                <a:latin typeface="Arial" pitchFamily="34" charset="0"/>
                <a:ea typeface="Arial" pitchFamily="34" charset="-122"/>
                <a:cs typeface="Arial" pitchFamily="34" charset="-120"/>
              </a:rPr>
              <a:t>An AI wealth advisor that lets clients live through a crash before they invest, and can prove every number it shows.</a:t>
            </a:r>
            <a:endParaRPr lang="en-US" sz="4400" dirty="0"/>
          </a:p>
        </p:txBody>
      </p:sp>
      <p:sp>
        <p:nvSpPr>
          <p:cNvPr id="5" name="cover-rule"/>
          <p:cNvSpPr/>
          <p:nvPr/>
        </p:nvSpPr>
        <p:spPr>
          <a:xfrm>
            <a:off x="640080" y="5257800"/>
            <a:ext cx="10911535" cy="0"/>
          </a:xfrm>
          <a:prstGeom prst="line">
            <a:avLst/>
          </a:prstGeom>
          <a:noFill/>
          <a:ln w="9525">
            <a:solidFill>
              <a:srgbClr val="2E3F4E"/>
            </a:solidFill>
            <a:prstDash val="solid"/>
          </a:ln>
        </p:spPr>
      </p:sp>
      <p:sp>
        <p:nvSpPr>
          <p:cNvPr id="6" name="Text 3"/>
          <p:cNvSpPr txBox="1"/>
          <p:nvPr/>
        </p:nvSpPr>
        <p:spPr>
          <a:xfrm>
            <a:off x="640080" y="5440680"/>
            <a:ext cx="10515600" cy="685800"/>
          </a:xfrm>
          <a:prstGeom prst="rect">
            <a:avLst/>
          </a:prstGeom>
          <a:noFill/>
          <a:ln/>
        </p:spPr>
        <p:txBody>
          <a:bodyPr wrap="square" lIns="0" tIns="0" rIns="0" bIns="0" rtlCol="0" anchor="t"/>
          <a:lstStyle/>
          <a:p>
            <a:pPr indent="0" marL="0">
              <a:lnSpc>
                <a:spcPct val="120000"/>
              </a:lnSpc>
              <a:buNone/>
            </a:pPr>
            <a:r>
              <a:rPr lang="en-US" sz="1400" dirty="0">
                <a:solidFill>
                  <a:srgbClr val="A6B1BC"/>
                </a:solidFill>
                <a:latin typeface="Arial" pitchFamily="34" charset="0"/>
                <a:ea typeface="Arial" pitchFamily="34" charset="-122"/>
                <a:cs typeface="Arial" pitchFamily="34" charset="-120"/>
              </a:rPr>
              <a:t>2026 Shenzhen International FinTech Competition, International Track, Topic B: Wealth Advisory Agent</a:t>
            </a:r>
            <a:endParaRPr lang="en-US" sz="1400" dirty="0"/>
          </a:p>
          <a:p>
            <a:pPr indent="0" marL="0">
              <a:lnSpc>
                <a:spcPct val="120000"/>
              </a:lnSpc>
              <a:buNone/>
            </a:pPr>
            <a:r>
              <a:rPr lang="en-US" sz="1400" dirty="0">
                <a:solidFill>
                  <a:srgbClr val="A6B1BC"/>
                </a:solidFill>
                <a:latin typeface="Arial" pitchFamily="34" charset="0"/>
                <a:ea typeface="Arial" pitchFamily="34" charset="-122"/>
                <a:cs typeface="Arial" pitchFamily="34" charset="-120"/>
              </a:rPr>
              <a:t>[Name 1], [Name 2]   Westminster International University in Tashkent</a:t>
            </a:r>
            <a:endParaRPr lang="en-US" sz="14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A6B1BC"/>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Advice fails at the moment it matters</a:t>
            </a:r>
            <a:endParaRPr lang="en-US" sz="3000" dirty="0"/>
          </a:p>
        </p:txBody>
      </p:sp>
      <p:sp>
        <p:nvSpPr>
          <p:cNvPr id="3" name="Text 1"/>
          <p:cNvSpPr txBox="1"/>
          <p:nvPr/>
        </p:nvSpPr>
        <p:spPr>
          <a:xfrm>
            <a:off x="640080" y="1600200"/>
            <a:ext cx="2905658" cy="365760"/>
          </a:xfrm>
          <a:prstGeom prst="rect">
            <a:avLst/>
          </a:prstGeom>
          <a:noFill/>
          <a:ln/>
        </p:spPr>
        <p:txBody>
          <a:bodyPr wrap="square" lIns="0" tIns="0" rIns="0" bIns="0" rtlCol="0" anchor="t"/>
          <a:lstStyle/>
          <a:p>
            <a:pPr indent="0" marL="0">
              <a:buNone/>
            </a:pPr>
            <a:r>
              <a:rPr lang="en-US" sz="1400" b="1" dirty="0">
                <a:solidFill>
                  <a:schemeClr val="accent2"/>
                </a:solidFill>
                <a:latin typeface="Arial" pitchFamily="34" charset="0"/>
                <a:ea typeface="Arial" pitchFamily="34" charset="-122"/>
                <a:cs typeface="Arial" pitchFamily="34" charset="-120"/>
              </a:rPr>
              <a:t>Questionnaires</a:t>
            </a:r>
            <a:endParaRPr lang="en-US" sz="1400" dirty="0"/>
          </a:p>
        </p:txBody>
      </p:sp>
      <p:sp>
        <p:nvSpPr>
          <p:cNvPr id="4" name="Text 2"/>
          <p:cNvSpPr txBox="1"/>
          <p:nvPr/>
        </p:nvSpPr>
        <p:spPr>
          <a:xfrm>
            <a:off x="640080" y="2103120"/>
            <a:ext cx="2905658" cy="1737360"/>
          </a:xfrm>
          <a:prstGeom prst="rect">
            <a:avLst/>
          </a:prstGeom>
          <a:noFill/>
          <a:ln/>
        </p:spPr>
        <p:txBody>
          <a:bodyPr wrap="square" lIns="0" tIns="0" rIns="0" bIns="0" rtlCol="0" anchor="t"/>
          <a:lstStyle/>
          <a:p>
            <a:pPr indent="0" marL="0">
              <a:lnSpc>
                <a:spcPct val="100000"/>
              </a:lnSpc>
              <a:buNone/>
            </a:pPr>
            <a:r>
              <a:rPr lang="en-US" sz="2400" b="1" dirty="0">
                <a:solidFill>
                  <a:schemeClr val="tx1"/>
                </a:solidFill>
                <a:latin typeface="Arial" pitchFamily="34" charset="0"/>
                <a:ea typeface="Arial" pitchFamily="34" charset="-122"/>
                <a:cs typeface="Arial" pitchFamily="34" charset="-120"/>
              </a:rPr>
              <a:t>Clients pick the answers that unlock the product they want.</a:t>
            </a:r>
            <a:endParaRPr lang="en-US" sz="2400" dirty="0"/>
          </a:p>
        </p:txBody>
      </p:sp>
      <p:sp>
        <p:nvSpPr>
          <p:cNvPr id="5" name="Text 3"/>
          <p:cNvSpPr txBox="1"/>
          <p:nvPr/>
        </p:nvSpPr>
        <p:spPr>
          <a:xfrm>
            <a:off x="640080" y="3977640"/>
            <a:ext cx="2905658" cy="1463040"/>
          </a:xfrm>
          <a:prstGeom prst="rect">
            <a:avLst/>
          </a:prstGeom>
          <a:noFill/>
          <a:ln/>
        </p:spPr>
        <p:txBody>
          <a:bodyPr wrap="square" lIns="0" tIns="0" rIns="0" bIns="0" rtlCol="0" anchor="t"/>
          <a:lstStyle/>
          <a:p>
            <a:pPr indent="0" marL="0">
              <a:buNone/>
            </a:pPr>
            <a:r>
              <a:rPr lang="en-US" sz="1600" dirty="0">
                <a:solidFill>
                  <a:schemeClr val="accent5"/>
                </a:solidFill>
                <a:latin typeface="Arial" pitchFamily="34" charset="0"/>
                <a:ea typeface="Arial" pitchFamily="34" charset="-122"/>
                <a:cs typeface="Arial" pitchFamily="34" charset="-120"/>
              </a:rPr>
              <a:t>Then they sell at the bottom of the first crash and lose money they would have kept by holding.</a:t>
            </a:r>
            <a:endParaRPr lang="en-US" sz="1600" dirty="0"/>
          </a:p>
        </p:txBody>
      </p:sp>
      <p:sp>
        <p:nvSpPr>
          <p:cNvPr id="6" name="problem-divider-1"/>
          <p:cNvSpPr/>
          <p:nvPr/>
        </p:nvSpPr>
        <p:spPr>
          <a:xfrm>
            <a:off x="4277258" y="1600200"/>
            <a:ext cx="0" cy="3931920"/>
          </a:xfrm>
          <a:prstGeom prst="line">
            <a:avLst/>
          </a:prstGeom>
          <a:noFill/>
          <a:ln w="9525">
            <a:solidFill>
              <a:srgbClr val="DDE2E7"/>
            </a:solidFill>
            <a:prstDash val="solid"/>
          </a:ln>
        </p:spPr>
      </p:sp>
      <p:sp>
        <p:nvSpPr>
          <p:cNvPr id="7" name="Text 5"/>
          <p:cNvSpPr txBox="1"/>
          <p:nvPr/>
        </p:nvSpPr>
        <p:spPr>
          <a:xfrm>
            <a:off x="4643018" y="1600200"/>
            <a:ext cx="2905658" cy="365760"/>
          </a:xfrm>
          <a:prstGeom prst="rect">
            <a:avLst/>
          </a:prstGeom>
          <a:noFill/>
          <a:ln/>
        </p:spPr>
        <p:txBody>
          <a:bodyPr wrap="square" lIns="0" tIns="0" rIns="0" bIns="0" rtlCol="0" anchor="t"/>
          <a:lstStyle/>
          <a:p>
            <a:pPr indent="0" marL="0">
              <a:buNone/>
            </a:pPr>
            <a:r>
              <a:rPr lang="en-US" sz="1400" b="1" dirty="0">
                <a:solidFill>
                  <a:schemeClr val="accent2"/>
                </a:solidFill>
                <a:latin typeface="Arial" pitchFamily="34" charset="0"/>
                <a:ea typeface="Arial" pitchFamily="34" charset="-122"/>
                <a:cs typeface="Arial" pitchFamily="34" charset="-120"/>
              </a:rPr>
              <a:t>AI advisors</a:t>
            </a:r>
            <a:endParaRPr lang="en-US" sz="1400" dirty="0"/>
          </a:p>
        </p:txBody>
      </p:sp>
      <p:sp>
        <p:nvSpPr>
          <p:cNvPr id="8" name="Text 6"/>
          <p:cNvSpPr txBox="1"/>
          <p:nvPr/>
        </p:nvSpPr>
        <p:spPr>
          <a:xfrm>
            <a:off x="4643018" y="2103120"/>
            <a:ext cx="2905658" cy="1737360"/>
          </a:xfrm>
          <a:prstGeom prst="rect">
            <a:avLst/>
          </a:prstGeom>
          <a:noFill/>
          <a:ln/>
        </p:spPr>
        <p:txBody>
          <a:bodyPr wrap="square" lIns="0" tIns="0" rIns="0" bIns="0" rtlCol="0" anchor="t"/>
          <a:lstStyle/>
          <a:p>
            <a:pPr indent="0" marL="0">
              <a:lnSpc>
                <a:spcPct val="100000"/>
              </a:lnSpc>
              <a:buNone/>
            </a:pPr>
            <a:r>
              <a:rPr lang="en-US" sz="2400" b="1" dirty="0">
                <a:solidFill>
                  <a:schemeClr val="tx1"/>
                </a:solidFill>
                <a:latin typeface="Arial" pitchFamily="34" charset="0"/>
                <a:ea typeface="Arial" pitchFamily="34" charset="-122"/>
                <a:cs typeface="Arial" pitchFamily="34" charset="-120"/>
              </a:rPr>
              <a:t>Language models invent figures and can be talked into anything.</a:t>
            </a:r>
            <a:endParaRPr lang="en-US" sz="2400" dirty="0"/>
          </a:p>
        </p:txBody>
      </p:sp>
      <p:sp>
        <p:nvSpPr>
          <p:cNvPr id="9" name="Text 7"/>
          <p:cNvSpPr txBox="1"/>
          <p:nvPr/>
        </p:nvSpPr>
        <p:spPr>
          <a:xfrm>
            <a:off x="4643018" y="3977640"/>
            <a:ext cx="2905658" cy="1463040"/>
          </a:xfrm>
          <a:prstGeom prst="rect">
            <a:avLst/>
          </a:prstGeom>
          <a:noFill/>
          <a:ln/>
        </p:spPr>
        <p:txBody>
          <a:bodyPr wrap="square" lIns="0" tIns="0" rIns="0" bIns="0" rtlCol="0" anchor="t"/>
          <a:lstStyle/>
          <a:p>
            <a:pPr indent="0" marL="0">
              <a:buNone/>
            </a:pPr>
            <a:r>
              <a:rPr lang="en-US" sz="1600" dirty="0">
                <a:solidFill>
                  <a:schemeClr val="accent5"/>
                </a:solidFill>
                <a:latin typeface="Arial" pitchFamily="34" charset="0"/>
                <a:ea typeface="Arial" pitchFamily="34" charset="-122"/>
                <a:cs typeface="Arial" pitchFamily="34" charset="-120"/>
              </a:rPr>
              <a:t>One confident but wrong return estimate is a compliance incident, not a typo.</a:t>
            </a:r>
            <a:endParaRPr lang="en-US" sz="1600" dirty="0"/>
          </a:p>
        </p:txBody>
      </p:sp>
      <p:sp>
        <p:nvSpPr>
          <p:cNvPr id="10" name="problem-divider-2"/>
          <p:cNvSpPr/>
          <p:nvPr/>
        </p:nvSpPr>
        <p:spPr>
          <a:xfrm>
            <a:off x="7914437" y="1600200"/>
            <a:ext cx="0" cy="3931920"/>
          </a:xfrm>
          <a:prstGeom prst="line">
            <a:avLst/>
          </a:prstGeom>
          <a:noFill/>
          <a:ln w="9525">
            <a:solidFill>
              <a:srgbClr val="DDE2E7"/>
            </a:solidFill>
            <a:prstDash val="solid"/>
          </a:ln>
        </p:spPr>
      </p:sp>
      <p:sp>
        <p:nvSpPr>
          <p:cNvPr id="11" name="Text 9"/>
          <p:cNvSpPr txBox="1"/>
          <p:nvPr/>
        </p:nvSpPr>
        <p:spPr>
          <a:xfrm>
            <a:off x="8280197" y="1600200"/>
            <a:ext cx="2905658" cy="365760"/>
          </a:xfrm>
          <a:prstGeom prst="rect">
            <a:avLst/>
          </a:prstGeom>
          <a:noFill/>
          <a:ln/>
        </p:spPr>
        <p:txBody>
          <a:bodyPr wrap="square" lIns="0" tIns="0" rIns="0" bIns="0" rtlCol="0" anchor="t"/>
          <a:lstStyle/>
          <a:p>
            <a:pPr indent="0" marL="0">
              <a:buNone/>
            </a:pPr>
            <a:r>
              <a:rPr lang="en-US" sz="1400" b="1" dirty="0">
                <a:solidFill>
                  <a:schemeClr val="accent2"/>
                </a:solidFill>
                <a:latin typeface="Arial" pitchFamily="34" charset="0"/>
                <a:ea typeface="Arial" pitchFamily="34" charset="-122"/>
                <a:cs typeface="Arial" pitchFamily="34" charset="-120"/>
              </a:rPr>
              <a:t>Explainability</a:t>
            </a:r>
            <a:endParaRPr lang="en-US" sz="1400" dirty="0"/>
          </a:p>
        </p:txBody>
      </p:sp>
      <p:sp>
        <p:nvSpPr>
          <p:cNvPr id="12" name="Text 10"/>
          <p:cNvSpPr txBox="1"/>
          <p:nvPr/>
        </p:nvSpPr>
        <p:spPr>
          <a:xfrm>
            <a:off x="8280197" y="2103120"/>
            <a:ext cx="2905658" cy="1737360"/>
          </a:xfrm>
          <a:prstGeom prst="rect">
            <a:avLst/>
          </a:prstGeom>
          <a:noFill/>
          <a:ln/>
        </p:spPr>
        <p:txBody>
          <a:bodyPr wrap="square" lIns="0" tIns="0" rIns="0" bIns="0" rtlCol="0" anchor="t"/>
          <a:lstStyle/>
          <a:p>
            <a:pPr indent="0" marL="0">
              <a:lnSpc>
                <a:spcPct val="100000"/>
              </a:lnSpc>
              <a:buNone/>
            </a:pPr>
            <a:r>
              <a:rPr lang="en-US" sz="2400" b="1" dirty="0">
                <a:solidFill>
                  <a:schemeClr val="tx1"/>
                </a:solidFill>
                <a:latin typeface="Arial" pitchFamily="34" charset="0"/>
                <a:ea typeface="Arial" pitchFamily="34" charset="-122"/>
                <a:cs typeface="Arial" pitchFamily="34" charset="-120"/>
              </a:rPr>
              <a:t>Every product claims it. Nobody can check it afterwards.</a:t>
            </a:r>
            <a:endParaRPr lang="en-US" sz="2400" dirty="0"/>
          </a:p>
        </p:txBody>
      </p:sp>
      <p:sp>
        <p:nvSpPr>
          <p:cNvPr id="13" name="Text 11"/>
          <p:cNvSpPr txBox="1"/>
          <p:nvPr/>
        </p:nvSpPr>
        <p:spPr>
          <a:xfrm>
            <a:off x="8280197" y="3977640"/>
            <a:ext cx="2905658" cy="1463040"/>
          </a:xfrm>
          <a:prstGeom prst="rect">
            <a:avLst/>
          </a:prstGeom>
          <a:noFill/>
          <a:ln/>
        </p:spPr>
        <p:txBody>
          <a:bodyPr wrap="square" lIns="0" tIns="0" rIns="0" bIns="0" rtlCol="0" anchor="t"/>
          <a:lstStyle/>
          <a:p>
            <a:pPr indent="0" marL="0">
              <a:buNone/>
            </a:pPr>
            <a:r>
              <a:rPr lang="en-US" sz="1600" dirty="0">
                <a:solidFill>
                  <a:schemeClr val="accent5"/>
                </a:solidFill>
                <a:latin typeface="Arial" pitchFamily="34" charset="0"/>
                <a:ea typeface="Arial" pitchFamily="34" charset="-122"/>
                <a:cs typeface="Arial" pitchFamily="34" charset="-120"/>
              </a:rPr>
              <a:t>Regulators, auditors and clients need evidence they can verify themselves.</a:t>
            </a:r>
            <a:endParaRPr lang="en-US" sz="1600" dirty="0"/>
          </a:p>
        </p:txBody>
      </p:sp>
      <p:sp>
        <p:nvSpPr>
          <p:cNvPr id="14" name="problem-rule"/>
          <p:cNvSpPr/>
          <p:nvPr/>
        </p:nvSpPr>
        <p:spPr>
          <a:xfrm>
            <a:off x="640080" y="5715000"/>
            <a:ext cx="10911535" cy="0"/>
          </a:xfrm>
          <a:prstGeom prst="line">
            <a:avLst/>
          </a:prstGeom>
          <a:noFill/>
          <a:ln w="9525">
            <a:solidFill>
              <a:srgbClr val="C5CDD5"/>
            </a:solidFill>
            <a:prstDash val="solid"/>
          </a:ln>
        </p:spPr>
      </p:sp>
      <p:sp>
        <p:nvSpPr>
          <p:cNvPr id="15" name="Text 13"/>
          <p:cNvSpPr txBox="1"/>
          <p:nvPr/>
        </p:nvSpPr>
        <p:spPr>
          <a:xfrm>
            <a:off x="640080" y="5833872"/>
            <a:ext cx="10911535" cy="36576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Topic B asks for compliant and explainable allocation advice. Keel makes both claims checkable.</a:t>
            </a:r>
            <a:endParaRPr lang="en-US" sz="16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1280160"/>
            <a:ext cx="10607040" cy="2651760"/>
          </a:xfrm>
          <a:prstGeom prst="rect">
            <a:avLst/>
          </a:prstGeom>
          <a:noFill/>
          <a:ln/>
        </p:spPr>
        <p:txBody>
          <a:bodyPr wrap="square" lIns="0" tIns="0" rIns="0" bIns="0" rtlCol="0" anchor="b"/>
          <a:lstStyle/>
          <a:p>
            <a:pPr indent="0" marL="0">
              <a:lnSpc>
                <a:spcPct val="95000"/>
              </a:lnSpc>
              <a:buNone/>
            </a:pPr>
            <a:r>
              <a:rPr lang="en-US" sz="5200" b="1" dirty="0">
                <a:solidFill>
                  <a:schemeClr val="bg1"/>
                </a:solidFill>
                <a:latin typeface="Arial" pitchFamily="34" charset="0"/>
                <a:ea typeface="Arial" pitchFamily="34" charset="-122"/>
                <a:cs typeface="Arial" pitchFamily="34" charset="-120"/>
              </a:rPr>
              <a:t>What clients say about risk </a:t>
            </a:r>
            <a:pPr indent="0" marL="0">
              <a:lnSpc>
                <a:spcPct val="95000"/>
              </a:lnSpc>
              <a:buNone/>
            </a:pPr>
            <a:r>
              <a:rPr lang="en-US" sz="5200" b="1" dirty="0">
                <a:solidFill>
                  <a:schemeClr val="accent6"/>
                </a:solidFill>
                <a:latin typeface="Arial" pitchFamily="34" charset="0"/>
                <a:ea typeface="Arial" pitchFamily="34" charset="-122"/>
                <a:cs typeface="Arial" pitchFamily="34" charset="-120"/>
              </a:rPr>
              <a:t>is not what they do in a crash.</a:t>
            </a:r>
            <a:endParaRPr lang="en-US" sz="5200" dirty="0"/>
          </a:p>
        </p:txBody>
      </p:sp>
      <p:sp>
        <p:nvSpPr>
          <p:cNvPr id="3" name="Text 1"/>
          <p:cNvSpPr txBox="1"/>
          <p:nvPr/>
        </p:nvSpPr>
        <p:spPr>
          <a:xfrm>
            <a:off x="640080" y="4343400"/>
            <a:ext cx="9692640" cy="1005840"/>
          </a:xfrm>
          <a:prstGeom prst="rect">
            <a:avLst/>
          </a:prstGeom>
          <a:noFill/>
          <a:ln/>
        </p:spPr>
        <p:txBody>
          <a:bodyPr wrap="square" lIns="0" tIns="0" rIns="0" bIns="0" rtlCol="0" anchor="t"/>
          <a:lstStyle/>
          <a:p>
            <a:pPr indent="0" marL="0">
              <a:buNone/>
            </a:pPr>
            <a:r>
              <a:rPr lang="en-US" sz="2100" dirty="0">
                <a:solidFill>
                  <a:srgbClr val="A6B1BC"/>
                </a:solidFill>
                <a:latin typeface="Arial" pitchFamily="34" charset="0"/>
                <a:ea typeface="Arial" pitchFamily="34" charset="-122"/>
                <a:cs typeface="Arial" pitchFamily="34" charset="-120"/>
              </a:rPr>
              <a:t>So before any money moves, Keel has the client live through 2008 with the exact portfolio it recommends, and lets them press Sell at any moment.</a:t>
            </a:r>
            <a:endParaRPr lang="en-US" sz="21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A6B1B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 licensed advisor's workflow, in five steps</a:t>
            </a:r>
            <a:endParaRPr lang="en-US" sz="3000" dirty="0"/>
          </a:p>
        </p:txBody>
      </p:sp>
      <p:sp>
        <p:nvSpPr>
          <p:cNvPr id="3" name="steps-top"/>
          <p:cNvSpPr/>
          <p:nvPr/>
        </p:nvSpPr>
        <p:spPr>
          <a:xfrm>
            <a:off x="640080" y="1417320"/>
            <a:ext cx="10911535" cy="0"/>
          </a:xfrm>
          <a:prstGeom prst="line">
            <a:avLst/>
          </a:prstGeom>
          <a:noFill/>
          <a:ln w="9525">
            <a:solidFill>
              <a:srgbClr val="C5CDD5"/>
            </a:solidFill>
            <a:prstDash val="solid"/>
          </a:ln>
        </p:spPr>
      </p:sp>
      <p:sp>
        <p:nvSpPr>
          <p:cNvPr id="4" name="Text 2"/>
          <p:cNvSpPr txBox="1"/>
          <p:nvPr/>
        </p:nvSpPr>
        <p:spPr>
          <a:xfrm>
            <a:off x="640080" y="1572768"/>
            <a:ext cx="457200" cy="320040"/>
          </a:xfrm>
          <a:prstGeom prst="rect">
            <a:avLst/>
          </a:prstGeom>
          <a:noFill/>
          <a:ln/>
        </p:spPr>
        <p:txBody>
          <a:bodyPr wrap="square" lIns="0" tIns="0" rIns="0" bIns="0" rtlCol="0" anchor="t"/>
          <a:lstStyle/>
          <a:p>
            <a:pPr indent="0" marL="0">
              <a:buNone/>
            </a:pPr>
            <a:r>
              <a:rPr lang="en-US" sz="1400" b="1" dirty="0">
                <a:solidFill>
                  <a:schemeClr val="accent5"/>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960120" y="1572768"/>
            <a:ext cx="1633667" cy="3200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Risk profile</a:t>
            </a:r>
            <a:endParaRPr lang="en-US" sz="1600" dirty="0"/>
          </a:p>
        </p:txBody>
      </p:sp>
      <p:sp>
        <p:nvSpPr>
          <p:cNvPr id="6" name="Text 4"/>
          <p:cNvSpPr txBox="1"/>
          <p:nvPr/>
        </p:nvSpPr>
        <p:spPr>
          <a:xfrm>
            <a:off x="640080" y="1965960"/>
            <a:ext cx="1862267" cy="548640"/>
          </a:xfrm>
          <a:prstGeom prst="rect">
            <a:avLst/>
          </a:prstGeom>
          <a:noFill/>
          <a:ln/>
        </p:spPr>
        <p:txBody>
          <a:bodyPr wrap="square" lIns="0" tIns="0" rIns="0" bIns="0" rtlCol="0" anchor="t"/>
          <a:lstStyle/>
          <a:p>
            <a:pPr indent="0" marL="0">
              <a:buNone/>
            </a:pPr>
            <a:r>
              <a:rPr lang="en-US" sz="1200" dirty="0">
                <a:solidFill>
                  <a:schemeClr val="accent5"/>
                </a:solidFill>
                <a:latin typeface="Arial" pitchFamily="34" charset="0"/>
                <a:ea typeface="Arial" pitchFamily="34" charset="-122"/>
                <a:cs typeface="Arial" pitchFamily="34" charset="-120"/>
              </a:rPr>
              <a:t>C1 to C5, the lower of loss capacity and risk tolerance</a:t>
            </a:r>
            <a:endParaRPr lang="en-US" sz="1200" dirty="0"/>
          </a:p>
        </p:txBody>
      </p:sp>
      <p:sp>
        <p:nvSpPr>
          <p:cNvPr id="7" name="step-divider-1"/>
          <p:cNvSpPr/>
          <p:nvPr/>
        </p:nvSpPr>
        <p:spPr>
          <a:xfrm>
            <a:off x="2822387" y="1417320"/>
            <a:ext cx="0" cy="1143000"/>
          </a:xfrm>
          <a:prstGeom prst="line">
            <a:avLst/>
          </a:prstGeom>
          <a:noFill/>
          <a:ln w="9525">
            <a:solidFill>
              <a:srgbClr val="DDE2E7"/>
            </a:solidFill>
            <a:prstDash val="solid"/>
          </a:ln>
        </p:spPr>
      </p:sp>
      <p:sp>
        <p:nvSpPr>
          <p:cNvPr id="8" name="Text 6"/>
          <p:cNvSpPr txBox="1"/>
          <p:nvPr/>
        </p:nvSpPr>
        <p:spPr>
          <a:xfrm>
            <a:off x="3005267" y="1572768"/>
            <a:ext cx="457200" cy="320040"/>
          </a:xfrm>
          <a:prstGeom prst="rect">
            <a:avLst/>
          </a:prstGeom>
          <a:noFill/>
          <a:ln/>
        </p:spPr>
        <p:txBody>
          <a:bodyPr wrap="square" lIns="0" tIns="0" rIns="0" bIns="0" rtlCol="0" anchor="t"/>
          <a:lstStyle/>
          <a:p>
            <a:pPr indent="0" marL="0">
              <a:buNone/>
            </a:pPr>
            <a:r>
              <a:rPr lang="en-US" sz="1400" b="1" dirty="0">
                <a:solidFill>
                  <a:schemeClr val="accent5"/>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3325307" y="1572768"/>
            <a:ext cx="1633667" cy="3200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Portfolio</a:t>
            </a:r>
            <a:endParaRPr lang="en-US" sz="1600" dirty="0"/>
          </a:p>
        </p:txBody>
      </p:sp>
      <p:sp>
        <p:nvSpPr>
          <p:cNvPr id="10" name="Text 8"/>
          <p:cNvSpPr txBox="1"/>
          <p:nvPr/>
        </p:nvSpPr>
        <p:spPr>
          <a:xfrm>
            <a:off x="3005267" y="1965960"/>
            <a:ext cx="1862267" cy="548640"/>
          </a:xfrm>
          <a:prstGeom prst="rect">
            <a:avLst/>
          </a:prstGeom>
          <a:noFill/>
          <a:ln/>
        </p:spPr>
        <p:txBody>
          <a:bodyPr wrap="square" lIns="0" tIns="0" rIns="0" bIns="0" rtlCol="0" anchor="t"/>
          <a:lstStyle/>
          <a:p>
            <a:pPr indent="0" marL="0">
              <a:buNone/>
            </a:pPr>
            <a:r>
              <a:rPr lang="en-US" sz="1200" dirty="0">
                <a:solidFill>
                  <a:schemeClr val="accent5"/>
                </a:solidFill>
                <a:latin typeface="Arial" pitchFamily="34" charset="0"/>
                <a:ea typeface="Arial" pitchFamily="34" charset="-122"/>
                <a:cs typeface="Arial" pitchFamily="34" charset="-120"/>
              </a:rPr>
              <a:t>real funds, a reason for every holding</a:t>
            </a:r>
            <a:endParaRPr lang="en-US" sz="1200" dirty="0"/>
          </a:p>
        </p:txBody>
      </p:sp>
      <p:sp>
        <p:nvSpPr>
          <p:cNvPr id="11" name="step-divider-2"/>
          <p:cNvSpPr/>
          <p:nvPr/>
        </p:nvSpPr>
        <p:spPr>
          <a:xfrm>
            <a:off x="5004694" y="1417320"/>
            <a:ext cx="0" cy="1143000"/>
          </a:xfrm>
          <a:prstGeom prst="line">
            <a:avLst/>
          </a:prstGeom>
          <a:noFill/>
          <a:ln w="9525">
            <a:solidFill>
              <a:srgbClr val="DDE2E7"/>
            </a:solidFill>
            <a:prstDash val="solid"/>
          </a:ln>
        </p:spPr>
      </p:sp>
      <p:sp>
        <p:nvSpPr>
          <p:cNvPr id="12" name="Text 10"/>
          <p:cNvSpPr txBox="1"/>
          <p:nvPr/>
        </p:nvSpPr>
        <p:spPr>
          <a:xfrm>
            <a:off x="5187574" y="1572768"/>
            <a:ext cx="457200" cy="320040"/>
          </a:xfrm>
          <a:prstGeom prst="rect">
            <a:avLst/>
          </a:prstGeom>
          <a:noFill/>
          <a:ln/>
        </p:spPr>
        <p:txBody>
          <a:bodyPr wrap="square" lIns="0" tIns="0" rIns="0" bIns="0" rtlCol="0" anchor="t"/>
          <a:lstStyle/>
          <a:p>
            <a:pPr indent="0" marL="0">
              <a:buNone/>
            </a:pPr>
            <a:r>
              <a:rPr lang="en-US" sz="1400" b="1" dirty="0">
                <a:solidFill>
                  <a:schemeClr val="accent2"/>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5507614" y="1572768"/>
            <a:ext cx="1633667" cy="320040"/>
          </a:xfrm>
          <a:prstGeom prst="rect">
            <a:avLst/>
          </a:prstGeom>
          <a:noFill/>
          <a:ln/>
        </p:spPr>
        <p:txBody>
          <a:bodyPr wrap="square" lIns="0" tIns="0" rIns="0" bIns="0" rtlCol="0" anchor="t"/>
          <a:lstStyle/>
          <a:p>
            <a:pPr indent="0" marL="0">
              <a:buNone/>
            </a:pPr>
            <a:r>
              <a:rPr lang="en-US" sz="1600" b="1" dirty="0">
                <a:solidFill>
                  <a:schemeClr val="accent2"/>
                </a:solidFill>
                <a:latin typeface="Arial" pitchFamily="34" charset="0"/>
                <a:ea typeface="Arial" pitchFamily="34" charset="-122"/>
                <a:cs typeface="Arial" pitchFamily="34" charset="-120"/>
              </a:rPr>
              <a:t>Rehearse</a:t>
            </a:r>
            <a:endParaRPr lang="en-US" sz="1600" dirty="0"/>
          </a:p>
        </p:txBody>
      </p:sp>
      <p:sp>
        <p:nvSpPr>
          <p:cNvPr id="14" name="Text 12"/>
          <p:cNvSpPr txBox="1"/>
          <p:nvPr/>
        </p:nvSpPr>
        <p:spPr>
          <a:xfrm>
            <a:off x="5187574" y="1965960"/>
            <a:ext cx="1862267" cy="548640"/>
          </a:xfrm>
          <a:prstGeom prst="rect">
            <a:avLst/>
          </a:prstGeom>
          <a:noFill/>
          <a:ln/>
        </p:spPr>
        <p:txBody>
          <a:bodyPr wrap="square" lIns="0" tIns="0" rIns="0" bIns="0" rtlCol="0" anchor="t"/>
          <a:lstStyle/>
          <a:p>
            <a:pPr indent="0" marL="0">
              <a:buNone/>
            </a:pPr>
            <a:r>
              <a:rPr lang="en-US" sz="1200" dirty="0">
                <a:solidFill>
                  <a:schemeClr val="accent5"/>
                </a:solidFill>
                <a:latin typeface="Arial" pitchFamily="34" charset="0"/>
                <a:ea typeface="Arial" pitchFamily="34" charset="-122"/>
                <a:cs typeface="Arial" pitchFamily="34" charset="-120"/>
              </a:rPr>
              <a:t>live through 2008 before investing</a:t>
            </a:r>
            <a:endParaRPr lang="en-US" sz="1200" dirty="0"/>
          </a:p>
        </p:txBody>
      </p:sp>
      <p:sp>
        <p:nvSpPr>
          <p:cNvPr id="15" name="step-divider-3"/>
          <p:cNvSpPr/>
          <p:nvPr/>
        </p:nvSpPr>
        <p:spPr>
          <a:xfrm>
            <a:off x="7187001" y="1417320"/>
            <a:ext cx="0" cy="1143000"/>
          </a:xfrm>
          <a:prstGeom prst="line">
            <a:avLst/>
          </a:prstGeom>
          <a:noFill/>
          <a:ln w="9525">
            <a:solidFill>
              <a:srgbClr val="DDE2E7"/>
            </a:solidFill>
            <a:prstDash val="solid"/>
          </a:ln>
        </p:spPr>
      </p:sp>
      <p:sp>
        <p:nvSpPr>
          <p:cNvPr id="16" name="Text 14"/>
          <p:cNvSpPr txBox="1"/>
          <p:nvPr/>
        </p:nvSpPr>
        <p:spPr>
          <a:xfrm>
            <a:off x="7369881" y="1572768"/>
            <a:ext cx="457200" cy="320040"/>
          </a:xfrm>
          <a:prstGeom prst="rect">
            <a:avLst/>
          </a:prstGeom>
          <a:noFill/>
          <a:ln/>
        </p:spPr>
        <p:txBody>
          <a:bodyPr wrap="square" lIns="0" tIns="0" rIns="0" bIns="0" rtlCol="0" anchor="t"/>
          <a:lstStyle/>
          <a:p>
            <a:pPr indent="0" marL="0">
              <a:buNone/>
            </a:pPr>
            <a:r>
              <a:rPr lang="en-US" sz="1400" b="1" dirty="0">
                <a:solidFill>
                  <a:schemeClr val="accent5"/>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7689921" y="1572768"/>
            <a:ext cx="1633667" cy="3200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Goal</a:t>
            </a:r>
            <a:endParaRPr lang="en-US" sz="1600" dirty="0"/>
          </a:p>
        </p:txBody>
      </p:sp>
      <p:sp>
        <p:nvSpPr>
          <p:cNvPr id="18" name="Text 16"/>
          <p:cNvSpPr txBox="1"/>
          <p:nvPr/>
        </p:nvSpPr>
        <p:spPr>
          <a:xfrm>
            <a:off x="7369881" y="1965960"/>
            <a:ext cx="1862267" cy="548640"/>
          </a:xfrm>
          <a:prstGeom prst="rect">
            <a:avLst/>
          </a:prstGeom>
          <a:noFill/>
          <a:ln/>
        </p:spPr>
        <p:txBody>
          <a:bodyPr wrap="square" lIns="0" tIns="0" rIns="0" bIns="0" rtlCol="0" anchor="t"/>
          <a:lstStyle/>
          <a:p>
            <a:pPr indent="0" marL="0">
              <a:buNone/>
            </a:pPr>
            <a:r>
              <a:rPr lang="en-US" sz="1200" dirty="0">
                <a:solidFill>
                  <a:schemeClr val="accent5"/>
                </a:solidFill>
                <a:latin typeface="Arial" pitchFamily="34" charset="0"/>
                <a:ea typeface="Arial" pitchFamily="34" charset="-122"/>
                <a:cs typeface="Arial" pitchFamily="34" charset="-120"/>
              </a:rPr>
              <a:t>the chance of reaching it, from 5,000 futures</a:t>
            </a:r>
            <a:endParaRPr lang="en-US" sz="1200" dirty="0"/>
          </a:p>
        </p:txBody>
      </p:sp>
      <p:sp>
        <p:nvSpPr>
          <p:cNvPr id="19" name="step-divider-4"/>
          <p:cNvSpPr/>
          <p:nvPr/>
        </p:nvSpPr>
        <p:spPr>
          <a:xfrm>
            <a:off x="9369308" y="1417320"/>
            <a:ext cx="0" cy="1143000"/>
          </a:xfrm>
          <a:prstGeom prst="line">
            <a:avLst/>
          </a:prstGeom>
          <a:noFill/>
          <a:ln w="9525">
            <a:solidFill>
              <a:srgbClr val="DDE2E7"/>
            </a:solidFill>
            <a:prstDash val="solid"/>
          </a:ln>
        </p:spPr>
      </p:sp>
      <p:sp>
        <p:nvSpPr>
          <p:cNvPr id="20" name="Text 18"/>
          <p:cNvSpPr txBox="1"/>
          <p:nvPr/>
        </p:nvSpPr>
        <p:spPr>
          <a:xfrm>
            <a:off x="9552188" y="1572768"/>
            <a:ext cx="457200" cy="320040"/>
          </a:xfrm>
          <a:prstGeom prst="rect">
            <a:avLst/>
          </a:prstGeom>
          <a:noFill/>
          <a:ln/>
        </p:spPr>
        <p:txBody>
          <a:bodyPr wrap="square" lIns="0" tIns="0" rIns="0" bIns="0" rtlCol="0" anchor="t"/>
          <a:lstStyle/>
          <a:p>
            <a:pPr indent="0" marL="0">
              <a:buNone/>
            </a:pPr>
            <a:r>
              <a:rPr lang="en-US" sz="1400" b="1" dirty="0">
                <a:solidFill>
                  <a:schemeClr val="accent5"/>
                </a:solidFill>
                <a:latin typeface="Arial" pitchFamily="34" charset="0"/>
                <a:ea typeface="Arial" pitchFamily="34" charset="-122"/>
                <a:cs typeface="Arial" pitchFamily="34" charset="-120"/>
              </a:rPr>
              <a:t>5</a:t>
            </a:r>
            <a:endParaRPr lang="en-US" sz="1400" dirty="0"/>
          </a:p>
        </p:txBody>
      </p:sp>
      <p:sp>
        <p:nvSpPr>
          <p:cNvPr id="21" name="Text 19"/>
          <p:cNvSpPr txBox="1"/>
          <p:nvPr/>
        </p:nvSpPr>
        <p:spPr>
          <a:xfrm>
            <a:off x="9872228" y="1572768"/>
            <a:ext cx="1633667" cy="3200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Invest</a:t>
            </a:r>
            <a:endParaRPr lang="en-US" sz="1600" dirty="0"/>
          </a:p>
        </p:txBody>
      </p:sp>
      <p:sp>
        <p:nvSpPr>
          <p:cNvPr id="22" name="Text 20"/>
          <p:cNvSpPr txBox="1"/>
          <p:nvPr/>
        </p:nvSpPr>
        <p:spPr>
          <a:xfrm>
            <a:off x="9552188" y="1965960"/>
            <a:ext cx="1862267" cy="548640"/>
          </a:xfrm>
          <a:prstGeom prst="rect">
            <a:avLst/>
          </a:prstGeom>
          <a:noFill/>
          <a:ln/>
        </p:spPr>
        <p:txBody>
          <a:bodyPr wrap="square" lIns="0" tIns="0" rIns="0" bIns="0" rtlCol="0" anchor="t"/>
          <a:lstStyle/>
          <a:p>
            <a:pPr indent="0" marL="0">
              <a:buNone/>
            </a:pPr>
            <a:r>
              <a:rPr lang="en-US" sz="1200" dirty="0">
                <a:solidFill>
                  <a:schemeClr val="accent5"/>
                </a:solidFill>
                <a:latin typeface="Arial" pitchFamily="34" charset="0"/>
                <a:ea typeface="Arial" pitchFamily="34" charset="-122"/>
                <a:cs typeface="Arial" pitchFamily="34" charset="-120"/>
              </a:rPr>
              <a:t>signed, held to confirm, recorded on chain</a:t>
            </a:r>
            <a:endParaRPr lang="en-US" sz="1200" dirty="0"/>
          </a:p>
        </p:txBody>
      </p:sp>
      <p:sp>
        <p:nvSpPr>
          <p:cNvPr id="23" name="steps-bottom"/>
          <p:cNvSpPr/>
          <p:nvPr/>
        </p:nvSpPr>
        <p:spPr>
          <a:xfrm>
            <a:off x="640080" y="2560320"/>
            <a:ext cx="10911535" cy="0"/>
          </a:xfrm>
          <a:prstGeom prst="line">
            <a:avLst/>
          </a:prstGeom>
          <a:noFill/>
          <a:ln w="9525">
            <a:solidFill>
              <a:srgbClr val="DDE2E7"/>
            </a:solidFill>
            <a:prstDash val="solid"/>
          </a:ln>
        </p:spPr>
      </p:sp>
      <p:pic>
        <p:nvPicPr>
          <p:cNvPr id="24" name="screenshot-portfolio" descr="Keel web app: recommended portfolio of real Chinese funds; a popover shows the function that computed a figure">    </p:cNvPr>
          <p:cNvPicPr>
            <a:picLocks noChangeAspect="1"/>
          </p:cNvPicPr>
          <p:nvPr/>
        </p:nvPicPr>
        <p:blipFill>
          <a:blip r:embed="rId1"/>
          <a:stretch>
            <a:fillRect/>
          </a:stretch>
        </p:blipFill>
        <p:spPr>
          <a:xfrm>
            <a:off x="640080" y="2834640"/>
            <a:ext cx="5486400" cy="3429000"/>
          </a:xfrm>
          <a:prstGeom prst="rect">
            <a:avLst/>
          </a:prstGeom>
        </p:spPr>
      </p:pic>
      <p:sp>
        <p:nvSpPr>
          <p:cNvPr id="25" name="screenshot-portfolio-frame"/>
          <p:cNvSpPr/>
          <p:nvPr/>
        </p:nvSpPr>
        <p:spPr>
          <a:xfrm>
            <a:off x="640080" y="2834640"/>
            <a:ext cx="5486400" cy="3429000"/>
          </a:xfrm>
          <a:prstGeom prst="rect">
            <a:avLst/>
          </a:prstGeom>
          <a:ln w="9525">
            <a:solidFill>
              <a:srgbClr val="C5CDD5"/>
            </a:solidFill>
            <a:prstDash val="solid"/>
          </a:ln>
        </p:spPr>
      </p:sp>
      <p:sp>
        <p:nvSpPr>
          <p:cNvPr id="26" name="Text 23"/>
          <p:cNvSpPr txBox="1"/>
          <p:nvPr/>
        </p:nvSpPr>
        <p:spPr>
          <a:xfrm>
            <a:off x="6583680" y="2834640"/>
            <a:ext cx="496793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Chat or form</a:t>
            </a:r>
            <a:endParaRPr lang="en-US" sz="1500" dirty="0"/>
          </a:p>
        </p:txBody>
      </p:sp>
      <p:sp>
        <p:nvSpPr>
          <p:cNvPr id="27" name="Text 24"/>
          <p:cNvSpPr txBox="1"/>
          <p:nvPr/>
        </p:nvSpPr>
        <p:spPr>
          <a:xfrm>
            <a:off x="6583680" y="3182112"/>
            <a:ext cx="4967935" cy="64008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The client can talk in English or 中文, or answer eight short questions. Both fill the same client file.</a:t>
            </a:r>
            <a:endParaRPr lang="en-US" sz="1300" dirty="0"/>
          </a:p>
        </p:txBody>
      </p:sp>
      <p:sp>
        <p:nvSpPr>
          <p:cNvPr id="28" name="workflow-note-rule-1"/>
          <p:cNvSpPr/>
          <p:nvPr/>
        </p:nvSpPr>
        <p:spPr>
          <a:xfrm>
            <a:off x="6583680" y="3867912"/>
            <a:ext cx="4967935" cy="0"/>
          </a:xfrm>
          <a:prstGeom prst="line">
            <a:avLst/>
          </a:prstGeom>
          <a:noFill/>
          <a:ln w="9525">
            <a:solidFill>
              <a:srgbClr val="DDE2E7"/>
            </a:solidFill>
            <a:prstDash val="solid"/>
          </a:ln>
        </p:spPr>
      </p:sp>
      <p:sp>
        <p:nvSpPr>
          <p:cNvPr id="29" name="Text 26"/>
          <p:cNvSpPr txBox="1"/>
          <p:nvPr/>
        </p:nvSpPr>
        <p:spPr>
          <a:xfrm>
            <a:off x="6583680" y="3977640"/>
            <a:ext cx="496793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Every number has a source</a:t>
            </a:r>
            <a:endParaRPr lang="en-US" sz="1500" dirty="0"/>
          </a:p>
        </p:txBody>
      </p:sp>
      <p:sp>
        <p:nvSpPr>
          <p:cNvPr id="30" name="Text 27"/>
          <p:cNvSpPr txBox="1"/>
          <p:nvPr/>
        </p:nvSpPr>
        <p:spPr>
          <a:xfrm>
            <a:off x="6583680" y="4325112"/>
            <a:ext cx="4967935" cy="64008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Tap any figure to see the function that computed it and its audit record.</a:t>
            </a:r>
            <a:endParaRPr lang="en-US" sz="1300" dirty="0"/>
          </a:p>
        </p:txBody>
      </p:sp>
      <p:sp>
        <p:nvSpPr>
          <p:cNvPr id="31" name="workflow-note-rule-2"/>
          <p:cNvSpPr/>
          <p:nvPr/>
        </p:nvSpPr>
        <p:spPr>
          <a:xfrm>
            <a:off x="6583680" y="5010912"/>
            <a:ext cx="4967935" cy="0"/>
          </a:xfrm>
          <a:prstGeom prst="line">
            <a:avLst/>
          </a:prstGeom>
          <a:noFill/>
          <a:ln w="9525">
            <a:solidFill>
              <a:srgbClr val="DDE2E7"/>
            </a:solidFill>
            <a:prstDash val="solid"/>
          </a:ln>
        </p:spPr>
      </p:sp>
      <p:sp>
        <p:nvSpPr>
          <p:cNvPr id="32" name="Text 29"/>
          <p:cNvSpPr txBox="1"/>
          <p:nvPr/>
        </p:nvSpPr>
        <p:spPr>
          <a:xfrm>
            <a:off x="6583680" y="5120640"/>
            <a:ext cx="496793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Two optional tools</a:t>
            </a:r>
            <a:endParaRPr lang="en-US" sz="1500" dirty="0"/>
          </a:p>
        </p:txBody>
      </p:sp>
      <p:sp>
        <p:nvSpPr>
          <p:cNvPr id="33" name="Text 30"/>
          <p:cNvSpPr txBox="1"/>
          <p:nvPr/>
        </p:nvSpPr>
        <p:spPr>
          <a:xfrm>
            <a:off x="6583680" y="5468112"/>
            <a:ext cx="4967935" cy="64008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Compare products and Past crises stay off the main path.</a:t>
            </a:r>
            <a:endParaRPr lang="en-US" sz="13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Crash Rehearsal: what clients do, not what they say</a:t>
            </a:r>
            <a:endParaRPr lang="en-US" sz="3000" dirty="0"/>
          </a:p>
        </p:txBody>
      </p:sp>
      <p:pic>
        <p:nvPicPr>
          <p:cNvPr id="3" name="screenshot-rehearsal" descr="Crash Rehearsal: the client's portfolio replayed through 2008 with headlines and a Sell everything button that shows the loss it would lock in">    </p:cNvPr>
          <p:cNvPicPr>
            <a:picLocks noChangeAspect="1"/>
          </p:cNvPicPr>
          <p:nvPr/>
        </p:nvPicPr>
        <p:blipFill>
          <a:blip r:embed="rId1"/>
          <a:stretch>
            <a:fillRect/>
          </a:stretch>
        </p:blipFill>
        <p:spPr>
          <a:xfrm>
            <a:off x="640080" y="1417320"/>
            <a:ext cx="6035040" cy="3771900"/>
          </a:xfrm>
          <a:prstGeom prst="rect">
            <a:avLst/>
          </a:prstGeom>
        </p:spPr>
      </p:pic>
      <p:sp>
        <p:nvSpPr>
          <p:cNvPr id="4" name="screenshot-rehearsal-frame"/>
          <p:cNvSpPr/>
          <p:nvPr/>
        </p:nvSpPr>
        <p:spPr>
          <a:xfrm>
            <a:off x="640080" y="1417320"/>
            <a:ext cx="6035040" cy="3771900"/>
          </a:xfrm>
          <a:prstGeom prst="rect">
            <a:avLst/>
          </a:prstGeom>
          <a:ln w="9525">
            <a:solidFill>
              <a:srgbClr val="C5CDD5"/>
            </a:solidFill>
            <a:prstDash val="solid"/>
          </a:ln>
        </p:spPr>
      </p:sp>
      <p:sp>
        <p:nvSpPr>
          <p:cNvPr id="5" name="Text 2"/>
          <p:cNvSpPr txBox="1"/>
          <p:nvPr/>
        </p:nvSpPr>
        <p:spPr>
          <a:xfrm>
            <a:off x="7132320" y="1417320"/>
            <a:ext cx="441929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Real history</a:t>
            </a:r>
            <a:endParaRPr lang="en-US" sz="1500" dirty="0"/>
          </a:p>
        </p:txBody>
      </p:sp>
      <p:sp>
        <p:nvSpPr>
          <p:cNvPr id="6" name="Text 3"/>
          <p:cNvSpPr txBox="1"/>
          <p:nvPr/>
        </p:nvSpPr>
        <p:spPr>
          <a:xfrm>
            <a:off x="7132320" y="1764792"/>
            <a:ext cx="4419295" cy="82296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October 2007 to March 2013, month by month, on Kenneth R. French, FRED and World Bank data, with the headlines of the time.</a:t>
            </a:r>
            <a:endParaRPr lang="en-US" sz="1300" dirty="0"/>
          </a:p>
        </p:txBody>
      </p:sp>
      <p:sp>
        <p:nvSpPr>
          <p:cNvPr id="7" name="rehearsal-rule-1"/>
          <p:cNvSpPr/>
          <p:nvPr/>
        </p:nvSpPr>
        <p:spPr>
          <a:xfrm>
            <a:off x="7132320" y="2564892"/>
            <a:ext cx="4419295" cy="0"/>
          </a:xfrm>
          <a:prstGeom prst="line">
            <a:avLst/>
          </a:prstGeom>
          <a:noFill/>
          <a:ln w="9525">
            <a:solidFill>
              <a:srgbClr val="DDE2E7"/>
            </a:solidFill>
            <a:prstDash val="solid"/>
          </a:ln>
        </p:spPr>
      </p:sp>
      <p:sp>
        <p:nvSpPr>
          <p:cNvPr id="8" name="Text 5"/>
          <p:cNvSpPr txBox="1"/>
          <p:nvPr/>
        </p:nvSpPr>
        <p:spPr>
          <a:xfrm>
            <a:off x="7132320" y="2674620"/>
            <a:ext cx="441929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Revealed tolerance</a:t>
            </a:r>
            <a:endParaRPr lang="en-US" sz="1500" dirty="0"/>
          </a:p>
        </p:txBody>
      </p:sp>
      <p:sp>
        <p:nvSpPr>
          <p:cNvPr id="9" name="Text 6"/>
          <p:cNvSpPr txBox="1"/>
          <p:nvPr/>
        </p:nvSpPr>
        <p:spPr>
          <a:xfrm>
            <a:off x="7132320" y="3022092"/>
            <a:ext cx="4419295" cy="82296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Where the client sells sets the risk class their behaviour supports.</a:t>
            </a:r>
            <a:endParaRPr lang="en-US" sz="1300" dirty="0"/>
          </a:p>
        </p:txBody>
      </p:sp>
      <p:sp>
        <p:nvSpPr>
          <p:cNvPr id="10" name="rehearsal-rule-2"/>
          <p:cNvSpPr/>
          <p:nvPr/>
        </p:nvSpPr>
        <p:spPr>
          <a:xfrm>
            <a:off x="7132320" y="3822192"/>
            <a:ext cx="4419295" cy="0"/>
          </a:xfrm>
          <a:prstGeom prst="line">
            <a:avLst/>
          </a:prstGeom>
          <a:noFill/>
          <a:ln w="9525">
            <a:solidFill>
              <a:srgbClr val="DDE2E7"/>
            </a:solidFill>
            <a:prstDash val="solid"/>
          </a:ln>
        </p:spPr>
      </p:sp>
      <p:sp>
        <p:nvSpPr>
          <p:cNvPr id="11" name="Text 8"/>
          <p:cNvSpPr txBox="1"/>
          <p:nvPr/>
        </p:nvSpPr>
        <p:spPr>
          <a:xfrm>
            <a:off x="7132320" y="3931920"/>
            <a:ext cx="441929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Only ever safer</a:t>
            </a:r>
            <a:endParaRPr lang="en-US" sz="1500" dirty="0"/>
          </a:p>
        </p:txBody>
      </p:sp>
      <p:sp>
        <p:nvSpPr>
          <p:cNvPr id="12" name="Text 9"/>
          <p:cNvSpPr txBox="1"/>
          <p:nvPr/>
        </p:nvSpPr>
        <p:spPr>
          <a:xfrm>
            <a:off x="7132320" y="4279392"/>
            <a:ext cx="4419295" cy="82296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The new class is the lower of stated and revealed. Holding never raises it. The result is logged and printed on the client's report.</a:t>
            </a:r>
            <a:endParaRPr lang="en-US" sz="1300" dirty="0"/>
          </a:p>
        </p:txBody>
      </p:sp>
      <p:sp>
        <p:nvSpPr>
          <p:cNvPr id="13" name="rehearsal-example-rule"/>
          <p:cNvSpPr/>
          <p:nvPr/>
        </p:nvSpPr>
        <p:spPr>
          <a:xfrm>
            <a:off x="640080" y="5440680"/>
            <a:ext cx="10911535" cy="0"/>
          </a:xfrm>
          <a:prstGeom prst="line">
            <a:avLst/>
          </a:prstGeom>
          <a:noFill/>
          <a:ln w="9525">
            <a:solidFill>
              <a:srgbClr val="C5CDD5"/>
            </a:solidFill>
            <a:prstDash val="solid"/>
          </a:ln>
        </p:spPr>
      </p:sp>
      <p:sp>
        <p:nvSpPr>
          <p:cNvPr id="14" name="Text 11"/>
          <p:cNvSpPr txBox="1"/>
          <p:nvPr/>
        </p:nvSpPr>
        <p:spPr>
          <a:xfrm>
            <a:off x="640080" y="5577840"/>
            <a:ext cx="10911535" cy="68580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Evidence session 02:  </a:t>
            </a:r>
            <a:pPr indent="0" marL="0">
              <a:buNone/>
            </a:pPr>
            <a:r>
              <a:rPr lang="en-US" sz="1400" dirty="0">
                <a:solidFill>
                  <a:schemeClr val="accent5"/>
                </a:solidFill>
                <a:latin typeface="Arial" pitchFamily="34" charset="0"/>
                <a:ea typeface="Arial" pitchFamily="34" charset="-122"/>
                <a:cs typeface="Arial" pitchFamily="34" charset="-120"/>
              </a:rPr>
              <a:t>the client said they would buy more in a fall, then sold in September 2008, 12.5% below the peak. Holding would have ended at 133,266 on 100,000; selling ended at 89,601. Class lowered from C5 to C3, and the old C5 portfolio was refused.</a:t>
            </a:r>
            <a:endParaRPr lang="en-US" sz="14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The model talks. Code decides.</a:t>
            </a:r>
            <a:endParaRPr lang="en-US" sz="3000" dirty="0"/>
          </a:p>
        </p:txBody>
      </p:sp>
      <p:graphicFrame>
        <p:nvGraphicFramePr>
          <p:cNvPr id="7" name="boundary-table"/>
          <p:cNvGraphicFramePr>
            <a:graphicFrameLocks noGrp="1"/>
          </p:cNvGraphicFramePr>
          <p:nvPr>
            <p:extLst>
              <p:ext uri="{D42A27DB-BD31-4B8C-83A1-F6EECF244321}">
                <p14:modId xmlns:p14="http://schemas.microsoft.com/office/powerpoint/2010/main" val="1579011935"/>
              </p:ext>
            </p:extLst>
          </p:nvPr>
        </p:nvGraphicFramePr>
        <p:xfrm>
          <a:off x="640080" y="1417320"/>
          <a:ext cx="7040880" cy="914400"/>
        </p:xfrm>
        <a:graphic>
          <a:graphicData uri="http://schemas.openxmlformats.org/drawingml/2006/table">
            <a:tbl>
              <a:tblPr/>
              <a:tblGrid>
                <a:gridCol w="2651760"/>
                <a:gridCol w="2286000"/>
                <a:gridCol w="2103120"/>
              </a:tblGrid>
              <a:tr h="566928">
                <a:tc>
                  <a:txBody>
                    <a:bodyPr/>
                    <a:lstStyle/>
                    <a:p>
                      <a:pPr indent="0" marL="0">
                        <a:buNone/>
                      </a:pPr>
                      <a:r>
                        <a:rPr lang="en-US" sz="1200" b="1" dirty="0">
                          <a:solidFill>
                            <a:schemeClr val="accent5"/>
                          </a:solidFill>
                          <a:latin typeface="Arial" pitchFamily="34" charset="0"/>
                          <a:ea typeface="Arial" pitchFamily="34" charset="-122"/>
                          <a:cs typeface="Arial" pitchFamily="34" charset="-120"/>
                        </a:rPr>
                        <a:t>Concern</a:t>
                      </a:r>
                      <a:endParaRPr lang="en-US" sz="12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C5CDD5"/>
                      </a:solidFill>
                      <a:prstDash val="solid"/>
                      <a:round/>
                      <a:headEnd type="none" w="med" len="med"/>
                      <a:tailEnd type="none" w="med" len="med"/>
                    </a:lnB>
                  </a:tcPr>
                </a:tc>
                <a:tc>
                  <a:txBody>
                    <a:bodyPr/>
                    <a:lstStyle/>
                    <a:p>
                      <a:pPr indent="0" marL="0">
                        <a:buNone/>
                      </a:pPr>
                      <a:r>
                        <a:rPr lang="en-US" sz="1200" b="1" dirty="0">
                          <a:solidFill>
                            <a:schemeClr val="accent5"/>
                          </a:solidFill>
                          <a:latin typeface="Arial" pitchFamily="34" charset="0"/>
                          <a:ea typeface="Arial" pitchFamily="34" charset="-122"/>
                          <a:cs typeface="Arial" pitchFamily="34" charset="-120"/>
                        </a:rPr>
                        <a:t>Owned by</a:t>
                      </a:r>
                      <a:endParaRPr lang="en-US" sz="12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C5CDD5"/>
                      </a:solidFill>
                      <a:prstDash val="solid"/>
                      <a:round/>
                      <a:headEnd type="none" w="med" len="med"/>
                      <a:tailEnd type="none" w="med" len="med"/>
                    </a:lnB>
                  </a:tcPr>
                </a:tc>
                <a:tc>
                  <a:txBody>
                    <a:bodyPr/>
                    <a:lstStyle/>
                    <a:p>
                      <a:pPr indent="0" marL="0">
                        <a:buNone/>
                      </a:pPr>
                      <a:r>
                        <a:rPr lang="en-US" sz="1200" b="1" dirty="0">
                          <a:solidFill>
                            <a:schemeClr val="accent5"/>
                          </a:solidFill>
                          <a:latin typeface="Arial" pitchFamily="34" charset="0"/>
                          <a:ea typeface="Arial" pitchFamily="34" charset="-122"/>
                          <a:cs typeface="Arial" pitchFamily="34" charset="-120"/>
                        </a:rPr>
                        <a:t>Why</a:t>
                      </a:r>
                      <a:endParaRPr lang="en-US" sz="12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C5CDD5"/>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Arial" pitchFamily="34" charset="0"/>
                          <a:ea typeface="Arial" pitchFamily="34" charset="-122"/>
                          <a:cs typeface="Arial" pitchFamily="34" charset="-120"/>
                        </a:rPr>
                        <a:t>Conversation and explanations</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Language model (Groq)</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Language is what models do well</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Arial" pitchFamily="34" charset="0"/>
                          <a:ea typeface="Arial" pitchFamily="34" charset="-122"/>
                          <a:cs typeface="Arial" pitchFamily="34" charset="-120"/>
                        </a:rPr>
                        <a:t>Risk class, weights, returns, fees, stress losses, goal odds</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Deterministic, tested Python</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Reproducible, no invented figures</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Arial" pitchFamily="34" charset="0"/>
                          <a:ea typeface="Arial" pitchFamily="34" charset="-122"/>
                          <a:cs typeface="Arial" pitchFamily="34" charset="-120"/>
                        </a:rPr>
                        <a:t>Suitability, liquidity, limits, cooling-off</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Server code</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Cannot be talked around</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Arial" pitchFamily="34" charset="0"/>
                          <a:ea typeface="Arial" pitchFamily="34" charset="-122"/>
                          <a:cs typeface="Arial" pitchFamily="34" charset="-120"/>
                        </a:rPr>
                        <a:t>Placing an order</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b="1" dirty="0">
                          <a:solidFill>
                            <a:schemeClr val="accent2"/>
                          </a:solidFill>
                          <a:latin typeface="Arial" pitchFamily="34" charset="0"/>
                          <a:ea typeface="Arial" pitchFamily="34" charset="-122"/>
                          <a:cs typeface="Arial" pitchFamily="34" charset="-120"/>
                        </a:rPr>
                        <a:t>The client only, with a one-time token</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model has no tool that can trade</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Arial" pitchFamily="34" charset="0"/>
                          <a:ea typeface="Arial" pitchFamily="34" charset="-122"/>
                          <a:cs typeface="Arial" pitchFamily="34" charset="-120"/>
                        </a:rPr>
                        <a:t>Record of what happened</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Hash-chained log, anchored on FISCO BCOS</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Tamper-evident, checkable by anyone</a:t>
                      </a:r>
                      <a:endParaRPr lang="en-US" sz="1300" dirty="0">
                        <a:latin typeface="Arial" charset="0"/>
                        <a:ea typeface="Arial" charset="0"/>
                        <a:cs typeface="Arial" charset="0"/>
                      </a:endParaRPr>
                    </a:p>
                  </a:txBody>
                  <a:tcPr marL="0" marR="109728"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bl>
          </a:graphicData>
        </a:graphic>
      </p:graphicFrame>
      <p:sp>
        <p:nvSpPr>
          <p:cNvPr id="4" name="proof-divider"/>
          <p:cNvSpPr/>
          <p:nvPr/>
        </p:nvSpPr>
        <p:spPr>
          <a:xfrm>
            <a:off x="7955280" y="1417320"/>
            <a:ext cx="0" cy="4206240"/>
          </a:xfrm>
          <a:prstGeom prst="line">
            <a:avLst/>
          </a:prstGeom>
          <a:noFill/>
          <a:ln w="9525">
            <a:solidFill>
              <a:srgbClr val="DDE2E7"/>
            </a:solidFill>
            <a:prstDash val="solid"/>
          </a:ln>
        </p:spPr>
      </p:sp>
      <p:sp>
        <p:nvSpPr>
          <p:cNvPr id="5" name="Text 2"/>
          <p:cNvSpPr txBox="1"/>
          <p:nvPr/>
        </p:nvSpPr>
        <p:spPr>
          <a:xfrm>
            <a:off x="8229600" y="1417320"/>
            <a:ext cx="332201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Every number shows its source</a:t>
            </a:r>
            <a:endParaRPr lang="en-US" sz="1500" dirty="0"/>
          </a:p>
        </p:txBody>
      </p:sp>
      <p:sp>
        <p:nvSpPr>
          <p:cNvPr id="6" name="Text 3"/>
          <p:cNvSpPr txBox="1"/>
          <p:nvPr/>
        </p:nvSpPr>
        <p:spPr>
          <a:xfrm>
            <a:off x="8229600" y="1783080"/>
            <a:ext cx="3322015" cy="91440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Tap 7.43% and Keel shows: computed by allocation.build_allocation(), audit record cfbe5d57.</a:t>
            </a:r>
            <a:endParaRPr lang="en-US" sz="1300" dirty="0"/>
          </a:p>
        </p:txBody>
      </p:sp>
      <p:sp>
        <p:nvSpPr>
          <p:cNvPr id="7" name="proof-rule-1"/>
          <p:cNvSpPr/>
          <p:nvPr/>
        </p:nvSpPr>
        <p:spPr>
          <a:xfrm>
            <a:off x="8229600" y="2697480"/>
            <a:ext cx="3322015" cy="0"/>
          </a:xfrm>
          <a:prstGeom prst="line">
            <a:avLst/>
          </a:prstGeom>
          <a:noFill/>
          <a:ln w="9525">
            <a:solidFill>
              <a:srgbClr val="DDE2E7"/>
            </a:solidFill>
            <a:prstDash val="solid"/>
          </a:ln>
        </p:spPr>
      </p:sp>
      <p:sp>
        <p:nvSpPr>
          <p:cNvPr id="8" name="Text 5"/>
          <p:cNvSpPr txBox="1"/>
          <p:nvPr/>
        </p:nvSpPr>
        <p:spPr>
          <a:xfrm>
            <a:off x="8229600" y="2834640"/>
            <a:ext cx="332201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No ungrounded figures</a:t>
            </a:r>
            <a:endParaRPr lang="en-US" sz="1500" dirty="0"/>
          </a:p>
        </p:txBody>
      </p:sp>
      <p:sp>
        <p:nvSpPr>
          <p:cNvPr id="9" name="Text 6"/>
          <p:cNvSpPr txBox="1"/>
          <p:nvPr/>
        </p:nvSpPr>
        <p:spPr>
          <a:xfrm>
            <a:off x="8229600" y="3200400"/>
            <a:ext cx="3322015" cy="91440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An output guard checks each number in a reply against this session's tool results, and blocks promises such as "guaranteed".</a:t>
            </a:r>
            <a:endParaRPr lang="en-US" sz="1300" dirty="0"/>
          </a:p>
        </p:txBody>
      </p:sp>
      <p:sp>
        <p:nvSpPr>
          <p:cNvPr id="10" name="proof-rule-2"/>
          <p:cNvSpPr/>
          <p:nvPr/>
        </p:nvSpPr>
        <p:spPr>
          <a:xfrm>
            <a:off x="8229600" y="4114800"/>
            <a:ext cx="3322015" cy="0"/>
          </a:xfrm>
          <a:prstGeom prst="line">
            <a:avLst/>
          </a:prstGeom>
          <a:noFill/>
          <a:ln w="9525">
            <a:solidFill>
              <a:srgbClr val="DDE2E7"/>
            </a:solidFill>
            <a:prstDash val="solid"/>
          </a:ln>
        </p:spPr>
      </p:sp>
      <p:sp>
        <p:nvSpPr>
          <p:cNvPr id="11" name="Text 8"/>
          <p:cNvSpPr txBox="1"/>
          <p:nvPr/>
        </p:nvSpPr>
        <p:spPr>
          <a:xfrm>
            <a:off x="8229600" y="4251960"/>
            <a:ext cx="332201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Verifiable afterwards</a:t>
            </a:r>
            <a:endParaRPr lang="en-US" sz="1500" dirty="0"/>
          </a:p>
        </p:txBody>
      </p:sp>
      <p:sp>
        <p:nvSpPr>
          <p:cNvPr id="12" name="Text 9"/>
          <p:cNvSpPr txBox="1"/>
          <p:nvPr/>
        </p:nvSpPr>
        <p:spPr>
          <a:xfrm>
            <a:off x="8229600" y="4617720"/>
            <a:ext cx="3322015" cy="91440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The audit-log head is written to a smart contract on WeBank's FISCO BCOS. Verify recomputes the log; one edited record fails.</a:t>
            </a:r>
            <a:endParaRPr lang="en-US" sz="13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Advice on 24 real Chinese public funds</a:t>
            </a:r>
            <a:endParaRPr lang="en-US" sz="3000" dirty="0"/>
          </a:p>
        </p:txBody>
      </p:sp>
      <p:sp>
        <p:nvSpPr>
          <p:cNvPr id="3" name="Text 1"/>
          <p:cNvSpPr txBox="1"/>
          <p:nvPr/>
        </p:nvSpPr>
        <p:spPr>
          <a:xfrm>
            <a:off x="640080" y="1417320"/>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Public data</a:t>
            </a:r>
            <a:endParaRPr lang="en-US" sz="1500" dirty="0"/>
          </a:p>
        </p:txBody>
      </p:sp>
      <p:sp>
        <p:nvSpPr>
          <p:cNvPr id="4" name="Text 2"/>
          <p:cNvSpPr txBox="1"/>
          <p:nvPr/>
        </p:nvSpPr>
        <p:spPr>
          <a:xfrm>
            <a:off x="640080" y="1764792"/>
            <a:ext cx="4937760" cy="64008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Fund pages on East Money and Tiantian Fund, the source the open-source AkShare library uses.</a:t>
            </a:r>
            <a:endParaRPr lang="en-US" sz="1300" dirty="0"/>
          </a:p>
        </p:txBody>
      </p:sp>
      <p:sp>
        <p:nvSpPr>
          <p:cNvPr id="5" name="fact-rule-1"/>
          <p:cNvSpPr/>
          <p:nvPr/>
        </p:nvSpPr>
        <p:spPr>
          <a:xfrm>
            <a:off x="640080" y="2368296"/>
            <a:ext cx="4937760" cy="0"/>
          </a:xfrm>
          <a:prstGeom prst="line">
            <a:avLst/>
          </a:prstGeom>
          <a:noFill/>
          <a:ln w="9525">
            <a:solidFill>
              <a:srgbClr val="DDE2E7"/>
            </a:solidFill>
            <a:prstDash val="solid"/>
          </a:ln>
        </p:spPr>
      </p:sp>
      <p:sp>
        <p:nvSpPr>
          <p:cNvPr id="6" name="Text 4"/>
          <p:cNvSpPr txBox="1"/>
          <p:nvPr/>
        </p:nvSpPr>
        <p:spPr>
          <a:xfrm>
            <a:off x="640080" y="2496312"/>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Real risk levels</a:t>
            </a:r>
            <a:endParaRPr lang="en-US" sz="1500" dirty="0"/>
          </a:p>
        </p:txBody>
      </p:sp>
      <p:sp>
        <p:nvSpPr>
          <p:cNvPr id="7" name="Text 5"/>
          <p:cNvSpPr txBox="1"/>
          <p:nvPr/>
        </p:nvSpPr>
        <p:spPr>
          <a:xfrm>
            <a:off x="640080" y="2843784"/>
            <a:ext cx="4937760" cy="64008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Distributor labels 低风险 to 高风险, mapped to R1 to R5.</a:t>
            </a:r>
            <a:endParaRPr lang="en-US" sz="1300" dirty="0"/>
          </a:p>
        </p:txBody>
      </p:sp>
      <p:sp>
        <p:nvSpPr>
          <p:cNvPr id="8" name="fact-rule-2"/>
          <p:cNvSpPr/>
          <p:nvPr/>
        </p:nvSpPr>
        <p:spPr>
          <a:xfrm>
            <a:off x="640080" y="3447288"/>
            <a:ext cx="4937760" cy="0"/>
          </a:xfrm>
          <a:prstGeom prst="line">
            <a:avLst/>
          </a:prstGeom>
          <a:noFill/>
          <a:ln w="9525">
            <a:solidFill>
              <a:srgbClr val="DDE2E7"/>
            </a:solidFill>
            <a:prstDash val="solid"/>
          </a:ln>
        </p:spPr>
      </p:sp>
      <p:sp>
        <p:nvSpPr>
          <p:cNvPr id="9" name="Text 7"/>
          <p:cNvSpPr txBox="1"/>
          <p:nvPr/>
        </p:nvSpPr>
        <p:spPr>
          <a:xfrm>
            <a:off x="640080" y="3575304"/>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Real costs</a:t>
            </a:r>
            <a:endParaRPr lang="en-US" sz="1500" dirty="0"/>
          </a:p>
        </p:txBody>
      </p:sp>
      <p:sp>
        <p:nvSpPr>
          <p:cNvPr id="10" name="Text 8"/>
          <p:cNvSpPr txBox="1"/>
          <p:nvPr/>
        </p:nvSpPr>
        <p:spPr>
          <a:xfrm>
            <a:off x="640080" y="3922776"/>
            <a:ext cx="4937760" cy="64008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Management, custody and sales-service fees for every fund.</a:t>
            </a:r>
            <a:endParaRPr lang="en-US" sz="1300" dirty="0"/>
          </a:p>
        </p:txBody>
      </p:sp>
      <p:sp>
        <p:nvSpPr>
          <p:cNvPr id="11" name="fact-rule-3"/>
          <p:cNvSpPr/>
          <p:nvPr/>
        </p:nvSpPr>
        <p:spPr>
          <a:xfrm>
            <a:off x="640080" y="4526280"/>
            <a:ext cx="4937760" cy="0"/>
          </a:xfrm>
          <a:prstGeom prst="line">
            <a:avLst/>
          </a:prstGeom>
          <a:noFill/>
          <a:ln w="9525">
            <a:solidFill>
              <a:srgbClr val="DDE2E7"/>
            </a:solidFill>
            <a:prstDash val="solid"/>
          </a:ln>
        </p:spPr>
      </p:sp>
      <p:sp>
        <p:nvSpPr>
          <p:cNvPr id="12" name="Text 10"/>
          <p:cNvSpPr txBox="1"/>
          <p:nvPr/>
        </p:nvSpPr>
        <p:spPr>
          <a:xfrm>
            <a:off x="640080" y="4654296"/>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Honest estimates</a:t>
            </a:r>
            <a:endParaRPr lang="en-US" sz="1500" dirty="0"/>
          </a:p>
        </p:txBody>
      </p:sp>
      <p:sp>
        <p:nvSpPr>
          <p:cNvPr id="13" name="Text 11"/>
          <p:cNvSpPr txBox="1"/>
          <p:nvPr/>
        </p:nvSpPr>
        <p:spPr>
          <a:xfrm>
            <a:off x="640080" y="5001768"/>
            <a:ext cx="4937760" cy="64008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Ten years of NAV volatility; returns shrunk halfway to an asset-class prior.</a:t>
            </a:r>
            <a:endParaRPr lang="en-US" sz="1300" dirty="0"/>
          </a:p>
        </p:txBody>
      </p:sp>
      <p:graphicFrame>
        <p:nvGraphicFramePr>
          <p:cNvPr id="8" name="class-ladder"/>
          <p:cNvGraphicFramePr>
            <a:graphicFrameLocks noGrp="1"/>
          </p:cNvGraphicFramePr>
          <p:nvPr>
            <p:extLst>
              <p:ext uri="{D42A27DB-BD31-4B8C-83A1-F6EECF244321}">
                <p14:modId xmlns:p14="http://schemas.microsoft.com/office/powerpoint/2010/main" val="1579011935"/>
              </p:ext>
            </p:extLst>
          </p:nvPr>
        </p:nvGraphicFramePr>
        <p:xfrm>
          <a:off x="6309360" y="1417320"/>
          <a:ext cx="5242255" cy="914400"/>
        </p:xfrm>
        <a:graphic>
          <a:graphicData uri="http://schemas.openxmlformats.org/drawingml/2006/table">
            <a:tbl>
              <a:tblPr/>
              <a:tblGrid>
                <a:gridCol w="1828800"/>
                <a:gridCol w="1325880"/>
                <a:gridCol w="1234440"/>
                <a:gridCol w="1493215"/>
              </a:tblGrid>
              <a:tr h="512064">
                <a:tc>
                  <a:txBody>
                    <a:bodyPr/>
                    <a:lstStyle/>
                    <a:p>
                      <a:pPr algn="l" indent="0" marL="0">
                        <a:buNone/>
                      </a:pPr>
                      <a:r>
                        <a:rPr lang="en-US" sz="1200" b="1" dirty="0">
                          <a:solidFill>
                            <a:schemeClr val="accent5"/>
                          </a:solidFill>
                          <a:latin typeface="Arial" pitchFamily="34" charset="0"/>
                          <a:ea typeface="Arial" pitchFamily="34" charset="-122"/>
                          <a:cs typeface="Arial" pitchFamily="34" charset="-120"/>
                        </a:rPr>
                        <a:t>Risk class</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C5CDD5"/>
                      </a:solidFill>
                      <a:prstDash val="solid"/>
                      <a:round/>
                      <a:headEnd type="none" w="med" len="med"/>
                      <a:tailEnd type="none" w="med" len="med"/>
                    </a:lnB>
                  </a:tcPr>
                </a:tc>
                <a:tc>
                  <a:txBody>
                    <a:bodyPr/>
                    <a:lstStyle/>
                    <a:p>
                      <a:pPr algn="r" indent="0" marL="0">
                        <a:buNone/>
                      </a:pPr>
                      <a:r>
                        <a:rPr lang="en-US" sz="1200" b="1" dirty="0">
                          <a:solidFill>
                            <a:schemeClr val="accent5"/>
                          </a:solidFill>
                          <a:latin typeface="Arial" pitchFamily="34" charset="0"/>
                          <a:ea typeface="Arial" pitchFamily="34" charset="-122"/>
                          <a:cs typeface="Arial" pitchFamily="34" charset="-120"/>
                        </a:rPr>
                        <a:t>Expected return</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C5CDD5"/>
                      </a:solidFill>
                      <a:prstDash val="solid"/>
                      <a:round/>
                      <a:headEnd type="none" w="med" len="med"/>
                      <a:tailEnd type="none" w="med" len="med"/>
                    </a:lnB>
                  </a:tcPr>
                </a:tc>
                <a:tc>
                  <a:txBody>
                    <a:bodyPr/>
                    <a:lstStyle/>
                    <a:p>
                      <a:pPr algn="r" indent="0" marL="0">
                        <a:buNone/>
                      </a:pPr>
                      <a:r>
                        <a:rPr lang="en-US" sz="1200" b="1" dirty="0">
                          <a:solidFill>
                            <a:schemeClr val="accent5"/>
                          </a:solidFill>
                          <a:latin typeface="Arial" pitchFamily="34" charset="0"/>
                          <a:ea typeface="Arial" pitchFamily="34" charset="-122"/>
                          <a:cs typeface="Arial" pitchFamily="34" charset="-120"/>
                        </a:rPr>
                        <a:t>Typical swing</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C5CDD5"/>
                      </a:solidFill>
                      <a:prstDash val="solid"/>
                      <a:round/>
                      <a:headEnd type="none" w="med" len="med"/>
                      <a:tailEnd type="none" w="med" len="med"/>
                    </a:lnB>
                  </a:tcPr>
                </a:tc>
                <a:tc>
                  <a:txBody>
                    <a:bodyPr/>
                    <a:lstStyle/>
                    <a:p>
                      <a:pPr algn="r" indent="0" marL="0">
                        <a:buNone/>
                      </a:pPr>
                      <a:r>
                        <a:rPr lang="en-US" sz="1200" b="1" dirty="0">
                          <a:solidFill>
                            <a:schemeClr val="accent5"/>
                          </a:solidFill>
                          <a:latin typeface="Arial" pitchFamily="34" charset="0"/>
                          <a:ea typeface="Arial" pitchFamily="34" charset="-122"/>
                          <a:cs typeface="Arial" pitchFamily="34" charset="-120"/>
                        </a:rPr>
                        <a:t>Worst historical loss</a:t>
                      </a:r>
                      <a:endParaRPr lang="en-US" sz="12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12700" cap="flat" cmpd="sng" algn="ctr">
                      <a:solidFill>
                        <a:srgbClr val="C5CDD5"/>
                      </a:solidFill>
                      <a:prstDash val="solid"/>
                      <a:round/>
                      <a:headEnd type="none" w="med" len="med"/>
                      <a:tailEnd type="none" w="med" len="med"/>
                    </a:lnB>
                  </a:tcPr>
                </a:tc>
              </a:tr>
              <a:tr h="512064">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C1 Conservative</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b="1" dirty="0">
                          <a:solidFill>
                            <a:schemeClr val="accent1"/>
                          </a:solidFill>
                          <a:latin typeface="Arial" pitchFamily="34" charset="0"/>
                          <a:ea typeface="Arial" pitchFamily="34" charset="-122"/>
                          <a:cs typeface="Arial" pitchFamily="34" charset="-120"/>
                        </a:rPr>
                        <a:t>1.1%</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0.2%</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r h="512064">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C2</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b="1" dirty="0">
                          <a:solidFill>
                            <a:schemeClr val="accent1"/>
                          </a:solidFill>
                          <a:latin typeface="Arial" pitchFamily="34" charset="0"/>
                          <a:ea typeface="Arial" pitchFamily="34" charset="-122"/>
                          <a:cs typeface="Arial" pitchFamily="34" charset="-120"/>
                        </a:rPr>
                        <a:t>2.4%</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8.2%</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r h="512064">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C3 Balanced</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b="1" dirty="0">
                          <a:solidFill>
                            <a:schemeClr val="accent1"/>
                          </a:solidFill>
                          <a:latin typeface="Arial" pitchFamily="34" charset="0"/>
                          <a:ea typeface="Arial" pitchFamily="34" charset="-122"/>
                          <a:cs typeface="Arial" pitchFamily="34" charset="-120"/>
                        </a:rPr>
                        <a:t>2.6%</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1.1%</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r h="512064">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C4</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b="1" dirty="0">
                          <a:solidFill>
                            <a:schemeClr val="accent1"/>
                          </a:solidFill>
                          <a:latin typeface="Arial" pitchFamily="34" charset="0"/>
                          <a:ea typeface="Arial" pitchFamily="34" charset="-122"/>
                          <a:cs typeface="Arial" pitchFamily="34" charset="-120"/>
                        </a:rPr>
                        <a:t>7.1%</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8.2%</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21.3%</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r h="512064">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C5 Aggressive</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b="1" dirty="0">
                          <a:solidFill>
                            <a:schemeClr val="accent1"/>
                          </a:solidFill>
                          <a:latin typeface="Arial" pitchFamily="34" charset="0"/>
                          <a:ea typeface="Arial" pitchFamily="34" charset="-122"/>
                          <a:cs typeface="Arial" pitchFamily="34" charset="-120"/>
                        </a:rPr>
                        <a:t>8.0%</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9.9%</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latin typeface="Arial" pitchFamily="34" charset="0"/>
                          <a:ea typeface="Arial" pitchFamily="34" charset="-122"/>
                          <a:cs typeface="Arial" pitchFamily="34" charset="-120"/>
                        </a:rPr>
                        <a:t>24.5%</a:t>
                      </a:r>
                      <a:endParaRPr lang="en-US" sz="1400" dirty="0">
                        <a:latin typeface="Arial" charset="0"/>
                        <a:ea typeface="Arial" charset="0"/>
                        <a:cs typeface="Arial" charset="0"/>
                      </a:endParaRPr>
                    </a:p>
                  </a:txBody>
                  <a:tcPr marL="0" marR="91440" marT="54864" marB="54864" anchor="ctr">
                    <a:lnL w="0" cap="flat" cmpd="sng" algn="ctr">
                      <a:noFill/>
                    </a:lnL>
                    <a:lnR w="0" cap="flat" cmpd="sng" algn="ctr">
                      <a:noFill/>
                    </a:lnR>
                    <a:lnT w="0" cap="flat" cmpd="sng" algn="ctr">
                      <a:noFill/>
                    </a:lnT>
                    <a:lnB w="9525" cap="flat" cmpd="sng" algn="ctr">
                      <a:solidFill>
                        <a:srgbClr val="DDE2E7"/>
                      </a:solidFill>
                      <a:prstDash val="solid"/>
                      <a:round/>
                      <a:headEnd type="none" w="med" len="med"/>
                      <a:tailEnd type="none" w="med" len="med"/>
                    </a:lnB>
                  </a:tcPr>
                </a:tc>
              </a:tr>
            </a:tbl>
          </a:graphicData>
        </a:graphic>
      </p:graphicFrame>
      <p:sp>
        <p:nvSpPr>
          <p:cNvPr id="15" name="Text 12"/>
          <p:cNvSpPr txBox="1"/>
          <p:nvPr/>
        </p:nvSpPr>
        <p:spPr>
          <a:xfrm>
            <a:off x="6309360" y="4709160"/>
            <a:ext cx="5242255" cy="640080"/>
          </a:xfrm>
          <a:prstGeom prst="rect">
            <a:avLst/>
          </a:prstGeom>
          <a:noFill/>
          <a:ln/>
        </p:spPr>
        <p:txBody>
          <a:bodyPr wrap="square" lIns="0" tIns="0" rIns="0" bIns="0" rtlCol="0" anchor="t"/>
          <a:lstStyle/>
          <a:p>
            <a:pPr indent="0" marL="0">
              <a:buNone/>
            </a:pPr>
            <a:r>
              <a:rPr lang="en-US" sz="1200" dirty="0">
                <a:solidFill>
                  <a:schemeClr val="accent5"/>
                </a:solidFill>
                <a:latin typeface="Arial" pitchFamily="34" charset="0"/>
                <a:ea typeface="Arial" pitchFamily="34" charset="-122"/>
                <a:cs typeface="Arial" pitchFamily="34" charset="-120"/>
              </a:rPr>
              <a:t>Model portfolios of 100,000 from the real catalog, after fees, before the client's own loss limit is applied. Worst of the 2008, 2020 and 2022 shocks.</a:t>
            </a:r>
            <a:endParaRPr lang="en-US" sz="12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Security enforced in code, not in prompts</a:t>
            </a:r>
            <a:endParaRPr lang="en-US" sz="3000" dirty="0"/>
          </a:p>
        </p:txBody>
      </p:sp>
      <p:sp>
        <p:nvSpPr>
          <p:cNvPr id="3" name="tiers-top"/>
          <p:cNvSpPr/>
          <p:nvPr/>
        </p:nvSpPr>
        <p:spPr>
          <a:xfrm>
            <a:off x="640080" y="1417320"/>
            <a:ext cx="5303520" cy="0"/>
          </a:xfrm>
          <a:prstGeom prst="line">
            <a:avLst/>
          </a:prstGeom>
          <a:noFill/>
          <a:ln w="9525">
            <a:solidFill>
              <a:srgbClr val="C5CDD5"/>
            </a:solidFill>
            <a:prstDash val="solid"/>
          </a:ln>
        </p:spPr>
      </p:sp>
      <p:sp>
        <p:nvSpPr>
          <p:cNvPr id="4" name="Text 2"/>
          <p:cNvSpPr txBox="1"/>
          <p:nvPr/>
        </p:nvSpPr>
        <p:spPr>
          <a:xfrm>
            <a:off x="640080" y="1527048"/>
            <a:ext cx="1463040" cy="54864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T0 Info</a:t>
            </a:r>
            <a:endParaRPr lang="en-US" sz="1500" dirty="0"/>
          </a:p>
        </p:txBody>
      </p:sp>
      <p:sp>
        <p:nvSpPr>
          <p:cNvPr id="5" name="Text 3"/>
          <p:cNvSpPr txBox="1"/>
          <p:nvPr/>
        </p:nvSpPr>
        <p:spPr>
          <a:xfrm>
            <a:off x="2194560" y="1527048"/>
            <a:ext cx="3749040" cy="548640"/>
          </a:xfrm>
          <a:prstGeom prst="rect">
            <a:avLst/>
          </a:prstGeom>
          <a:noFill/>
          <a:ln/>
        </p:spPr>
        <p:txBody>
          <a:bodyPr wrap="square" lIns="0" tIns="0" rIns="0" bIns="0" rtlCol="0" anchor="ctr"/>
          <a:lstStyle/>
          <a:p>
            <a:pPr indent="0" marL="0">
              <a:buNone/>
            </a:pPr>
            <a:r>
              <a:rPr lang="en-US" sz="1400" dirty="0">
                <a:solidFill>
                  <a:schemeClr val="accent5"/>
                </a:solidFill>
                <a:latin typeface="Arial" pitchFamily="34" charset="0"/>
                <a:ea typeface="Arial" pitchFamily="34" charset="-122"/>
                <a:cs typeface="Arial" pitchFamily="34" charset="-120"/>
              </a:rPr>
              <a:t>education and product facts</a:t>
            </a:r>
            <a:endParaRPr lang="en-US" sz="1400" dirty="0"/>
          </a:p>
        </p:txBody>
      </p:sp>
      <p:sp>
        <p:nvSpPr>
          <p:cNvPr id="6" name="tier-rule-0"/>
          <p:cNvSpPr/>
          <p:nvPr/>
        </p:nvSpPr>
        <p:spPr>
          <a:xfrm>
            <a:off x="640080" y="2194560"/>
            <a:ext cx="5303520" cy="0"/>
          </a:xfrm>
          <a:prstGeom prst="line">
            <a:avLst/>
          </a:prstGeom>
          <a:noFill/>
          <a:ln w="9525">
            <a:solidFill>
              <a:srgbClr val="DDE2E7"/>
            </a:solidFill>
            <a:prstDash val="solid"/>
          </a:ln>
        </p:spPr>
      </p:sp>
      <p:sp>
        <p:nvSpPr>
          <p:cNvPr id="7" name="Text 5"/>
          <p:cNvSpPr txBox="1"/>
          <p:nvPr/>
        </p:nvSpPr>
        <p:spPr>
          <a:xfrm>
            <a:off x="640080" y="2304288"/>
            <a:ext cx="1463040" cy="54864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T1 Advise</a:t>
            </a:r>
            <a:endParaRPr lang="en-US" sz="1500" dirty="0"/>
          </a:p>
        </p:txBody>
      </p:sp>
      <p:sp>
        <p:nvSpPr>
          <p:cNvPr id="8" name="Text 6"/>
          <p:cNvSpPr txBox="1"/>
          <p:nvPr/>
        </p:nvSpPr>
        <p:spPr>
          <a:xfrm>
            <a:off x="2194560" y="2304288"/>
            <a:ext cx="3749040" cy="548640"/>
          </a:xfrm>
          <a:prstGeom prst="rect">
            <a:avLst/>
          </a:prstGeom>
          <a:noFill/>
          <a:ln/>
        </p:spPr>
        <p:txBody>
          <a:bodyPr wrap="square" lIns="0" tIns="0" rIns="0" bIns="0" rtlCol="0" anchor="ctr"/>
          <a:lstStyle/>
          <a:p>
            <a:pPr indent="0" marL="0">
              <a:buNone/>
            </a:pPr>
            <a:r>
              <a:rPr lang="en-US" sz="1400" dirty="0">
                <a:solidFill>
                  <a:schemeClr val="accent5"/>
                </a:solidFill>
                <a:latin typeface="Arial" pitchFamily="34" charset="0"/>
                <a:ea typeface="Arial" pitchFamily="34" charset="-122"/>
                <a:cs typeface="Arial" pitchFamily="34" charset="-120"/>
              </a:rPr>
              <a:t>the default: profile, portfolio, stress tests, goals</a:t>
            </a:r>
            <a:endParaRPr lang="en-US" sz="1400" dirty="0"/>
          </a:p>
        </p:txBody>
      </p:sp>
      <p:sp>
        <p:nvSpPr>
          <p:cNvPr id="9" name="tier-rule-1"/>
          <p:cNvSpPr/>
          <p:nvPr/>
        </p:nvSpPr>
        <p:spPr>
          <a:xfrm>
            <a:off x="640080" y="2971800"/>
            <a:ext cx="5303520" cy="0"/>
          </a:xfrm>
          <a:prstGeom prst="line">
            <a:avLst/>
          </a:prstGeom>
          <a:noFill/>
          <a:ln w="9525">
            <a:solidFill>
              <a:srgbClr val="DDE2E7"/>
            </a:solidFill>
            <a:prstDash val="solid"/>
          </a:ln>
        </p:spPr>
      </p:sp>
      <p:sp>
        <p:nvSpPr>
          <p:cNvPr id="10" name="Text 8"/>
          <p:cNvSpPr txBox="1"/>
          <p:nvPr/>
        </p:nvSpPr>
        <p:spPr>
          <a:xfrm>
            <a:off x="640080" y="3081528"/>
            <a:ext cx="1463040" cy="54864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T2 Propose</a:t>
            </a:r>
            <a:endParaRPr lang="en-US" sz="1500" dirty="0"/>
          </a:p>
        </p:txBody>
      </p:sp>
      <p:sp>
        <p:nvSpPr>
          <p:cNvPr id="11" name="Text 9"/>
          <p:cNvSpPr txBox="1"/>
          <p:nvPr/>
        </p:nvSpPr>
        <p:spPr>
          <a:xfrm>
            <a:off x="2194560" y="3081528"/>
            <a:ext cx="3749040" cy="548640"/>
          </a:xfrm>
          <a:prstGeom prst="rect">
            <a:avLst/>
          </a:prstGeom>
          <a:noFill/>
          <a:ln/>
        </p:spPr>
        <p:txBody>
          <a:bodyPr wrap="square" lIns="0" tIns="0" rIns="0" bIns="0" rtlCol="0" anchor="ctr"/>
          <a:lstStyle/>
          <a:p>
            <a:pPr indent="0" marL="0">
              <a:buNone/>
            </a:pPr>
            <a:r>
              <a:rPr lang="en-US" sz="1400" dirty="0">
                <a:solidFill>
                  <a:schemeClr val="accent5"/>
                </a:solidFill>
                <a:latin typeface="Arial" pitchFamily="34" charset="0"/>
                <a:ea typeface="Arial" pitchFamily="34" charset="-122"/>
                <a:cs typeface="Arial" pitchFamily="34" charset="-120"/>
              </a:rPr>
              <a:t>draft orders after pre-trade checks</a:t>
            </a:r>
            <a:endParaRPr lang="en-US" sz="1400" dirty="0"/>
          </a:p>
        </p:txBody>
      </p:sp>
      <p:sp>
        <p:nvSpPr>
          <p:cNvPr id="12" name="tier-rule-2"/>
          <p:cNvSpPr/>
          <p:nvPr/>
        </p:nvSpPr>
        <p:spPr>
          <a:xfrm>
            <a:off x="640080" y="3749040"/>
            <a:ext cx="5303520" cy="0"/>
          </a:xfrm>
          <a:prstGeom prst="line">
            <a:avLst/>
          </a:prstGeom>
          <a:noFill/>
          <a:ln w="9525">
            <a:solidFill>
              <a:srgbClr val="DDE2E7"/>
            </a:solidFill>
            <a:prstDash val="solid"/>
          </a:ln>
        </p:spPr>
      </p:sp>
      <p:sp>
        <p:nvSpPr>
          <p:cNvPr id="13" name="Text 11"/>
          <p:cNvSpPr txBox="1"/>
          <p:nvPr/>
        </p:nvSpPr>
        <p:spPr>
          <a:xfrm>
            <a:off x="640080" y="3858768"/>
            <a:ext cx="1463040" cy="548640"/>
          </a:xfrm>
          <a:prstGeom prst="rect">
            <a:avLst/>
          </a:prstGeom>
          <a:noFill/>
          <a:ln/>
        </p:spPr>
        <p:txBody>
          <a:bodyPr wrap="square" lIns="0" tIns="0" rIns="0" bIns="0" rtlCol="0" anchor="ctr"/>
          <a:lstStyle/>
          <a:p>
            <a:pPr indent="0" marL="0">
              <a:buNone/>
            </a:pPr>
            <a:r>
              <a:rPr lang="en-US" sz="1500" b="1" dirty="0">
                <a:solidFill>
                  <a:schemeClr val="accent2"/>
                </a:solidFill>
                <a:latin typeface="Arial" pitchFamily="34" charset="0"/>
                <a:ea typeface="Arial" pitchFamily="34" charset="-122"/>
                <a:cs typeface="Arial" pitchFamily="34" charset="-120"/>
              </a:rPr>
              <a:t>T3 Execute</a:t>
            </a:r>
            <a:endParaRPr lang="en-US" sz="1500" dirty="0"/>
          </a:p>
        </p:txBody>
      </p:sp>
      <p:sp>
        <p:nvSpPr>
          <p:cNvPr id="14" name="Text 12"/>
          <p:cNvSpPr txBox="1"/>
          <p:nvPr/>
        </p:nvSpPr>
        <p:spPr>
          <a:xfrm>
            <a:off x="2194560" y="3858768"/>
            <a:ext cx="3749040" cy="548640"/>
          </a:xfrm>
          <a:prstGeom prst="rect">
            <a:avLst/>
          </a:prstGeom>
          <a:noFill/>
          <a:ln/>
        </p:spPr>
        <p:txBody>
          <a:bodyPr wrap="square" lIns="0" tIns="0" rIns="0" bIns="0" rtlCol="0" anchor="ctr"/>
          <a:lstStyle/>
          <a:p>
            <a:pPr indent="0" marL="0">
              <a:buNone/>
            </a:pPr>
            <a:r>
              <a:rPr lang="en-US" sz="1400" dirty="0">
                <a:solidFill>
                  <a:schemeClr val="accent2"/>
                </a:solidFill>
                <a:latin typeface="Arial" pitchFamily="34" charset="0"/>
                <a:ea typeface="Arial" pitchFamily="34" charset="-122"/>
                <a:cs typeface="Arial" pitchFamily="34" charset="-120"/>
              </a:rPr>
              <a:t>only with the client's one-time token</a:t>
            </a:r>
            <a:endParaRPr lang="en-US" sz="1400" dirty="0"/>
          </a:p>
        </p:txBody>
      </p:sp>
      <p:sp>
        <p:nvSpPr>
          <p:cNvPr id="15" name="tier-rule-3"/>
          <p:cNvSpPr/>
          <p:nvPr/>
        </p:nvSpPr>
        <p:spPr>
          <a:xfrm>
            <a:off x="640080" y="4526280"/>
            <a:ext cx="5303520" cy="0"/>
          </a:xfrm>
          <a:prstGeom prst="line">
            <a:avLst/>
          </a:prstGeom>
          <a:noFill/>
          <a:ln w="9525">
            <a:solidFill>
              <a:srgbClr val="DDE2E7"/>
            </a:solidFill>
            <a:prstDash val="solid"/>
          </a:ln>
        </p:spPr>
      </p:sp>
      <p:sp>
        <p:nvSpPr>
          <p:cNvPr id="16" name="Text 14"/>
          <p:cNvSpPr txBox="1"/>
          <p:nvPr/>
        </p:nvSpPr>
        <p:spPr>
          <a:xfrm>
            <a:off x="640080" y="4709160"/>
            <a:ext cx="5303520" cy="128016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Trading needs a signed risk disclosure, a 1.5-second hold and a 5-second undo window. Tokens are hashed, bound to the exact order, single use and expire in five minutes. A kill switch caps every session at T1. Personal data is masked before any model call.</a:t>
            </a:r>
            <a:endParaRPr lang="en-US" sz="1300" dirty="0"/>
          </a:p>
        </p:txBody>
      </p:sp>
      <p:sp>
        <p:nvSpPr>
          <p:cNvPr id="17" name="security-divider"/>
          <p:cNvSpPr/>
          <p:nvPr/>
        </p:nvSpPr>
        <p:spPr>
          <a:xfrm>
            <a:off x="6355080" y="1417320"/>
            <a:ext cx="0" cy="4572000"/>
          </a:xfrm>
          <a:prstGeom prst="line">
            <a:avLst/>
          </a:prstGeom>
          <a:noFill/>
          <a:ln w="9525">
            <a:solidFill>
              <a:srgbClr val="DDE2E7"/>
            </a:solidFill>
            <a:prstDash val="solid"/>
          </a:ln>
        </p:spPr>
      </p:sp>
      <p:sp>
        <p:nvSpPr>
          <p:cNvPr id="18" name="Text 16"/>
          <p:cNvSpPr txBox="1"/>
          <p:nvPr/>
        </p:nvSpPr>
        <p:spPr>
          <a:xfrm>
            <a:off x="6675120" y="1325880"/>
            <a:ext cx="4876495" cy="1005840"/>
          </a:xfrm>
          <a:prstGeom prst="rect">
            <a:avLst/>
          </a:prstGeom>
          <a:noFill/>
          <a:ln/>
        </p:spPr>
        <p:txBody>
          <a:bodyPr wrap="square" lIns="0" tIns="0" rIns="0" bIns="0" rtlCol="0" anchor="t"/>
          <a:lstStyle/>
          <a:p>
            <a:pPr indent="0" marL="0">
              <a:buNone/>
            </a:pPr>
            <a:r>
              <a:rPr lang="en-US" sz="6400" b="1" dirty="0">
                <a:solidFill>
                  <a:schemeClr val="accent1"/>
                </a:solidFill>
                <a:latin typeface="Arial" pitchFamily="34" charset="0"/>
                <a:ea typeface="Arial" pitchFamily="34" charset="-122"/>
                <a:cs typeface="Arial" pitchFamily="34" charset="-120"/>
              </a:rPr>
              <a:t>57 / 57</a:t>
            </a:r>
            <a:endParaRPr lang="en-US" sz="6400" dirty="0"/>
          </a:p>
        </p:txBody>
      </p:sp>
      <p:sp>
        <p:nvSpPr>
          <p:cNvPr id="19" name="Text 17"/>
          <p:cNvSpPr txBox="1"/>
          <p:nvPr/>
        </p:nvSpPr>
        <p:spPr>
          <a:xfrm>
            <a:off x="6675120" y="2377440"/>
            <a:ext cx="4876495" cy="54864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red-team attacks stopped, and 8 / 8 harmless requests still answered normally</a:t>
            </a:r>
            <a:endParaRPr lang="en-US" sz="1500" dirty="0"/>
          </a:p>
        </p:txBody>
      </p:sp>
      <p:sp>
        <p:nvSpPr>
          <p:cNvPr id="20" name="Text 18"/>
          <p:cNvSpPr txBox="1"/>
          <p:nvPr/>
        </p:nvSpPr>
        <p:spPr>
          <a:xfrm>
            <a:off x="6675120" y="3108960"/>
            <a:ext cx="4876495" cy="29260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Prompt injection (10)</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Injection in Chinese, Russian, Uzbek, Spanish (5)</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Obfuscated: base64, leetspeak, acrostic (4)</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Role-play jailbreaks (3)</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Injection hidden in fund data (5)</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Personal data leaks (10)</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Unsafe claims and invented numbers (6)</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Suitability bypass (4)</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Execution without consent (6)</a:t>
            </a:r>
            <a:endParaRPr lang="en-US" sz="1250" dirty="0"/>
          </a:p>
          <a:p>
            <a:pPr marL="342900" indent="-342900">
              <a:spcAft>
                <a:spcPts val="300"/>
              </a:spcAft>
              <a:buSzPct val="100000"/>
              <a:buChar char="•"/>
            </a:pPr>
            <a:r>
              <a:rPr lang="en-US" sz="1250" dirty="0">
                <a:solidFill>
                  <a:schemeClr val="accent5"/>
                </a:solidFill>
                <a:latin typeface="Arial" pitchFamily="34" charset="0"/>
                <a:ea typeface="Arial" pitchFamily="34" charset="-122"/>
                <a:cs typeface="Arial" pitchFamily="34" charset="-120"/>
              </a:rPr>
              <a:t>Audit tampering and abuse (4)</a:t>
            </a:r>
            <a:endParaRPr lang="en-US" sz="125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Measured, not claimed</a:t>
            </a:r>
            <a:endParaRPr lang="en-US" sz="3000" dirty="0"/>
          </a:p>
        </p:txBody>
      </p:sp>
      <p:sp>
        <p:nvSpPr>
          <p:cNvPr id="3" name="stats-top"/>
          <p:cNvSpPr/>
          <p:nvPr/>
        </p:nvSpPr>
        <p:spPr>
          <a:xfrm>
            <a:off x="640080" y="1417320"/>
            <a:ext cx="10911535" cy="0"/>
          </a:xfrm>
          <a:prstGeom prst="line">
            <a:avLst/>
          </a:prstGeom>
          <a:noFill/>
          <a:ln w="9525">
            <a:solidFill>
              <a:srgbClr val="C5CDD5"/>
            </a:solidFill>
            <a:prstDash val="solid"/>
          </a:ln>
        </p:spPr>
      </p:sp>
      <p:sp>
        <p:nvSpPr>
          <p:cNvPr id="4" name="Text 2"/>
          <p:cNvSpPr txBox="1"/>
          <p:nvPr/>
        </p:nvSpPr>
        <p:spPr>
          <a:xfrm>
            <a:off x="640080" y="1600200"/>
            <a:ext cx="2270684" cy="82296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29 / 30</a:t>
            </a:r>
            <a:endParaRPr lang="en-US" sz="4000" dirty="0"/>
          </a:p>
        </p:txBody>
      </p:sp>
      <p:sp>
        <p:nvSpPr>
          <p:cNvPr id="5" name="Text 3"/>
          <p:cNvSpPr txBox="1"/>
          <p:nvPr/>
        </p:nvSpPr>
        <p:spPr>
          <a:xfrm>
            <a:off x="640080" y="2468880"/>
            <a:ext cx="2224964" cy="1188720"/>
          </a:xfrm>
          <a:prstGeom prst="rect">
            <a:avLst/>
          </a:prstGeom>
          <a:noFill/>
          <a:ln/>
        </p:spPr>
        <p:txBody>
          <a:bodyPr wrap="square" lIns="0" tIns="0" rIns="0" bIns="0" rtlCol="0" anchor="t"/>
          <a:lstStyle/>
          <a:p>
            <a:pPr indent="0" marL="0">
              <a:buNone/>
            </a:pPr>
            <a:r>
              <a:rPr lang="en-US" sz="1250" dirty="0">
                <a:solidFill>
                  <a:schemeClr val="accent5"/>
                </a:solidFill>
                <a:latin typeface="Arial" pitchFamily="34" charset="0"/>
                <a:ea typeface="Arial" pitchFamily="34" charset="-122"/>
                <a:cs typeface="Arial" pitchFamily="34" charset="-120"/>
              </a:rPr>
              <a:t>client journeys completed end to end on a live model: 30 scripted clients across C1 to C5, one in five in Chinese</a:t>
            </a:r>
            <a:endParaRPr lang="en-US" sz="1250" dirty="0"/>
          </a:p>
        </p:txBody>
      </p:sp>
      <p:sp>
        <p:nvSpPr>
          <p:cNvPr id="6" name="stat-divider-1"/>
          <p:cNvSpPr/>
          <p:nvPr/>
        </p:nvSpPr>
        <p:spPr>
          <a:xfrm>
            <a:off x="3367964" y="1417320"/>
            <a:ext cx="0" cy="2331720"/>
          </a:xfrm>
          <a:prstGeom prst="line">
            <a:avLst/>
          </a:prstGeom>
          <a:noFill/>
          <a:ln w="9525">
            <a:solidFill>
              <a:srgbClr val="DDE2E7"/>
            </a:solidFill>
            <a:prstDash val="solid"/>
          </a:ln>
        </p:spPr>
      </p:sp>
      <p:sp>
        <p:nvSpPr>
          <p:cNvPr id="7" name="Text 5"/>
          <p:cNvSpPr txBox="1"/>
          <p:nvPr/>
        </p:nvSpPr>
        <p:spPr>
          <a:xfrm>
            <a:off x="3642284" y="1600200"/>
            <a:ext cx="2270684" cy="82296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57 / 57</a:t>
            </a:r>
            <a:endParaRPr lang="en-US" sz="4000" dirty="0"/>
          </a:p>
        </p:txBody>
      </p:sp>
      <p:sp>
        <p:nvSpPr>
          <p:cNvPr id="8" name="Text 6"/>
          <p:cNvSpPr txBox="1"/>
          <p:nvPr/>
        </p:nvSpPr>
        <p:spPr>
          <a:xfrm>
            <a:off x="3642284" y="2468880"/>
            <a:ext cx="2224964" cy="1188720"/>
          </a:xfrm>
          <a:prstGeom prst="rect">
            <a:avLst/>
          </a:prstGeom>
          <a:noFill/>
          <a:ln/>
        </p:spPr>
        <p:txBody>
          <a:bodyPr wrap="square" lIns="0" tIns="0" rIns="0" bIns="0" rtlCol="0" anchor="t"/>
          <a:lstStyle/>
          <a:p>
            <a:pPr indent="0" marL="0">
              <a:buNone/>
            </a:pPr>
            <a:r>
              <a:rPr lang="en-US" sz="1250" dirty="0">
                <a:solidFill>
                  <a:schemeClr val="accent5"/>
                </a:solidFill>
                <a:latin typeface="Arial" pitchFamily="34" charset="0"/>
                <a:ea typeface="Arial" pitchFamily="34" charset="-122"/>
                <a:cs typeface="Arial" pitchFamily="34" charset="-120"/>
              </a:rPr>
              <a:t>red-team attacks stopped across 12 categories, with no harmless request refused</a:t>
            </a:r>
            <a:endParaRPr lang="en-US" sz="1250" dirty="0"/>
          </a:p>
        </p:txBody>
      </p:sp>
      <p:sp>
        <p:nvSpPr>
          <p:cNvPr id="9" name="stat-divider-2"/>
          <p:cNvSpPr/>
          <p:nvPr/>
        </p:nvSpPr>
        <p:spPr>
          <a:xfrm>
            <a:off x="6095848" y="1417320"/>
            <a:ext cx="0" cy="2331720"/>
          </a:xfrm>
          <a:prstGeom prst="line">
            <a:avLst/>
          </a:prstGeom>
          <a:noFill/>
          <a:ln w="9525">
            <a:solidFill>
              <a:srgbClr val="DDE2E7"/>
            </a:solidFill>
            <a:prstDash val="solid"/>
          </a:ln>
        </p:spPr>
      </p:sp>
      <p:sp>
        <p:nvSpPr>
          <p:cNvPr id="10" name="Text 8"/>
          <p:cNvSpPr txBox="1"/>
          <p:nvPr/>
        </p:nvSpPr>
        <p:spPr>
          <a:xfrm>
            <a:off x="6370168" y="1600200"/>
            <a:ext cx="2270684" cy="82296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129</a:t>
            </a:r>
            <a:endParaRPr lang="en-US" sz="4000" dirty="0"/>
          </a:p>
        </p:txBody>
      </p:sp>
      <p:sp>
        <p:nvSpPr>
          <p:cNvPr id="11" name="Text 9"/>
          <p:cNvSpPr txBox="1"/>
          <p:nvPr/>
        </p:nvSpPr>
        <p:spPr>
          <a:xfrm>
            <a:off x="6370168" y="2468880"/>
            <a:ext cx="2224964" cy="1188720"/>
          </a:xfrm>
          <a:prstGeom prst="rect">
            <a:avLst/>
          </a:prstGeom>
          <a:noFill/>
          <a:ln/>
        </p:spPr>
        <p:txBody>
          <a:bodyPr wrap="square" lIns="0" tIns="0" rIns="0" bIns="0" rtlCol="0" anchor="t"/>
          <a:lstStyle/>
          <a:p>
            <a:pPr indent="0" marL="0">
              <a:buNone/>
            </a:pPr>
            <a:r>
              <a:rPr lang="en-US" sz="1250" dirty="0">
                <a:solidFill>
                  <a:schemeClr val="accent5"/>
                </a:solidFill>
                <a:latin typeface="Arial" pitchFamily="34" charset="0"/>
                <a:ea typeface="Arial" pitchFamily="34" charset="-122"/>
                <a:cs typeface="Arial" pitchFamily="34" charset="-120"/>
              </a:rPr>
              <a:t>automated tests, run offline in CI; a FISCO BCOS round trip runs when the chain is up</a:t>
            </a:r>
            <a:endParaRPr lang="en-US" sz="1250" dirty="0"/>
          </a:p>
        </p:txBody>
      </p:sp>
      <p:sp>
        <p:nvSpPr>
          <p:cNvPr id="12" name="stat-divider-3"/>
          <p:cNvSpPr/>
          <p:nvPr/>
        </p:nvSpPr>
        <p:spPr>
          <a:xfrm>
            <a:off x="8823731" y="1417320"/>
            <a:ext cx="0" cy="2331720"/>
          </a:xfrm>
          <a:prstGeom prst="line">
            <a:avLst/>
          </a:prstGeom>
          <a:noFill/>
          <a:ln w="9525">
            <a:solidFill>
              <a:srgbClr val="DDE2E7"/>
            </a:solidFill>
            <a:prstDash val="solid"/>
          </a:ln>
        </p:spPr>
      </p:sp>
      <p:sp>
        <p:nvSpPr>
          <p:cNvPr id="13" name="Text 11"/>
          <p:cNvSpPr txBox="1"/>
          <p:nvPr/>
        </p:nvSpPr>
        <p:spPr>
          <a:xfrm>
            <a:off x="9098051" y="1600200"/>
            <a:ext cx="2270684" cy="82296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5 / 5</a:t>
            </a:r>
            <a:endParaRPr lang="en-US" sz="4000" dirty="0"/>
          </a:p>
        </p:txBody>
      </p:sp>
      <p:sp>
        <p:nvSpPr>
          <p:cNvPr id="14" name="Text 12"/>
          <p:cNvSpPr txBox="1"/>
          <p:nvPr/>
        </p:nvSpPr>
        <p:spPr>
          <a:xfrm>
            <a:off x="9098051" y="2468880"/>
            <a:ext cx="2224964" cy="1188720"/>
          </a:xfrm>
          <a:prstGeom prst="rect">
            <a:avLst/>
          </a:prstGeom>
          <a:noFill/>
          <a:ln/>
        </p:spPr>
        <p:txBody>
          <a:bodyPr wrap="square" lIns="0" tIns="0" rIns="0" bIns="0" rtlCol="0" anchor="t"/>
          <a:lstStyle/>
          <a:p>
            <a:pPr indent="0" marL="0">
              <a:buNone/>
            </a:pPr>
            <a:r>
              <a:rPr lang="en-US" sz="1250" dirty="0">
                <a:solidFill>
                  <a:schemeClr val="accent5"/>
                </a:solidFill>
                <a:latin typeface="Arial" pitchFamily="34" charset="0"/>
                <a:ea typeface="Arial" pitchFamily="34" charset="-122"/>
                <a:cs typeface="Arial" pitchFamily="34" charset="-120"/>
              </a:rPr>
              <a:t>risk classes stayed inside their volatility band from 2008 to 2026</a:t>
            </a:r>
            <a:endParaRPr lang="en-US" sz="1250" dirty="0"/>
          </a:p>
        </p:txBody>
      </p:sp>
      <p:sp>
        <p:nvSpPr>
          <p:cNvPr id="15" name="stats-bottom"/>
          <p:cNvSpPr/>
          <p:nvPr/>
        </p:nvSpPr>
        <p:spPr>
          <a:xfrm>
            <a:off x="640080" y="3749040"/>
            <a:ext cx="10911535" cy="0"/>
          </a:xfrm>
          <a:prstGeom prst="line">
            <a:avLst/>
          </a:prstGeom>
          <a:noFill/>
          <a:ln w="9525">
            <a:solidFill>
              <a:srgbClr val="DDE2E7"/>
            </a:solidFill>
            <a:prstDash val="solid"/>
          </a:ln>
        </p:spPr>
      </p:sp>
      <p:sp>
        <p:nvSpPr>
          <p:cNvPr id="16" name="Text 14"/>
          <p:cNvSpPr txBox="1"/>
          <p:nvPr/>
        </p:nvSpPr>
        <p:spPr>
          <a:xfrm>
            <a:off x="640080" y="4069080"/>
            <a:ext cx="5486400" cy="36576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What the backtest taught us</a:t>
            </a:r>
            <a:endParaRPr lang="en-US" sz="1500" dirty="0"/>
          </a:p>
        </p:txBody>
      </p:sp>
      <p:sp>
        <p:nvSpPr>
          <p:cNvPr id="17" name="Text 15"/>
          <p:cNvSpPr txBox="1"/>
          <p:nvPr/>
        </p:nvSpPr>
        <p:spPr>
          <a:xfrm>
            <a:off x="640080" y="4480560"/>
            <a:ext cx="9997135" cy="1188720"/>
          </a:xfrm>
          <a:prstGeom prst="rect">
            <a:avLst/>
          </a:prstGeom>
          <a:noFill/>
          <a:ln/>
        </p:spPr>
        <p:txBody>
          <a:bodyPr wrap="square" lIns="0" tIns="0" rIns="0" bIns="0" rtlCol="0" anchor="t"/>
          <a:lstStyle/>
          <a:p>
            <a:pPr indent="0" marL="0">
              <a:buNone/>
            </a:pPr>
            <a:r>
              <a:rPr lang="en-US" sz="1700" dirty="0">
                <a:solidFill>
                  <a:schemeClr val="tx1"/>
                </a:solidFill>
                <a:latin typeface="Arial" pitchFamily="34" charset="0"/>
                <a:ea typeface="Arial" pitchFamily="34" charset="-122"/>
                <a:cs typeface="Arial" pitchFamily="34" charset="-120"/>
              </a:rPr>
              <a:t>Every class kept its volatility target for 18 years, yet every class fell further than that number suggests: C5 lost 34% in 2008. A volatility figure does not tell a client what 2008 feels like. That is why Keel enforces the client's own loss limit and has them rehearse the crash.</a:t>
            </a:r>
            <a:endParaRPr lang="en-US" sz="17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Architecture</a:t>
            </a:r>
            <a:endParaRPr lang="en-US" sz="3000" dirty="0"/>
          </a:p>
        </p:txBody>
      </p:sp>
      <p:pic>
        <p:nvPicPr>
          <p:cNvPr id="3" name="architecture" descr="Architecture: web UI and FastAPI server; advisory core with input guard, agent loop, output guard and tool dispatcher; untrusted language model; deterministic engine; client-only actions; audit log anchored on FISCO BCOS">    </p:cNvPr>
          <p:cNvPicPr>
            <a:picLocks noChangeAspect="1"/>
          </p:cNvPicPr>
          <p:nvPr/>
        </p:nvPicPr>
        <p:blipFill>
          <a:blip r:embed="rId1"/>
          <a:stretch>
            <a:fillRect/>
          </a:stretch>
        </p:blipFill>
        <p:spPr>
          <a:xfrm>
            <a:off x="640080" y="1325880"/>
            <a:ext cx="6766560" cy="4736592"/>
          </a:xfrm>
          <a:prstGeom prst="rect">
            <a:avLst/>
          </a:prstGeom>
        </p:spPr>
      </p:pic>
      <p:sp>
        <p:nvSpPr>
          <p:cNvPr id="4" name="arch-divider"/>
          <p:cNvSpPr/>
          <p:nvPr/>
        </p:nvSpPr>
        <p:spPr>
          <a:xfrm>
            <a:off x="7635240" y="1417320"/>
            <a:ext cx="0" cy="4572000"/>
          </a:xfrm>
          <a:prstGeom prst="line">
            <a:avLst/>
          </a:prstGeom>
          <a:noFill/>
          <a:ln w="9525">
            <a:solidFill>
              <a:srgbClr val="DDE2E7"/>
            </a:solidFill>
            <a:prstDash val="solid"/>
          </a:ln>
        </p:spPr>
      </p:sp>
      <p:sp>
        <p:nvSpPr>
          <p:cNvPr id="5" name="Text 2"/>
          <p:cNvSpPr txBox="1"/>
          <p:nvPr/>
        </p:nvSpPr>
        <p:spPr>
          <a:xfrm>
            <a:off x="7863840" y="1417320"/>
            <a:ext cx="368777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The model is untrusted</a:t>
            </a:r>
            <a:endParaRPr lang="en-US" sz="1500" dirty="0"/>
          </a:p>
        </p:txBody>
      </p:sp>
      <p:sp>
        <p:nvSpPr>
          <p:cNvPr id="6" name="Text 3"/>
          <p:cNvSpPr txBox="1"/>
          <p:nvPr/>
        </p:nvSpPr>
        <p:spPr>
          <a:xfrm>
            <a:off x="7863840" y="1783080"/>
            <a:ext cx="3687775" cy="100584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It can only talk and request tools. It never sees personal data and cannot reach the account.</a:t>
            </a:r>
            <a:endParaRPr lang="en-US" sz="1300" dirty="0"/>
          </a:p>
        </p:txBody>
      </p:sp>
      <p:sp>
        <p:nvSpPr>
          <p:cNvPr id="7" name="arch-rule-1"/>
          <p:cNvSpPr/>
          <p:nvPr/>
        </p:nvSpPr>
        <p:spPr>
          <a:xfrm>
            <a:off x="7863840" y="2788920"/>
            <a:ext cx="3687775" cy="0"/>
          </a:xfrm>
          <a:prstGeom prst="line">
            <a:avLst/>
          </a:prstGeom>
          <a:noFill/>
          <a:ln w="9525">
            <a:solidFill>
              <a:srgbClr val="DDE2E7"/>
            </a:solidFill>
            <a:prstDash val="solid"/>
          </a:ln>
        </p:spPr>
      </p:sp>
      <p:sp>
        <p:nvSpPr>
          <p:cNvPr id="8" name="Text 5"/>
          <p:cNvSpPr txBox="1"/>
          <p:nvPr/>
        </p:nvSpPr>
        <p:spPr>
          <a:xfrm>
            <a:off x="7863840" y="2926080"/>
            <a:ext cx="368777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Stage-aware tools</a:t>
            </a:r>
            <a:endParaRPr lang="en-US" sz="1500" dirty="0"/>
          </a:p>
        </p:txBody>
      </p:sp>
      <p:sp>
        <p:nvSpPr>
          <p:cNvPr id="9" name="Text 6"/>
          <p:cNvSpPr txBox="1"/>
          <p:nvPr/>
        </p:nvSpPr>
        <p:spPr>
          <a:xfrm>
            <a:off x="7863840" y="3291840"/>
            <a:ext cx="3687775" cy="100584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Each stage exposes only the tools that are valid there; at most eight steps per turn.</a:t>
            </a:r>
            <a:endParaRPr lang="en-US" sz="1300" dirty="0"/>
          </a:p>
        </p:txBody>
      </p:sp>
      <p:sp>
        <p:nvSpPr>
          <p:cNvPr id="10" name="arch-rule-2"/>
          <p:cNvSpPr/>
          <p:nvPr/>
        </p:nvSpPr>
        <p:spPr>
          <a:xfrm>
            <a:off x="7863840" y="4297680"/>
            <a:ext cx="3687775" cy="0"/>
          </a:xfrm>
          <a:prstGeom prst="line">
            <a:avLst/>
          </a:prstGeom>
          <a:noFill/>
          <a:ln w="9525">
            <a:solidFill>
              <a:srgbClr val="DDE2E7"/>
            </a:solidFill>
            <a:prstDash val="solid"/>
          </a:ln>
        </p:spPr>
      </p:sp>
      <p:sp>
        <p:nvSpPr>
          <p:cNvPr id="11" name="Text 8"/>
          <p:cNvSpPr txBox="1"/>
          <p:nvPr/>
        </p:nvSpPr>
        <p:spPr>
          <a:xfrm>
            <a:off x="7863840" y="4434840"/>
            <a:ext cx="3687775"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Runs anywhere</a:t>
            </a:r>
            <a:endParaRPr lang="en-US" sz="1500" dirty="0"/>
          </a:p>
        </p:txBody>
      </p:sp>
      <p:sp>
        <p:nvSpPr>
          <p:cNvPr id="12" name="Text 9"/>
          <p:cNvSpPr txBox="1"/>
          <p:nvPr/>
        </p:nvSpPr>
        <p:spPr>
          <a:xfrm>
            <a:off x="7863840" y="4800600"/>
            <a:ext cx="3687775" cy="1005840"/>
          </a:xfrm>
          <a:prstGeom prst="rect">
            <a:avLst/>
          </a:prstGeom>
          <a:noFill/>
          <a:ln/>
        </p:spPr>
        <p:txBody>
          <a:bodyPr wrap="square" lIns="0" tIns="0" rIns="0" bIns="0" rtlCol="0" anchor="t"/>
          <a:lstStyle/>
          <a:p>
            <a:pPr indent="0" marL="0">
              <a:buNone/>
            </a:pPr>
            <a:r>
              <a:rPr lang="en-US" sz="1300" dirty="0">
                <a:solidFill>
                  <a:schemeClr val="accent5"/>
                </a:solidFill>
                <a:latin typeface="Arial" pitchFamily="34" charset="0"/>
                <a:ea typeface="Arial" pitchFamily="34" charset="-122"/>
                <a:cs typeface="Arial" pitchFamily="34" charset="-120"/>
              </a:rPr>
              <a:t>Python 3.12, FastAPI, NumPy, web3.py and Solidity. One command starts it; tests run offline without a key.</a:t>
            </a:r>
            <a:endParaRPr lang="en-US" sz="13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Built for a bank like WeBank</a:t>
            </a:r>
            <a:endParaRPr lang="en-US" sz="3000" dirty="0"/>
          </a:p>
        </p:txBody>
      </p:sp>
      <p:sp>
        <p:nvSpPr>
          <p:cNvPr id="3" name="fit-top"/>
          <p:cNvSpPr/>
          <p:nvPr/>
        </p:nvSpPr>
        <p:spPr>
          <a:xfrm>
            <a:off x="640080" y="1417320"/>
            <a:ext cx="10911535" cy="0"/>
          </a:xfrm>
          <a:prstGeom prst="line">
            <a:avLst/>
          </a:prstGeom>
          <a:noFill/>
          <a:ln w="9525">
            <a:solidFill>
              <a:srgbClr val="C5CDD5"/>
            </a:solidFill>
            <a:prstDash val="solid"/>
          </a:ln>
        </p:spPr>
      </p:sp>
      <p:sp>
        <p:nvSpPr>
          <p:cNvPr id="4" name="fit-middle"/>
          <p:cNvSpPr/>
          <p:nvPr/>
        </p:nvSpPr>
        <p:spPr>
          <a:xfrm>
            <a:off x="640080" y="3657600"/>
            <a:ext cx="10911535" cy="0"/>
          </a:xfrm>
          <a:prstGeom prst="line">
            <a:avLst/>
          </a:prstGeom>
          <a:noFill/>
          <a:ln w="9525">
            <a:solidFill>
              <a:srgbClr val="DDE2E7"/>
            </a:solidFill>
            <a:prstDash val="solid"/>
          </a:ln>
        </p:spPr>
      </p:sp>
      <p:sp>
        <p:nvSpPr>
          <p:cNvPr id="5" name="fit-divider"/>
          <p:cNvSpPr/>
          <p:nvPr/>
        </p:nvSpPr>
        <p:spPr>
          <a:xfrm>
            <a:off x="6095848" y="1417320"/>
            <a:ext cx="0" cy="4480560"/>
          </a:xfrm>
          <a:prstGeom prst="line">
            <a:avLst/>
          </a:prstGeom>
          <a:noFill/>
          <a:ln w="9525">
            <a:solidFill>
              <a:srgbClr val="DDE2E7"/>
            </a:solidFill>
            <a:prstDash val="solid"/>
          </a:ln>
        </p:spPr>
      </p:sp>
      <p:sp>
        <p:nvSpPr>
          <p:cNvPr id="6" name="Text 4"/>
          <p:cNvSpPr txBox="1"/>
          <p:nvPr/>
        </p:nvSpPr>
        <p:spPr>
          <a:xfrm>
            <a:off x="640080" y="1645920"/>
            <a:ext cx="380984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FISCO BCOS</a:t>
            </a:r>
            <a:endParaRPr lang="en-US" sz="1800" dirty="0"/>
          </a:p>
        </p:txBody>
      </p:sp>
      <p:sp>
        <p:nvSpPr>
          <p:cNvPr id="7" name="Text 5"/>
          <p:cNvSpPr txBox="1"/>
          <p:nvPr/>
        </p:nvSpPr>
        <p:spPr>
          <a:xfrm>
            <a:off x="4632808" y="1645920"/>
            <a:ext cx="914400" cy="365760"/>
          </a:xfrm>
          <a:prstGeom prst="rect">
            <a:avLst/>
          </a:prstGeom>
          <a:noFill/>
          <a:ln/>
        </p:spPr>
        <p:txBody>
          <a:bodyPr wrap="square" lIns="0" tIns="0" rIns="0" bIns="0" rtlCol="0" anchor="t"/>
          <a:lstStyle/>
          <a:p>
            <a:pPr algn="r" indent="0" marL="0">
              <a:buNone/>
            </a:pPr>
            <a:r>
              <a:rPr lang="en-US" sz="1300" b="1" dirty="0">
                <a:solidFill>
                  <a:schemeClr val="accent1"/>
                </a:solidFill>
                <a:latin typeface="Arial" pitchFamily="34" charset="0"/>
                <a:ea typeface="Arial" pitchFamily="34" charset="-122"/>
                <a:cs typeface="Arial" pitchFamily="34" charset="-120"/>
              </a:rPr>
              <a:t>Built</a:t>
            </a:r>
            <a:endParaRPr lang="en-US" sz="1300" dirty="0"/>
          </a:p>
        </p:txBody>
      </p:sp>
      <p:sp>
        <p:nvSpPr>
          <p:cNvPr id="8" name="Text 6"/>
          <p:cNvSpPr txBox="1"/>
          <p:nvPr/>
        </p:nvSpPr>
        <p:spPr>
          <a:xfrm>
            <a:off x="640080" y="2148840"/>
            <a:ext cx="4907128" cy="1280160"/>
          </a:xfrm>
          <a:prstGeom prst="rect">
            <a:avLst/>
          </a:prstGeom>
          <a:noFill/>
          <a:ln/>
        </p:spPr>
        <p:txBody>
          <a:bodyPr wrap="square" lIns="0" tIns="0" rIns="0" bIns="0" rtlCol="0" anchor="t"/>
          <a:lstStyle/>
          <a:p>
            <a:pPr indent="0" marL="0">
              <a:buNone/>
            </a:pPr>
            <a:r>
              <a:rPr lang="en-US" sz="1400" dirty="0">
                <a:solidFill>
                  <a:schemeClr val="accent5"/>
                </a:solidFill>
                <a:latin typeface="Arial" pitchFamily="34" charset="0"/>
                <a:ea typeface="Arial" pitchFamily="34" charset="-122"/>
                <a:cs typeface="Arial" pitchFamily="34" charset="-120"/>
              </a:rPr>
              <a:t>Advisory records anchored on WeBank's consortium chain. In production the nodes would be run by the bank, an auditor and the regulator.</a:t>
            </a:r>
            <a:endParaRPr lang="en-US" sz="1400" dirty="0"/>
          </a:p>
        </p:txBody>
      </p:sp>
      <p:sp>
        <p:nvSpPr>
          <p:cNvPr id="9" name="Text 7"/>
          <p:cNvSpPr txBox="1"/>
          <p:nvPr/>
        </p:nvSpPr>
        <p:spPr>
          <a:xfrm>
            <a:off x="6461608" y="1645920"/>
            <a:ext cx="380984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FATE federated learning</a:t>
            </a:r>
            <a:endParaRPr lang="en-US" sz="1800" dirty="0"/>
          </a:p>
        </p:txBody>
      </p:sp>
      <p:sp>
        <p:nvSpPr>
          <p:cNvPr id="10" name="Text 8"/>
          <p:cNvSpPr txBox="1"/>
          <p:nvPr/>
        </p:nvSpPr>
        <p:spPr>
          <a:xfrm>
            <a:off x="10454335" y="1645920"/>
            <a:ext cx="914400" cy="365760"/>
          </a:xfrm>
          <a:prstGeom prst="rect">
            <a:avLst/>
          </a:prstGeom>
          <a:noFill/>
          <a:ln/>
        </p:spPr>
        <p:txBody>
          <a:bodyPr wrap="square" lIns="0" tIns="0" rIns="0" bIns="0" rtlCol="0" anchor="t"/>
          <a:lstStyle/>
          <a:p>
            <a:pPr algn="r" indent="0" marL="0">
              <a:buNone/>
            </a:pPr>
            <a:r>
              <a:rPr lang="en-US" sz="1300" b="1" dirty="0">
                <a:solidFill>
                  <a:schemeClr val="accent2"/>
                </a:solidFill>
                <a:latin typeface="Arial" pitchFamily="34" charset="0"/>
                <a:ea typeface="Arial" pitchFamily="34" charset="-122"/>
                <a:cs typeface="Arial" pitchFamily="34" charset="-120"/>
              </a:rPr>
              <a:t>Next</a:t>
            </a:r>
            <a:endParaRPr lang="en-US" sz="1300" dirty="0"/>
          </a:p>
        </p:txBody>
      </p:sp>
      <p:sp>
        <p:nvSpPr>
          <p:cNvPr id="11" name="Text 9"/>
          <p:cNvSpPr txBox="1"/>
          <p:nvPr/>
        </p:nvSpPr>
        <p:spPr>
          <a:xfrm>
            <a:off x="6461608" y="2148840"/>
            <a:ext cx="4907128" cy="1280160"/>
          </a:xfrm>
          <a:prstGeom prst="rect">
            <a:avLst/>
          </a:prstGeom>
          <a:noFill/>
          <a:ln/>
        </p:spPr>
        <p:txBody>
          <a:bodyPr wrap="square" lIns="0" tIns="0" rIns="0" bIns="0" rtlCol="0" anchor="t"/>
          <a:lstStyle/>
          <a:p>
            <a:pPr indent="0" marL="0">
              <a:buNone/>
            </a:pPr>
            <a:r>
              <a:rPr lang="en-US" sz="1400" dirty="0">
                <a:solidFill>
                  <a:schemeClr val="accent5"/>
                </a:solidFill>
                <a:latin typeface="Arial" pitchFamily="34" charset="0"/>
                <a:ea typeface="Arial" pitchFamily="34" charset="-122"/>
                <a:cs typeface="Arial" pitchFamily="34" charset="-120"/>
              </a:rPr>
              <a:t>Crash Rehearsal creates a new signal, revealed risk tolerance. Banks could learn to predict it from questionnaires with FATE without pooling client data.</a:t>
            </a:r>
            <a:endParaRPr lang="en-US" sz="1400" dirty="0"/>
          </a:p>
        </p:txBody>
      </p:sp>
      <p:sp>
        <p:nvSpPr>
          <p:cNvPr id="12" name="Text 10"/>
          <p:cNvSpPr txBox="1"/>
          <p:nvPr/>
        </p:nvSpPr>
        <p:spPr>
          <a:xfrm>
            <a:off x="640080" y="3886200"/>
            <a:ext cx="380984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Fund distribution</a:t>
            </a:r>
            <a:endParaRPr lang="en-US" sz="1800" dirty="0"/>
          </a:p>
        </p:txBody>
      </p:sp>
      <p:sp>
        <p:nvSpPr>
          <p:cNvPr id="13" name="Text 11"/>
          <p:cNvSpPr txBox="1"/>
          <p:nvPr/>
        </p:nvSpPr>
        <p:spPr>
          <a:xfrm>
            <a:off x="4632808" y="3886200"/>
            <a:ext cx="914400" cy="365760"/>
          </a:xfrm>
          <a:prstGeom prst="rect">
            <a:avLst/>
          </a:prstGeom>
          <a:noFill/>
          <a:ln/>
        </p:spPr>
        <p:txBody>
          <a:bodyPr wrap="square" lIns="0" tIns="0" rIns="0" bIns="0" rtlCol="0" anchor="t"/>
          <a:lstStyle/>
          <a:p>
            <a:pPr algn="r" indent="0" marL="0">
              <a:buNone/>
            </a:pPr>
            <a:r>
              <a:rPr lang="en-US" sz="1300" b="1" dirty="0">
                <a:solidFill>
                  <a:schemeClr val="accent1"/>
                </a:solidFill>
                <a:latin typeface="Arial" pitchFamily="34" charset="0"/>
                <a:ea typeface="Arial" pitchFamily="34" charset="-122"/>
                <a:cs typeface="Arial" pitchFamily="34" charset="-120"/>
              </a:rPr>
              <a:t>Built</a:t>
            </a:r>
            <a:endParaRPr lang="en-US" sz="1300" dirty="0"/>
          </a:p>
        </p:txBody>
      </p:sp>
      <p:sp>
        <p:nvSpPr>
          <p:cNvPr id="14" name="Text 12"/>
          <p:cNvSpPr txBox="1"/>
          <p:nvPr/>
        </p:nvSpPr>
        <p:spPr>
          <a:xfrm>
            <a:off x="640080" y="4389120"/>
            <a:ext cx="4907128" cy="1280160"/>
          </a:xfrm>
          <a:prstGeom prst="rect">
            <a:avLst/>
          </a:prstGeom>
          <a:noFill/>
          <a:ln/>
        </p:spPr>
        <p:txBody>
          <a:bodyPr wrap="square" lIns="0" tIns="0" rIns="0" bIns="0" rtlCol="0" anchor="t"/>
          <a:lstStyle/>
          <a:p>
            <a:pPr indent="0" marL="0">
              <a:buNone/>
            </a:pPr>
            <a:r>
              <a:rPr lang="en-US" sz="1400" dirty="0">
                <a:solidFill>
                  <a:schemeClr val="accent5"/>
                </a:solidFill>
                <a:latin typeface="Arial" pitchFamily="34" charset="0"/>
                <a:ea typeface="Arial" pitchFamily="34" charset="-122"/>
                <a:cs typeface="Arial" pitchFamily="34" charset="-120"/>
              </a:rPr>
              <a:t>Real public funds with distributor risk levels: the products a digital bank already sells.</a:t>
            </a:r>
            <a:endParaRPr lang="en-US" sz="1400" dirty="0"/>
          </a:p>
        </p:txBody>
      </p:sp>
      <p:sp>
        <p:nvSpPr>
          <p:cNvPr id="15" name="Text 13"/>
          <p:cNvSpPr txBox="1"/>
          <p:nvPr/>
        </p:nvSpPr>
        <p:spPr>
          <a:xfrm>
            <a:off x="6461608" y="3886200"/>
            <a:ext cx="380984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Bilingual by design</a:t>
            </a:r>
            <a:endParaRPr lang="en-US" sz="1800" dirty="0"/>
          </a:p>
        </p:txBody>
      </p:sp>
      <p:sp>
        <p:nvSpPr>
          <p:cNvPr id="16" name="Text 14"/>
          <p:cNvSpPr txBox="1"/>
          <p:nvPr/>
        </p:nvSpPr>
        <p:spPr>
          <a:xfrm>
            <a:off x="10454335" y="3886200"/>
            <a:ext cx="914400" cy="365760"/>
          </a:xfrm>
          <a:prstGeom prst="rect">
            <a:avLst/>
          </a:prstGeom>
          <a:noFill/>
          <a:ln/>
        </p:spPr>
        <p:txBody>
          <a:bodyPr wrap="square" lIns="0" tIns="0" rIns="0" bIns="0" rtlCol="0" anchor="t"/>
          <a:lstStyle/>
          <a:p>
            <a:pPr algn="r" indent="0" marL="0">
              <a:buNone/>
            </a:pPr>
            <a:r>
              <a:rPr lang="en-US" sz="1300" b="1" dirty="0">
                <a:solidFill>
                  <a:schemeClr val="accent1"/>
                </a:solidFill>
                <a:latin typeface="Arial" pitchFamily="34" charset="0"/>
                <a:ea typeface="Arial" pitchFamily="34" charset="-122"/>
                <a:cs typeface="Arial" pitchFamily="34" charset="-120"/>
              </a:rPr>
              <a:t>Built</a:t>
            </a:r>
            <a:endParaRPr lang="en-US" sz="1300" dirty="0"/>
          </a:p>
        </p:txBody>
      </p:sp>
      <p:sp>
        <p:nvSpPr>
          <p:cNvPr id="17" name="Text 15"/>
          <p:cNvSpPr txBox="1"/>
          <p:nvPr/>
        </p:nvSpPr>
        <p:spPr>
          <a:xfrm>
            <a:off x="6461608" y="4389120"/>
            <a:ext cx="4907128" cy="1280160"/>
          </a:xfrm>
          <a:prstGeom prst="rect">
            <a:avLst/>
          </a:prstGeom>
          <a:noFill/>
          <a:ln/>
        </p:spPr>
        <p:txBody>
          <a:bodyPr wrap="square" lIns="0" tIns="0" rIns="0" bIns="0" rtlCol="0" anchor="t"/>
          <a:lstStyle/>
          <a:p>
            <a:pPr indent="0" marL="0">
              <a:buNone/>
            </a:pPr>
            <a:r>
              <a:rPr lang="en-US" sz="1400" dirty="0">
                <a:solidFill>
                  <a:schemeClr val="accent5"/>
                </a:solidFill>
                <a:latin typeface="Arial" pitchFamily="34" charset="0"/>
                <a:ea typeface="Arial" pitchFamily="34" charset="-122"/>
                <a:cs typeface="Arial" pitchFamily="34" charset="-120"/>
              </a:rPr>
              <a:t>English and 简体中文 throughout, for Shenzhen and clients across the region.</a:t>
            </a:r>
            <a:endParaRPr lang="en-US" sz="14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logo-close" descr="Keel logo">    </p:cNvPr>
          <p:cNvPicPr>
            <a:picLocks noChangeAspect="1"/>
          </p:cNvPicPr>
          <p:nvPr/>
        </p:nvPicPr>
        <p:blipFill>
          <a:blip r:embed="rId1"/>
          <a:stretch>
            <a:fillRect/>
          </a:stretch>
        </p:blipFill>
        <p:spPr>
          <a:xfrm>
            <a:off x="640080" y="640080"/>
            <a:ext cx="457200" cy="457200"/>
          </a:xfrm>
          <a:prstGeom prst="rect">
            <a:avLst/>
          </a:prstGeom>
        </p:spPr>
      </p:pic>
      <p:sp>
        <p:nvSpPr>
          <p:cNvPr id="3" name="Text 0"/>
          <p:cNvSpPr txBox="1"/>
          <p:nvPr/>
        </p:nvSpPr>
        <p:spPr>
          <a:xfrm>
            <a:off x="640080" y="1737360"/>
            <a:ext cx="10058400" cy="1280160"/>
          </a:xfrm>
          <a:prstGeom prst="rect">
            <a:avLst/>
          </a:prstGeom>
          <a:noFill/>
          <a:ln/>
        </p:spPr>
        <p:txBody>
          <a:bodyPr wrap="square" lIns="0" tIns="0" rIns="0" bIns="0" rtlCol="0" anchor="b"/>
          <a:lstStyle/>
          <a:p>
            <a:pPr indent="0" marL="0">
              <a:buNone/>
            </a:pPr>
            <a:r>
              <a:rPr lang="en-US" sz="6000" b="1" dirty="0">
                <a:solidFill>
                  <a:schemeClr val="bg1"/>
                </a:solidFill>
                <a:latin typeface="Arial" pitchFamily="34" charset="0"/>
                <a:ea typeface="Arial" pitchFamily="34" charset="-122"/>
                <a:cs typeface="Arial" pitchFamily="34" charset="-120"/>
              </a:rPr>
              <a:t>Advice you can check.</a:t>
            </a:r>
            <a:endParaRPr lang="en-US" sz="6000" dirty="0"/>
          </a:p>
        </p:txBody>
      </p:sp>
      <p:sp>
        <p:nvSpPr>
          <p:cNvPr id="4" name="Text 1"/>
          <p:cNvSpPr txBox="1"/>
          <p:nvPr/>
        </p:nvSpPr>
        <p:spPr>
          <a:xfrm>
            <a:off x="640080" y="3291840"/>
            <a:ext cx="9875520" cy="1005840"/>
          </a:xfrm>
          <a:prstGeom prst="rect">
            <a:avLst/>
          </a:prstGeom>
          <a:noFill/>
          <a:ln/>
        </p:spPr>
        <p:txBody>
          <a:bodyPr wrap="square" lIns="0" tIns="0" rIns="0" bIns="0" rtlCol="0" anchor="t"/>
          <a:lstStyle/>
          <a:p>
            <a:pPr indent="0" marL="0">
              <a:buNone/>
            </a:pPr>
            <a:r>
              <a:rPr lang="en-US" sz="2100" dirty="0">
                <a:solidFill>
                  <a:srgbClr val="A6B1BC"/>
                </a:solidFill>
                <a:latin typeface="Arial" pitchFamily="34" charset="0"/>
                <a:ea typeface="Arial" pitchFamily="34" charset="-122"/>
                <a:cs typeface="Arial" pitchFamily="34" charset="-120"/>
              </a:rPr>
              <a:t>Rehearse the crash before investing. Ground every number in code. Let only the client move money. Anchor the record on chain.</a:t>
            </a:r>
            <a:endParaRPr lang="en-US" sz="2100" dirty="0"/>
          </a:p>
        </p:txBody>
      </p:sp>
      <p:sp>
        <p:nvSpPr>
          <p:cNvPr id="5" name="close-rule"/>
          <p:cNvSpPr/>
          <p:nvPr/>
        </p:nvSpPr>
        <p:spPr>
          <a:xfrm>
            <a:off x="640080" y="5257800"/>
            <a:ext cx="10911535" cy="0"/>
          </a:xfrm>
          <a:prstGeom prst="line">
            <a:avLst/>
          </a:prstGeom>
          <a:noFill/>
          <a:ln w="9525">
            <a:solidFill>
              <a:srgbClr val="2E3F4E"/>
            </a:solidFill>
            <a:prstDash val="solid"/>
          </a:ln>
        </p:spPr>
      </p:sp>
      <p:sp>
        <p:nvSpPr>
          <p:cNvPr id="6" name="Text 3"/>
          <p:cNvSpPr txBox="1"/>
          <p:nvPr/>
        </p:nvSpPr>
        <p:spPr>
          <a:xfrm>
            <a:off x="640080" y="5440680"/>
            <a:ext cx="10515600" cy="685800"/>
          </a:xfrm>
          <a:prstGeom prst="rect">
            <a:avLst/>
          </a:prstGeom>
          <a:noFill/>
          <a:ln/>
        </p:spPr>
        <p:txBody>
          <a:bodyPr wrap="square" lIns="0" tIns="0" rIns="0" bIns="0" rtlCol="0" anchor="t"/>
          <a:lstStyle/>
          <a:p>
            <a:pPr indent="0" marL="0">
              <a:lnSpc>
                <a:spcPct val="120000"/>
              </a:lnSpc>
              <a:buNone/>
            </a:pPr>
            <a:r>
              <a:rPr lang="en-US" sz="1400" dirty="0">
                <a:solidFill>
                  <a:srgbClr val="A6B1BC"/>
                </a:solidFill>
                <a:latin typeface="Arial" pitchFamily="34" charset="0"/>
                <a:ea typeface="Arial" pitchFamily="34" charset="-122"/>
                <a:cs typeface="Arial" pitchFamily="34" charset="-120"/>
              </a:rPr>
              <a:t>Code and documentation: github.com/[account]/[repository]</a:t>
            </a:r>
            <a:endParaRPr lang="en-US" sz="1400" dirty="0"/>
          </a:p>
          <a:p>
            <a:pPr indent="0" marL="0">
              <a:lnSpc>
                <a:spcPct val="120000"/>
              </a:lnSpc>
              <a:buNone/>
            </a:pPr>
            <a:r>
              <a:rPr lang="en-US" sz="1400" dirty="0">
                <a:solidFill>
                  <a:srgbClr val="A6B1BC"/>
                </a:solidFill>
                <a:latin typeface="Arial" pitchFamily="34" charset="0"/>
                <a:ea typeface="Arial" pitchFamily="34" charset="-122"/>
                <a:cs typeface="Arial" pitchFamily="34" charset="-120"/>
              </a:rPr>
              <a:t>[Name 1], [Name 2]   Westminster International University in Tashkent</a:t>
            </a:r>
            <a:endParaRPr lang="en-US" sz="1400" dirty="0"/>
          </a:p>
        </p:txBody>
      </p:sp>
      <p:sp>
        <p:nvSpPr>
          <p:cNvPr id="25" name="Slide Number Placeholder 0"/>
          <p:cNvSpPr>
            <a:spLocks noGrp="1"/>
          </p:cNvSpPr>
          <p:nvPr>
            <p:ph type="sldNum" sz="quarter" idx="4294967295"/>
          </p:nvPr>
        </p:nvSpPr>
        <p:spPr>
          <a:xfrm>
            <a:off x="1100297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A6B1BC"/>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Keel">
  <a:themeElements>
    <a:clrScheme name="Keel">
      <a:dk1>
        <a:srgbClr val="0F1B26"/>
      </a:dk1>
      <a:lt1>
        <a:srgbClr val="FFFFFF"/>
      </a:lt1>
      <a:dk2>
        <a:srgbClr val="0A1016"/>
      </a:dk2>
      <a:lt2>
        <a:srgbClr val="F5F6F7"/>
      </a:lt2>
      <a:accent1>
        <a:srgbClr val="23476B"/>
      </a:accent1>
      <a:accent2>
        <a:srgbClr val="8A6420"/>
      </a:accent2>
      <a:accent3>
        <a:srgbClr val="0F9A8C"/>
      </a:accent3>
      <a:accent4>
        <a:srgbClr val="C9623A"/>
      </a:accent4>
      <a:accent5>
        <a:srgbClr val="5A6773"/>
      </a:accent5>
      <a:accent6>
        <a:srgbClr val="C9A45C"/>
      </a:accent6>
      <a:hlink>
        <a:srgbClr val="23476B"/>
      </a:hlink>
      <a:folHlink>
        <a:srgbClr val="6E4F16"/>
      </a:folHlink>
    </a:clrScheme>
    <a:fontScheme name="K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Keel: an AI wealth advisor</dc:title>
  <dc:subject>PptxGenJS Presentation</dc:subject>
  <dc:creator>Team Keel</dc:creator>
  <cp:lastModifiedBy>Team Keel</cp:lastModifiedBy>
  <cp:revision>1</cp:revision>
  <dcterms:created xsi:type="dcterms:W3CDTF">2026-10-12T07:42:20Z</dcterms:created>
  <dcterms:modified xsi:type="dcterms:W3CDTF">2026-10-12T07:42:20Z</dcterms:modified>
</cp:coreProperties>
</file>