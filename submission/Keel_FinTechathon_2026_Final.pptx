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ea78ae80704fdb" /><Relationship Type="http://schemas.openxmlformats.org/officeDocument/2006/relationships/extended-properties" Target="/docProps/app.xml" Id="R2947907b49aa4b83" /><Relationship Type="http://schemas.openxmlformats.org/officeDocument/2006/relationships/officeDocument" Target="/ppt/presentation.xml" Id="R61ea2beded3b473d" /></Relationships>
</file>

<file path=ppt/presentation.xml><?xml version="1.0" encoding="utf-8"?>
<p:presentation xmlns:p="http://schemas.openxmlformats.org/presentationml/2006/main">
  <p:sldMasterIdLst>
    <p:sldMasterId xmlns:r="http://schemas.openxmlformats.org/officeDocument/2006/relationships" id="2147483648" r:id="R9d6990ec17c94366"/>
  </p:sldMasterIdLst>
  <p:notesMasterIdLst>
    <p:notesMasterId xmlns:r="http://schemas.openxmlformats.org/officeDocument/2006/relationships" r:id="R1aa6f6e43bf74c1c"/>
  </p:notesMasterIdLst>
  <p:sldIdLst>
    <p:sldId xmlns:r="http://schemas.openxmlformats.org/officeDocument/2006/relationships" id="256" r:id="Ra08f32f26dd74b5c"/>
    <p:sldId xmlns:r="http://schemas.openxmlformats.org/officeDocument/2006/relationships" id="257" r:id="R83a643af8061429d"/>
    <p:sldId xmlns:r="http://schemas.openxmlformats.org/officeDocument/2006/relationships" id="258" r:id="Rd9926193523843e4"/>
    <p:sldId xmlns:r="http://schemas.openxmlformats.org/officeDocument/2006/relationships" id="259" r:id="Rb74a0806be6243bb"/>
    <p:sldId xmlns:r="http://schemas.openxmlformats.org/officeDocument/2006/relationships" id="260" r:id="Rf2c31c02edef49a6"/>
    <p:sldId xmlns:r="http://schemas.openxmlformats.org/officeDocument/2006/relationships" id="261" r:id="Rd268e6d358f645b9"/>
    <p:sldId xmlns:r="http://schemas.openxmlformats.org/officeDocument/2006/relationships" id="262" r:id="Rf5b85420120d4581"/>
    <p:sldId xmlns:r="http://schemas.openxmlformats.org/officeDocument/2006/relationships" id="263" r:id="Re4cac73b126245c2"/>
    <p:sldId xmlns:r="http://schemas.openxmlformats.org/officeDocument/2006/relationships" id="264" r:id="R67a0238294604ac6"/>
    <p:sldId xmlns:r="http://schemas.openxmlformats.org/officeDocument/2006/relationships" id="265" r:id="R5c741c71216f4068"/>
    <p:sldId xmlns:r="http://schemas.openxmlformats.org/officeDocument/2006/relationships" id="266" r:id="Rcb902029be504ecc"/>
    <p:sldId xmlns:r="http://schemas.openxmlformats.org/officeDocument/2006/relationships" id="267" r:id="R7d15e81c6579491e"/>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a17ca789434fe4" /><Relationship Type="http://schemas.openxmlformats.org/officeDocument/2006/relationships/slideMaster" Target="/ppt/slideMasters/slideMaster1.xml" Id="R9d6990ec17c94366" /><Relationship Type="http://schemas.openxmlformats.org/officeDocument/2006/relationships/notesMaster" Target="/ppt/notesMasters/notesMaster1.xml" Id="R1aa6f6e43bf74c1c" /><Relationship Type="http://schemas.openxmlformats.org/officeDocument/2006/relationships/presProps" Target="/ppt/presProps.xml" Id="Rbe1e2e51a08e471c" /><Relationship Type="http://schemas.openxmlformats.org/officeDocument/2006/relationships/viewProps" Target="/ppt/viewProps.xml" Id="R1c8a37dc346542a0" /><Relationship Type="http://schemas.openxmlformats.org/officeDocument/2006/relationships/tableStyles" Target="/ppt/tableStyles.xml" Id="R06b2c46f69d74deb" /><Relationship Type="http://schemas.openxmlformats.org/officeDocument/2006/relationships/slide" Target="/ppt/slides/slide1.xml" Id="Ra08f32f26dd74b5c" /><Relationship Type="http://schemas.openxmlformats.org/officeDocument/2006/relationships/slide" Target="/ppt/slides/slide2.xml" Id="R83a643af8061429d" /><Relationship Type="http://schemas.openxmlformats.org/officeDocument/2006/relationships/slide" Target="/ppt/slides/slide3.xml" Id="Rd9926193523843e4" /><Relationship Type="http://schemas.openxmlformats.org/officeDocument/2006/relationships/slide" Target="/ppt/slides/slide4.xml" Id="Rb74a0806be6243bb" /><Relationship Type="http://schemas.openxmlformats.org/officeDocument/2006/relationships/slide" Target="/ppt/slides/slide5.xml" Id="Rf2c31c02edef49a6" /><Relationship Type="http://schemas.openxmlformats.org/officeDocument/2006/relationships/slide" Target="/ppt/slides/slide6.xml" Id="Rd268e6d358f645b9" /><Relationship Type="http://schemas.openxmlformats.org/officeDocument/2006/relationships/slide" Target="/ppt/slides/slide7.xml" Id="Rf5b85420120d4581" /><Relationship Type="http://schemas.openxmlformats.org/officeDocument/2006/relationships/slide" Target="/ppt/slides/slide8.xml" Id="Re4cac73b126245c2" /><Relationship Type="http://schemas.openxmlformats.org/officeDocument/2006/relationships/slide" Target="/ppt/slides/slide9.xml" Id="R67a0238294604ac6" /><Relationship Type="http://schemas.openxmlformats.org/officeDocument/2006/relationships/slide" Target="/ppt/slides/slide10.xml" Id="R5c741c71216f4068" /><Relationship Type="http://schemas.openxmlformats.org/officeDocument/2006/relationships/slide" Target="/ppt/slides/slide11.xml" Id="Rcb902029be504ecc" /><Relationship Type="http://schemas.openxmlformats.org/officeDocument/2006/relationships/slide" Target="/ppt/slides/slide12.xml" Id="R7d15e81c657949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ee7d867eb540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529792333d400b" /><Relationship Type="http://schemas.openxmlformats.org/officeDocument/2006/relationships/notesMaster" Target="/ppt/notesMasters/notesMaster1.xml" Id="R2f55aba1a7474b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5d32278fb402d" /><Relationship Type="http://schemas.openxmlformats.org/officeDocument/2006/relationships/notesMaster" Target="/ppt/notesMasters/notesMaster1.xml" Id="R2b8b41f264a8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076e21e6c04605" /><Relationship Type="http://schemas.openxmlformats.org/officeDocument/2006/relationships/notesMaster" Target="/ppt/notesMasters/notesMaster1.xml" Id="R1fc6f717c8334f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252e0ea839438b" /><Relationship Type="http://schemas.openxmlformats.org/officeDocument/2006/relationships/notesMaster" Target="/ppt/notesMasters/notesMaster1.xml" Id="Rdcf8eb7961794c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94c2e425764726" /><Relationship Type="http://schemas.openxmlformats.org/officeDocument/2006/relationships/notesMaster" Target="/ppt/notesMasters/notesMaster1.xml" Id="R4b5e244555e54d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d39cd41eba4ea7" /><Relationship Type="http://schemas.openxmlformats.org/officeDocument/2006/relationships/notesMaster" Target="/ppt/notesMasters/notesMaster1.xml" Id="R8e67b3d7109f45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00a3ee3a824edc" /><Relationship Type="http://schemas.openxmlformats.org/officeDocument/2006/relationships/notesMaster" Target="/ppt/notesMasters/notesMaster1.xml" Id="R9935b897b9d34c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76269620194143" /><Relationship Type="http://schemas.openxmlformats.org/officeDocument/2006/relationships/notesMaster" Target="/ppt/notesMasters/notesMaster1.xml" Id="Rb4f40fb1354345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fc593b322d45b7" /><Relationship Type="http://schemas.openxmlformats.org/officeDocument/2006/relationships/notesMaster" Target="/ppt/notesMasters/notesMaster1.xml" Id="Rfd4f6a2318f045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921bd795fa485c" /><Relationship Type="http://schemas.openxmlformats.org/officeDocument/2006/relationships/notesMaster" Target="/ppt/notesMasters/notesMaster1.xml" Id="Rd8a69bde422f46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253b60ebf446a3" /><Relationship Type="http://schemas.openxmlformats.org/officeDocument/2006/relationships/notesMaster" Target="/ppt/notesMasters/notesMaster1.xml" Id="Rf806c808d2114e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072ecab8a44b67" /><Relationship Type="http://schemas.openxmlformats.org/officeDocument/2006/relationships/notesMaster" Target="/ppt/notesMasters/notesMaster1.xml" Id="R9cf9dfd1c0c04a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Team Keel from Westminster International University in Tashkent. Our project for Topic B is Keel, an AI wealth advisor. Before a client invests, it lets them live through a market crash with the exact portfolio it recommends; every number can be traced to the code that computed it. In the next nine minutes we show how, and why it matters to a bank like WeBank.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problems. First, risk questionnaires are easy to game: clients choose the answers that unlock the product they want, then panic-sell in the first crash. Second, language-model advisors invent numbers and can be jailbroken. Third, everyone says their advice is explainable, but nobody can verify a recommendation after the fact. Topic B asks for compliant and explainable advice. We made both claims checkable.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core insight. What clients say about risk in a questionnaire is not what they do in a crash. So before any money moves, Keel has the client live through 2008 with the exact portfolio it is about to recommend, month by month, and lets them press Sell at any moment.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Keel follows the five steps a licensed advisor follows: risk profile, portfolio, a crash rehearsal, goal planning and investing. The client can do it in conversation, in English or Chinese, or with a two-minute questionnaire; both fill the same client file. Every underlined number opens its source: which function computed it and which audit record holds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rehearsal. The screen goes dark; the client's own portfolio moves month by month on real data, the headlines of the time appear, and the Sell button always shows the loss it would lock in. In one of our recorded evidence sessions, a client who said they would buy more in a crash sold in September 2008, 12.5 percent below the peak. Holding would have ended at 133,266 on 100,000; selling ended at 89,601. Keel lowered the class from C5 to C3 and refused the old portfolio. Behaviour can only make the advice safer, never riskier.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design rule: the model talks, code decides. The language model handles the conversation. Every figure, the risk class, suitability, limits and the order path live in deterministic server code the model cannot reach. Every number in the interface links to the function that computed it. An output guard checks each number in a reply against the session's tool results. And every decision goes into a hash-chained audit log whose head we write to a smart contract on WeBank's FISCO BCOS; change one record and verification fails.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products are 24 real Chinese public mutual funds: money market, bond and balanced funds, CSI 300 and 500, Hang Seng, S&amp;P 500, Nasdaq-100, gold and US real estate, the kind of products a digital bank distributes. Risk levels R1 to R5 come from the distributor labels, fees are the real fees, and volatility comes from ten years of NAV history. The table shows the resulting ladder, from 1.1 percent a year for C1 to 8 percent for C5, each with its worst historical loss.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is thirty percent of the score, so we enforce it in code, not in prompts. There are four permission tiers, and every session starts at Advise. Trading needs a signed risk disclosure, and every order needs a one-time token that only the person holding the confirm button receives; the model has no tool that can obtain one. Personal data is masked before any model call. Our red-team suite stops all 57 attacks, in five languages, and still answers all 8 harmless control requests normally.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we measured. All 30 scripted clients completed the journey on a live model, including six Chinese-language sessions. The red-team suite stopped 57 attacks, and 8 benign requests still worked. The offline test suite passed 156 tests and includes a local FISCO BCOS round trip. A backtest from 2008 to 2026 kept each risk class inside its volatility band, yet every class fell further than that number suggests; C5 lost 34 percent in 2008. That is why Keel enforces the client’s loss limit and makes them rehearse the crash.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in one picture. The language model sits outside the decision path: it can only talk and request tools. Every message passes an input guard that masks personal data and catches injection, then a bounded agent loop that only sees tools valid for the current stage, then an output guard that refuses numbers no tool produced. Each recommendation binds the profile, goal, catalog snapshot and calculation version. A material change makes the old recommendation stale, and consent and any draft order refer to that exact fingerprint. Numbers come from deterministic code; money moves only through client actions with a one-time token; everything lands in an audit log anchored on FISCO BCOS.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fits WeBank. The audit records already go to FISCO BCOS, the chain WeBank built. Next comes FATE: Crash Rehearsal produces a new signal, revealed risk tolerance, and banks could learn to predict it from questionnaire answers with federated learning, without pooling client data. The products are real public funds like those a digital bank distributes, and the whole interface is bilingual.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Keel: advice you can check. We rehearse the crash before the client invests, every number is grounded in audited code, only the client can move money, and the record lives on chain. Thank you; we are happy to take questions and to show the live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807d44e4c44d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ab487dac964f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899d059d5f42b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BEF9C33-2046-4140-B615-FAEB92330460}"/>
              </a:ext>
            </a:extLst>
          </p:cNvPr>
          <p:cNvSpPr>
            <a:spLocks xmlns:a="http://schemas.openxmlformats.org/drawingml/2006/main" noGrp="1"/>
          </p:cNvSpPr>
          <p:nvPr/>
        </p:nvSpPr>
        <p:spPr>
          <a:xfrm xmlns:a="http://schemas.openxmlformats.org/drawingml/2006/main">
            <a:off x="640080" y="635508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3" name="Text 1">
            <a:extLst xmlns:a="http://schemas.openxmlformats.org/drawingml/2006/main">
              <a:ext uri="{FF2B5EF4-FFF2-40B4-BE49-F238E27FC236}">
                <a16:creationId xmlns:a16="http://schemas.microsoft.com/office/drawing/2014/main" id="{CCDCF2E5-ED98-4FE0-83AF-5888C1747FC0}"/>
              </a:ext>
            </a:extLst>
          </p:cNvPr>
          <p:cNvSpPr>
            <a:spLocks xmlns:a="http://schemas.openxmlformats.org/drawingml/2006/main" noGrp="1"/>
          </p:cNvSpPr>
          <p:nvPr/>
        </p:nvSpPr>
        <p:spPr>
          <a:xfrm xmlns:a="http://schemas.openxmlformats.org/drawingml/2006/main">
            <a:off x="640080" y="6419088"/>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chemeClr val="accent5"/>
                </a:solidFill>
              </a:rPr>
              <a:t>Keel   FinTechathon 2026, International Track, Topic B</a:t>
            </a:r>
            <a:endParaRPr sz="950"/>
          </a:p>
        </p:txBody>
      </p:sp>
      <p:sp>
        <p:nvSpPr>
          <p:cNvPr id="4" name="Text 2">
            <a:extLst xmlns:a="http://schemas.openxmlformats.org/drawingml/2006/main">
              <a:ext uri="{FF2B5EF4-FFF2-40B4-BE49-F238E27FC236}">
                <a16:creationId xmlns:a16="http://schemas.microsoft.com/office/drawing/2014/main" id="{AC0B0679-C48A-43EF-BB9A-007EAF227596}"/>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latin typeface="Arial"/>
                <a:ea typeface="Arial"/>
                <a:cs typeface="Arial"/>
              </a:defRPr>
            </a:lvl1pPr>
          </a:lstStyle>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C65B5F87-BB8D-4D11-9F18-925A179D10BF}"/>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1002</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chemeClr val="tx2"/>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05B1F098-D2EC-4DDB-A8D7-D501343AB75D}"/>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4b923b45564d5f" /><Relationship Type="http://schemas.openxmlformats.org/officeDocument/2006/relationships/slideLayout" Target="/ppt/slideLayouts/slideLayout1.xml" Id="Rbd125dea503841ce" /><Relationship Type="http://schemas.openxmlformats.org/officeDocument/2006/relationships/slideLayout" Target="/ppt/slideLayouts/slideLayout2.xml" Id="R03b844c9d0ac4339" /><Relationship Type="http://schemas.openxmlformats.org/officeDocument/2006/relationships/slideLayout" Target="/ppt/slideLayouts/slideLayout3.xml" Id="R26765d3fb9b044b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CC3EEC5-3400-4ADD-B777-14B2D2D19073}"/>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125dea503841ce"/>
    <p:sldLayoutId xmlns:r="http://schemas.openxmlformats.org/officeDocument/2006/relationships" id="2147483650" r:id="R03b844c9d0ac4339"/>
    <p:sldLayoutId xmlns:r="http://schemas.openxmlformats.org/officeDocument/2006/relationships" id="2147483651" r:id="R26765d3fb9b044b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3efb096a71f34f29" /><Relationship Type="http://schemas.openxmlformats.org/officeDocument/2006/relationships/image" Target="/ppt/media/image.png" Id="R84d6389c596940d1" /><Relationship Type="http://schemas.openxmlformats.org/officeDocument/2006/relationships/notesSlide" Target="/ppt/notesSlides/notesSlide1.xml" Id="R994a1148069047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470eabb70344b94" /><Relationship Type="http://schemas.openxmlformats.org/officeDocument/2006/relationships/notesSlide" Target="/ppt/notesSlides/notesSlide2.xml" Id="Rb6cdecae938b4b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1b988dbef5324adb" /><Relationship Type="http://schemas.openxmlformats.org/officeDocument/2006/relationships/notesSlide" Target="/ppt/notesSlides/notesSlide3.xml" Id="Rea71617ca05745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31f3225ce6b45cc" /><Relationship Type="http://schemas.openxmlformats.org/officeDocument/2006/relationships/image" Target="/ppt/media/image2.png" Id="R2bcd35597c064d38" /><Relationship Type="http://schemas.openxmlformats.org/officeDocument/2006/relationships/notesSlide" Target="/ppt/notesSlides/notesSlide4.xml" Id="R9c951e8a648944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e6162e7cf5f4957" /><Relationship Type="http://schemas.openxmlformats.org/officeDocument/2006/relationships/image" Target="/ppt/media/image3.png" Id="Raad7c85562e7426a" /><Relationship Type="http://schemas.openxmlformats.org/officeDocument/2006/relationships/notesSlide" Target="/ppt/notesSlides/notesSlide5.xml" Id="R5548b6852be44c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9306ed5102846f0" /><Relationship Type="http://schemas.openxmlformats.org/officeDocument/2006/relationships/notesSlide" Target="/ppt/notesSlides/notesSlide6.xml" Id="R929311cff3e344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68a54a4024e4eeb" /><Relationship Type="http://schemas.openxmlformats.org/officeDocument/2006/relationships/notesSlide" Target="/ppt/notesSlides/notesSlide7.xml" Id="Rc63a1e5c835741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1b906a4e7584064" /><Relationship Type="http://schemas.openxmlformats.org/officeDocument/2006/relationships/notesSlide" Target="/ppt/notesSlides/notesSlide8.xml" Id="R4da95d2cfd0443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35014a5b58346a2" /><Relationship Type="http://schemas.openxmlformats.org/officeDocument/2006/relationships/notesSlide" Target="/ppt/notesSlides/notesSlide9.xml" Id="Rd6f35de089e842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4e3d71528eb4119" /><Relationship Type="http://schemas.openxmlformats.org/officeDocument/2006/relationships/image" Target="/ppt/media/image4.png" Id="R3abfdf5d1765495a" /><Relationship Type="http://schemas.openxmlformats.org/officeDocument/2006/relationships/notesSlide" Target="/ppt/notesSlides/notesSlide10.xml" Id="Rc669d29cda5c4d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6c37d393d344ef2" /><Relationship Type="http://schemas.openxmlformats.org/officeDocument/2006/relationships/notesSlide" Target="/ppt/notesSlides/notesSlide11.xml" Id="R377fb877c2744f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319fd5f60b834c51" /><Relationship Type="http://schemas.openxmlformats.org/officeDocument/2006/relationships/image" Target="/ppt/media/image5.png" Id="R39c94232c9f64a71" /><Relationship Type="http://schemas.openxmlformats.org/officeDocument/2006/relationships/notesSlide" Target="/ppt/notesSlides/notesSlide12.xml" Id="R82342bd842b949e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logo">
            <a:extLst xmlns:a="http://schemas.openxmlformats.org/drawingml/2006/main">
              <a:ext uri="{FF2B5EF4-FFF2-40B4-BE49-F238E27FC236}">
                <a16:creationId xmlns:a16="http://schemas.microsoft.com/office/drawing/2014/main" id="{F161DF2E-6153-428A-B568-123244B2423C}"/>
              </a:ext>
            </a:extLst>
          </p:cNvPr>
          <p:cNvPicPr>
            <a:picLocks xmlns:a="http://schemas.openxmlformats.org/drawingml/2006/main" noChangeAspect="1"/>
          </p:cNvPicPr>
          <p:nvPr/>
        </p:nvPicPr>
        <p:blipFill>
          <a:blip xmlns:r="http://schemas.openxmlformats.org/officeDocument/2006/relationships" xmlns:a="http://schemas.openxmlformats.org/drawingml/2006/main" r:embed="R84d6389c596940d1"/>
          <a:stretch xmlns:a="http://schemas.openxmlformats.org/drawingml/2006/main">
            <a:fillRect l="0" t="0" r="0" b="0"/>
          </a:stretch>
        </p:blipFill>
        <p:spPr>
          <a:xfrm xmlns:a="http://schemas.openxmlformats.org/drawingml/2006/main">
            <a:off x="640080" y="640080"/>
            <a:ext cx="457200" cy="4572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F6C0BA6-AFA7-4176-B55A-91760798AC9E}"/>
              </a:ext>
            </a:extLst>
          </p:cNvPr>
          <p:cNvSpPr>
            <a:spLocks xmlns:a="http://schemas.openxmlformats.org/drawingml/2006/main" noGrp="1"/>
          </p:cNvSpPr>
          <p:nvPr/>
        </p:nvSpPr>
        <p:spPr>
          <a:xfrm xmlns:a="http://schemas.openxmlformats.org/drawingml/2006/main">
            <a:off x="1261872" y="640080"/>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bg1"/>
                </a:solidFill>
                <a:latin typeface="Arial"/>
                <a:ea typeface="Arial"/>
                <a:cs typeface="Arial"/>
              </a:rPr>
              <a:t>Keel</a:t>
            </a:r>
            <a:endParaRPr sz="2200"/>
          </a:p>
        </p:txBody>
      </p:sp>
      <p:sp>
        <p:nvSpPr>
          <p:cNvPr id="4" name="Text 1">
            <a:extLst xmlns:a="http://schemas.openxmlformats.org/drawingml/2006/main">
              <a:ext uri="{FF2B5EF4-FFF2-40B4-BE49-F238E27FC236}">
                <a16:creationId xmlns:a16="http://schemas.microsoft.com/office/drawing/2014/main" id="{B35A20D1-2FB4-4762-BE8F-1F2E3A33AA54}"/>
              </a:ext>
            </a:extLst>
          </p:cNvPr>
          <p:cNvSpPr>
            <a:spLocks xmlns:a="http://schemas.openxmlformats.org/drawingml/2006/main" noGrp="1"/>
          </p:cNvSpPr>
          <p:nvPr/>
        </p:nvSpPr>
        <p:spPr>
          <a:xfrm xmlns:a="http://schemas.openxmlformats.org/drawingml/2006/main">
            <a:off x="640080" y="1920240"/>
            <a:ext cx="1024128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nSpc>
                <a:spcPct val="95000"/>
              </a:lnSpc>
              <a:buNone/>
            </a:pPr>
            <a:r>
              <a:rPr sz="4400" b="1">
                <a:solidFill>
                  <a:schemeClr val="bg1"/>
                </a:solidFill>
                <a:latin typeface="Arial"/>
                <a:ea typeface="Arial"/>
                <a:cs typeface="Arial"/>
              </a:rPr>
              <a:t>An AI wealth advisor that lets clients live through a crash before they invest, and can prove every number it shows.</a:t>
            </a:r>
            <a:endParaRPr sz="4400"/>
          </a:p>
        </p:txBody>
      </p:sp>
      <p:sp>
        <p:nvSpPr>
          <p:cNvPr id="5" name="cover-rule">
            <a:extLst xmlns:a="http://schemas.openxmlformats.org/drawingml/2006/main">
              <a:ext uri="{FF2B5EF4-FFF2-40B4-BE49-F238E27FC236}">
                <a16:creationId xmlns:a16="http://schemas.microsoft.com/office/drawing/2014/main" id="{2F8BEA9C-DC09-406D-B322-20A0BCF36DA4}"/>
              </a:ext>
            </a:extLst>
          </p:cNvPr>
          <p:cNvSpPr>
            <a:spLocks xmlns:a="http://schemas.openxmlformats.org/drawingml/2006/main" noGrp="1"/>
          </p:cNvSpPr>
          <p:nvPr/>
        </p:nvSpPr>
        <p:spPr>
          <a:xfrm xmlns:a="http://schemas.openxmlformats.org/drawingml/2006/main">
            <a:off x="640080" y="5257800"/>
            <a:ext cx="10911535" cy="0"/>
          </a:xfrm>
          <a:prstGeom xmlns:a="http://schemas.openxmlformats.org/drawingml/2006/main" prst="line">
            <a:avLst/>
          </a:prstGeom>
          <a:noFill xmlns:a="http://schemas.openxmlformats.org/drawingml/2006/main"/>
          <a:ln xmlns:a="http://schemas.openxmlformats.org/drawingml/2006/main" w="9525">
            <a:solidFill>
              <a:srgbClr val="2E3F4E"/>
            </a:solidFill>
            <a:prstDash val="solid"/>
          </a:ln>
        </p:spPr>
      </p:sp>
      <p:sp>
        <p:nvSpPr>
          <p:cNvPr id="6" name="Text 3">
            <a:extLst xmlns:a="http://schemas.openxmlformats.org/drawingml/2006/main">
              <a:ext uri="{FF2B5EF4-FFF2-40B4-BE49-F238E27FC236}">
                <a16:creationId xmlns:a16="http://schemas.microsoft.com/office/drawing/2014/main" id="{88DBD95D-C5AE-46FA-B796-344759553A51}"/>
              </a:ext>
            </a:extLst>
          </p:cNvPr>
          <p:cNvSpPr>
            <a:spLocks xmlns:a="http://schemas.openxmlformats.org/drawingml/2006/main" noGrp="1"/>
          </p:cNvSpPr>
          <p:nvPr/>
        </p:nvSpPr>
        <p:spPr>
          <a:xfrm xmlns:a="http://schemas.openxmlformats.org/drawingml/2006/main">
            <a:off x="640080" y="5440680"/>
            <a:ext cx="10515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400">
                <a:solidFill>
                  <a:srgbClr val="A6B1BC"/>
                </a:solidFill>
                <a:latin typeface="Arial"/>
                <a:ea typeface="Arial"/>
                <a:cs typeface="Arial"/>
              </a:rPr>
              <a:t>2026 Shenzhen International FinTech Competition, International Track, Topic B: Wealth Advisory Agent</a:t>
            </a:r>
            <a:endParaRPr sz="1400"/>
          </a:p>
          <a:p xmlns:a="http://schemas.openxmlformats.org/drawingml/2006/main">
            <a:pPr marL="0" indent="0">
              <a:lnSpc>
                <a:spcPct val="120000"/>
              </a:lnSpc>
              <a:buNone/>
            </a:pPr>
            <a:r>
              <a:rPr sz="1400">
                <a:solidFill>
                  <a:srgbClr val="A6B1BC"/>
                </a:solidFill>
                <a:latin typeface="Arial"/>
                <a:ea typeface="Arial"/>
                <a:cs typeface="Arial"/>
              </a:rPr>
              <a:t>Team Keel   Westminster International University in Tashkent</a:t>
            </a:r>
            <a:endParaRPr sz="1400"/>
          </a:p>
        </p:txBody>
      </p:sp>
      <p:sp>
        <p:nvSpPr>
          <p:cNvPr id="25" name="Slide Number Placeholder 0">
            <a:extLst xmlns:a="http://schemas.openxmlformats.org/drawingml/2006/main">
              <a:ext uri="{FF2B5EF4-FFF2-40B4-BE49-F238E27FC236}">
                <a16:creationId xmlns:a16="http://schemas.microsoft.com/office/drawing/2014/main" id="{7D9EC160-EAB7-40FF-936B-71F87AF63254}"/>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a:t>
            </a:fld>
            <a:endParaRPr/>
          </a:p>
        </p:txBody>
      </p:sp>
    </p:spTree>
    <p:extLst>
      <p:ext uri="{BB962C8B-B14F-4D97-AF65-F5344CB8AC3E}">
        <p14:creationId xmlns:p14="http://schemas.microsoft.com/office/powerpoint/2010/main" val="18126333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E3E24173-BD0F-4068-B391-BCCDB3EA6F58}"/>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Advice fails at the moment it matters</a:t>
            </a:r>
            <a:endParaRPr sz="3000"/>
          </a:p>
        </p:txBody>
      </p:sp>
      <p:sp>
        <p:nvSpPr>
          <p:cNvPr id="3" name="Text 1">
            <a:extLst xmlns:a="http://schemas.openxmlformats.org/drawingml/2006/main">
              <a:ext uri="{FF2B5EF4-FFF2-40B4-BE49-F238E27FC236}">
                <a16:creationId xmlns:a16="http://schemas.microsoft.com/office/drawing/2014/main" id="{03B7E788-D60F-45EA-8E28-D1605D0B64BE}"/>
              </a:ext>
            </a:extLst>
          </p:cNvPr>
          <p:cNvSpPr>
            <a:spLocks xmlns:a="http://schemas.openxmlformats.org/drawingml/2006/main" noGrp="1"/>
          </p:cNvSpPr>
          <p:nvPr/>
        </p:nvSpPr>
        <p:spPr>
          <a:xfrm xmlns:a="http://schemas.openxmlformats.org/drawingml/2006/main">
            <a:off x="640080"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Questionnaires</a:t>
            </a:r>
            <a:endParaRPr sz="1400"/>
          </a:p>
        </p:txBody>
      </p:sp>
      <p:sp>
        <p:nvSpPr>
          <p:cNvPr id="4" name="Text 2">
            <a:extLst xmlns:a="http://schemas.openxmlformats.org/drawingml/2006/main">
              <a:ext uri="{FF2B5EF4-FFF2-40B4-BE49-F238E27FC236}">
                <a16:creationId xmlns:a16="http://schemas.microsoft.com/office/drawing/2014/main" id="{F667279D-8222-42D5-9F74-E00A9F250D10}"/>
              </a:ext>
            </a:extLst>
          </p:cNvPr>
          <p:cNvSpPr>
            <a:spLocks xmlns:a="http://schemas.openxmlformats.org/drawingml/2006/main" noGrp="1"/>
          </p:cNvSpPr>
          <p:nvPr/>
        </p:nvSpPr>
        <p:spPr>
          <a:xfrm xmlns:a="http://schemas.openxmlformats.org/drawingml/2006/main">
            <a:off x="640080"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Clients pick the answers that unlock the product they want.</a:t>
            </a:r>
            <a:endParaRPr sz="2400"/>
          </a:p>
        </p:txBody>
      </p:sp>
      <p:sp>
        <p:nvSpPr>
          <p:cNvPr id="5" name="Text 3">
            <a:extLst xmlns:a="http://schemas.openxmlformats.org/drawingml/2006/main">
              <a:ext uri="{FF2B5EF4-FFF2-40B4-BE49-F238E27FC236}">
                <a16:creationId xmlns:a16="http://schemas.microsoft.com/office/drawing/2014/main" id="{2BAE13AF-97A2-45A9-9275-FD277DC9511F}"/>
              </a:ext>
            </a:extLst>
          </p:cNvPr>
          <p:cNvSpPr>
            <a:spLocks xmlns:a="http://schemas.openxmlformats.org/drawingml/2006/main" noGrp="1"/>
          </p:cNvSpPr>
          <p:nvPr/>
        </p:nvSpPr>
        <p:spPr>
          <a:xfrm xmlns:a="http://schemas.openxmlformats.org/drawingml/2006/main">
            <a:off x="640080"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Then they sell at the bottom of the first crash and lose money they would have kept by holding.</a:t>
            </a:r>
            <a:endParaRPr sz="1600"/>
          </a:p>
        </p:txBody>
      </p:sp>
      <p:sp>
        <p:nvSpPr>
          <p:cNvPr id="6" name="problem-divider-1">
            <a:extLst xmlns:a="http://schemas.openxmlformats.org/drawingml/2006/main">
              <a:ext uri="{FF2B5EF4-FFF2-40B4-BE49-F238E27FC236}">
                <a16:creationId xmlns:a16="http://schemas.microsoft.com/office/drawing/2014/main" id="{66BFB070-BD6A-422D-9B6A-78EBEB95D0EA}"/>
              </a:ext>
            </a:extLst>
          </p:cNvPr>
          <p:cNvSpPr>
            <a:spLocks xmlns:a="http://schemas.openxmlformats.org/drawingml/2006/main" noGrp="1"/>
          </p:cNvSpPr>
          <p:nvPr/>
        </p:nvSpPr>
        <p:spPr>
          <a:xfrm xmlns:a="http://schemas.openxmlformats.org/drawingml/2006/main">
            <a:off x="4277258" y="1600200"/>
            <a:ext cx="0" cy="39319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D441C400-78B0-49DB-9A4A-A470EC55526F}"/>
              </a:ext>
            </a:extLst>
          </p:cNvPr>
          <p:cNvSpPr>
            <a:spLocks xmlns:a="http://schemas.openxmlformats.org/drawingml/2006/main" noGrp="1"/>
          </p:cNvSpPr>
          <p:nvPr/>
        </p:nvSpPr>
        <p:spPr>
          <a:xfrm xmlns:a="http://schemas.openxmlformats.org/drawingml/2006/main">
            <a:off x="4643018"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AI advisors</a:t>
            </a:r>
            <a:endParaRPr sz="1400"/>
          </a:p>
        </p:txBody>
      </p:sp>
      <p:sp>
        <p:nvSpPr>
          <p:cNvPr id="8" name="Text 6">
            <a:extLst xmlns:a="http://schemas.openxmlformats.org/drawingml/2006/main">
              <a:ext uri="{FF2B5EF4-FFF2-40B4-BE49-F238E27FC236}">
                <a16:creationId xmlns:a16="http://schemas.microsoft.com/office/drawing/2014/main" id="{AFCE324C-5270-4108-AEF6-65B06978E629}"/>
              </a:ext>
            </a:extLst>
          </p:cNvPr>
          <p:cNvSpPr>
            <a:spLocks xmlns:a="http://schemas.openxmlformats.org/drawingml/2006/main" noGrp="1"/>
          </p:cNvSpPr>
          <p:nvPr/>
        </p:nvSpPr>
        <p:spPr>
          <a:xfrm xmlns:a="http://schemas.openxmlformats.org/drawingml/2006/main">
            <a:off x="4643018"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Language models invent figures and can be talked into anything.</a:t>
            </a:r>
            <a:endParaRPr sz="2400"/>
          </a:p>
        </p:txBody>
      </p:sp>
      <p:sp>
        <p:nvSpPr>
          <p:cNvPr id="9" name="Text 7">
            <a:extLst xmlns:a="http://schemas.openxmlformats.org/drawingml/2006/main">
              <a:ext uri="{FF2B5EF4-FFF2-40B4-BE49-F238E27FC236}">
                <a16:creationId xmlns:a16="http://schemas.microsoft.com/office/drawing/2014/main" id="{8AA573E8-5F7C-44D5-AF46-8A141A5F43D8}"/>
              </a:ext>
            </a:extLst>
          </p:cNvPr>
          <p:cNvSpPr>
            <a:spLocks xmlns:a="http://schemas.openxmlformats.org/drawingml/2006/main" noGrp="1"/>
          </p:cNvSpPr>
          <p:nvPr/>
        </p:nvSpPr>
        <p:spPr>
          <a:xfrm xmlns:a="http://schemas.openxmlformats.org/drawingml/2006/main">
            <a:off x="4643018"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One confident but wrong return estimate is a compliance incident, not a typo.</a:t>
            </a:r>
            <a:endParaRPr sz="1600"/>
          </a:p>
        </p:txBody>
      </p:sp>
      <p:sp>
        <p:nvSpPr>
          <p:cNvPr id="10" name="problem-divider-2">
            <a:extLst xmlns:a="http://schemas.openxmlformats.org/drawingml/2006/main">
              <a:ext uri="{FF2B5EF4-FFF2-40B4-BE49-F238E27FC236}">
                <a16:creationId xmlns:a16="http://schemas.microsoft.com/office/drawing/2014/main" id="{EEF66FCB-6E7B-4E19-BC16-E948EE2D9402}"/>
              </a:ext>
            </a:extLst>
          </p:cNvPr>
          <p:cNvSpPr>
            <a:spLocks xmlns:a="http://schemas.openxmlformats.org/drawingml/2006/main" noGrp="1"/>
          </p:cNvSpPr>
          <p:nvPr/>
        </p:nvSpPr>
        <p:spPr>
          <a:xfrm xmlns:a="http://schemas.openxmlformats.org/drawingml/2006/main">
            <a:off x="7914437" y="1600200"/>
            <a:ext cx="0" cy="39319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9">
            <a:extLst xmlns:a="http://schemas.openxmlformats.org/drawingml/2006/main">
              <a:ext uri="{FF2B5EF4-FFF2-40B4-BE49-F238E27FC236}">
                <a16:creationId xmlns:a16="http://schemas.microsoft.com/office/drawing/2014/main" id="{89C33806-6F4C-4793-9AA7-1EBFB856922F}"/>
              </a:ext>
            </a:extLst>
          </p:cNvPr>
          <p:cNvSpPr>
            <a:spLocks xmlns:a="http://schemas.openxmlformats.org/drawingml/2006/main" noGrp="1"/>
          </p:cNvSpPr>
          <p:nvPr/>
        </p:nvSpPr>
        <p:spPr>
          <a:xfrm xmlns:a="http://schemas.openxmlformats.org/drawingml/2006/main">
            <a:off x="8280197"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Explainability</a:t>
            </a:r>
            <a:endParaRPr sz="1400"/>
          </a:p>
        </p:txBody>
      </p:sp>
      <p:sp>
        <p:nvSpPr>
          <p:cNvPr id="12" name="Text 10">
            <a:extLst xmlns:a="http://schemas.openxmlformats.org/drawingml/2006/main">
              <a:ext uri="{FF2B5EF4-FFF2-40B4-BE49-F238E27FC236}">
                <a16:creationId xmlns:a16="http://schemas.microsoft.com/office/drawing/2014/main" id="{0810E140-2F68-4008-A702-81AC831A6169}"/>
              </a:ext>
            </a:extLst>
          </p:cNvPr>
          <p:cNvSpPr>
            <a:spLocks xmlns:a="http://schemas.openxmlformats.org/drawingml/2006/main" noGrp="1"/>
          </p:cNvSpPr>
          <p:nvPr/>
        </p:nvSpPr>
        <p:spPr>
          <a:xfrm xmlns:a="http://schemas.openxmlformats.org/drawingml/2006/main">
            <a:off x="8280197"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Every product claims it. Nobody can check it afterwards.</a:t>
            </a:r>
            <a:endParaRPr sz="2400"/>
          </a:p>
        </p:txBody>
      </p:sp>
      <p:sp>
        <p:nvSpPr>
          <p:cNvPr id="13" name="Text 11">
            <a:extLst xmlns:a="http://schemas.openxmlformats.org/drawingml/2006/main">
              <a:ext uri="{FF2B5EF4-FFF2-40B4-BE49-F238E27FC236}">
                <a16:creationId xmlns:a16="http://schemas.microsoft.com/office/drawing/2014/main" id="{6F95C835-4B75-4726-AFD7-FD2C2EE5D7E1}"/>
              </a:ext>
            </a:extLst>
          </p:cNvPr>
          <p:cNvSpPr>
            <a:spLocks xmlns:a="http://schemas.openxmlformats.org/drawingml/2006/main" noGrp="1"/>
          </p:cNvSpPr>
          <p:nvPr/>
        </p:nvSpPr>
        <p:spPr>
          <a:xfrm xmlns:a="http://schemas.openxmlformats.org/drawingml/2006/main">
            <a:off x="8280197"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Regulators, auditors and clients need evidence they can verify themselves.</a:t>
            </a:r>
            <a:endParaRPr sz="1600"/>
          </a:p>
        </p:txBody>
      </p:sp>
      <p:sp>
        <p:nvSpPr>
          <p:cNvPr id="14" name="problem-rule">
            <a:extLst xmlns:a="http://schemas.openxmlformats.org/drawingml/2006/main">
              <a:ext uri="{FF2B5EF4-FFF2-40B4-BE49-F238E27FC236}">
                <a16:creationId xmlns:a16="http://schemas.microsoft.com/office/drawing/2014/main" id="{0C06D0B0-588F-4512-BB04-579D04836CC6}"/>
              </a:ext>
            </a:extLst>
          </p:cNvPr>
          <p:cNvSpPr>
            <a:spLocks xmlns:a="http://schemas.openxmlformats.org/drawingml/2006/main" noGrp="1"/>
          </p:cNvSpPr>
          <p:nvPr/>
        </p:nvSpPr>
        <p:spPr>
          <a:xfrm xmlns:a="http://schemas.openxmlformats.org/drawingml/2006/main">
            <a:off x="640080" y="571500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15" name="Text 13">
            <a:extLst xmlns:a="http://schemas.openxmlformats.org/drawingml/2006/main">
              <a:ext uri="{FF2B5EF4-FFF2-40B4-BE49-F238E27FC236}">
                <a16:creationId xmlns:a16="http://schemas.microsoft.com/office/drawing/2014/main" id="{08952036-A56D-4445-90AA-FBE958F11CBC}"/>
              </a:ext>
            </a:extLst>
          </p:cNvPr>
          <p:cNvSpPr>
            <a:spLocks xmlns:a="http://schemas.openxmlformats.org/drawingml/2006/main" noGrp="1"/>
          </p:cNvSpPr>
          <p:nvPr/>
        </p:nvSpPr>
        <p:spPr>
          <a:xfrm xmlns:a="http://schemas.openxmlformats.org/drawingml/2006/main">
            <a:off x="640080" y="5833872"/>
            <a:ext cx="1091153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latin typeface="Arial"/>
                <a:ea typeface="Arial"/>
                <a:cs typeface="Arial"/>
              </a:rPr>
              <a:t>Topic B asks for compliant and explainable allocation advice. Keel makes both claims checkable.</a:t>
            </a:r>
            <a:endParaRPr sz="1600"/>
          </a:p>
        </p:txBody>
      </p:sp>
      <p:sp>
        <p:nvSpPr>
          <p:cNvPr id="25" name="Slide Number Placeholder 0">
            <a:extLst xmlns:a="http://schemas.openxmlformats.org/drawingml/2006/main">
              <a:ext uri="{FF2B5EF4-FFF2-40B4-BE49-F238E27FC236}">
                <a16:creationId xmlns:a16="http://schemas.microsoft.com/office/drawing/2014/main" id="{492F72CC-D8F4-47C0-A97D-F3143EFBA216}"/>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4897247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248C7F-69C4-42D5-85BC-5213097A4ED9}"/>
              </a:ext>
            </a:extLst>
          </p:cNvPr>
          <p:cNvSpPr>
            <a:spLocks xmlns:a="http://schemas.openxmlformats.org/drawingml/2006/main" noGrp="1"/>
          </p:cNvSpPr>
          <p:nvPr/>
        </p:nvSpPr>
        <p:spPr>
          <a:xfrm xmlns:a="http://schemas.openxmlformats.org/drawingml/2006/main">
            <a:off x="640080" y="1280160"/>
            <a:ext cx="1060704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nSpc>
                <a:spcPct val="95000"/>
              </a:lnSpc>
              <a:buNone/>
            </a:pPr>
            <a:r>
              <a:rPr sz="5200" b="1">
                <a:solidFill>
                  <a:schemeClr val="bg1"/>
                </a:solidFill>
                <a:latin typeface="Arial"/>
                <a:ea typeface="Arial"/>
                <a:cs typeface="Arial"/>
              </a:rPr>
              <a:t>What clients say about risk </a:t>
            </a:r>
            <a:r>
              <a:rPr sz="5200" b="1">
                <a:solidFill>
                  <a:schemeClr val="accent6"/>
                </a:solidFill>
                <a:latin typeface="Arial"/>
                <a:ea typeface="Arial"/>
                <a:cs typeface="Arial"/>
              </a:rPr>
              <a:t>is not what they do in a crash.</a:t>
            </a:r>
            <a:endParaRPr sz="5200"/>
          </a:p>
        </p:txBody>
      </p:sp>
      <p:sp>
        <p:nvSpPr>
          <p:cNvPr id="3" name="Text 1">
            <a:extLst xmlns:a="http://schemas.openxmlformats.org/drawingml/2006/main">
              <a:ext uri="{FF2B5EF4-FFF2-40B4-BE49-F238E27FC236}">
                <a16:creationId xmlns:a16="http://schemas.microsoft.com/office/drawing/2014/main" id="{5153B1AD-E4AF-4A84-AEE2-4441D9CDD71D}"/>
              </a:ext>
            </a:extLst>
          </p:cNvPr>
          <p:cNvSpPr>
            <a:spLocks xmlns:a="http://schemas.openxmlformats.org/drawingml/2006/main" noGrp="1"/>
          </p:cNvSpPr>
          <p:nvPr/>
        </p:nvSpPr>
        <p:spPr>
          <a:xfrm xmlns:a="http://schemas.openxmlformats.org/drawingml/2006/main">
            <a:off x="640080" y="4343400"/>
            <a:ext cx="96926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A6B1BC"/>
                </a:solidFill>
                <a:latin typeface="Arial"/>
                <a:ea typeface="Arial"/>
                <a:cs typeface="Arial"/>
              </a:rPr>
              <a:t>So before any money moves, Keel has the client live through 2008 with the exact portfolio it recommends, and lets them press Sell at any moment.</a:t>
            </a:r>
            <a:endParaRPr sz="2100"/>
          </a:p>
        </p:txBody>
      </p:sp>
      <p:sp>
        <p:nvSpPr>
          <p:cNvPr id="25" name="Slide Number Placeholder 0">
            <a:extLst xmlns:a="http://schemas.openxmlformats.org/drawingml/2006/main">
              <a:ext uri="{FF2B5EF4-FFF2-40B4-BE49-F238E27FC236}">
                <a16:creationId xmlns:a16="http://schemas.microsoft.com/office/drawing/2014/main" id="{DDA960AC-38B6-479E-A9D2-FCFE8025EADF}"/>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9843855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7025BC0E-6E60-492D-9729-8935E190767A}"/>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 licensed advisor's workflow, in five steps</a:t>
            </a:r>
            <a:endParaRPr sz="3000"/>
          </a:p>
        </p:txBody>
      </p:sp>
      <p:sp>
        <p:nvSpPr>
          <p:cNvPr id="3" name="steps-top">
            <a:extLst xmlns:a="http://schemas.openxmlformats.org/drawingml/2006/main">
              <a:ext uri="{FF2B5EF4-FFF2-40B4-BE49-F238E27FC236}">
                <a16:creationId xmlns:a16="http://schemas.microsoft.com/office/drawing/2014/main" id="{7E010403-D911-4A6B-9F56-646F23C03487}"/>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CC3260FF-A4BA-45C7-914A-B1EC2B4D59A8}"/>
              </a:ext>
            </a:extLst>
          </p:cNvPr>
          <p:cNvSpPr>
            <a:spLocks xmlns:a="http://schemas.openxmlformats.org/drawingml/2006/main" noGrp="1"/>
          </p:cNvSpPr>
          <p:nvPr/>
        </p:nvSpPr>
        <p:spPr>
          <a:xfrm xmlns:a="http://schemas.openxmlformats.org/drawingml/2006/main">
            <a:off x="640080"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1</a:t>
            </a:r>
            <a:endParaRPr sz="1400"/>
          </a:p>
        </p:txBody>
      </p:sp>
      <p:sp>
        <p:nvSpPr>
          <p:cNvPr id="5" name="Text 3">
            <a:extLst xmlns:a="http://schemas.openxmlformats.org/drawingml/2006/main">
              <a:ext uri="{FF2B5EF4-FFF2-40B4-BE49-F238E27FC236}">
                <a16:creationId xmlns:a16="http://schemas.microsoft.com/office/drawing/2014/main" id="{8A116D41-E240-447B-9C8F-7525471CF6E4}"/>
              </a:ext>
            </a:extLst>
          </p:cNvPr>
          <p:cNvSpPr>
            <a:spLocks xmlns:a="http://schemas.openxmlformats.org/drawingml/2006/main" noGrp="1"/>
          </p:cNvSpPr>
          <p:nvPr/>
        </p:nvSpPr>
        <p:spPr>
          <a:xfrm xmlns:a="http://schemas.openxmlformats.org/drawingml/2006/main">
            <a:off x="960120"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Risk profile</a:t>
            </a:r>
            <a:endParaRPr sz="1600"/>
          </a:p>
        </p:txBody>
      </p:sp>
      <p:sp>
        <p:nvSpPr>
          <p:cNvPr id="6" name="Text 4">
            <a:extLst xmlns:a="http://schemas.openxmlformats.org/drawingml/2006/main">
              <a:ext uri="{FF2B5EF4-FFF2-40B4-BE49-F238E27FC236}">
                <a16:creationId xmlns:a16="http://schemas.microsoft.com/office/drawing/2014/main" id="{B5EAE98C-C46F-4319-8127-4005687A7311}"/>
              </a:ext>
            </a:extLst>
          </p:cNvPr>
          <p:cNvSpPr>
            <a:spLocks xmlns:a="http://schemas.openxmlformats.org/drawingml/2006/main" noGrp="1"/>
          </p:cNvSpPr>
          <p:nvPr/>
        </p:nvSpPr>
        <p:spPr>
          <a:xfrm xmlns:a="http://schemas.openxmlformats.org/drawingml/2006/main">
            <a:off x="640080"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C1 to C5, the lower of loss capacity and risk tolerance</a:t>
            </a:r>
            <a:endParaRPr sz="1200"/>
          </a:p>
        </p:txBody>
      </p:sp>
      <p:sp>
        <p:nvSpPr>
          <p:cNvPr id="7" name="step-divider-1">
            <a:extLst xmlns:a="http://schemas.openxmlformats.org/drawingml/2006/main">
              <a:ext uri="{FF2B5EF4-FFF2-40B4-BE49-F238E27FC236}">
                <a16:creationId xmlns:a16="http://schemas.microsoft.com/office/drawing/2014/main" id="{AB0B9248-8556-4268-8C42-A4F76770D685}"/>
              </a:ext>
            </a:extLst>
          </p:cNvPr>
          <p:cNvSpPr>
            <a:spLocks xmlns:a="http://schemas.openxmlformats.org/drawingml/2006/main" noGrp="1"/>
          </p:cNvSpPr>
          <p:nvPr/>
        </p:nvSpPr>
        <p:spPr>
          <a:xfrm xmlns:a="http://schemas.openxmlformats.org/drawingml/2006/main">
            <a:off x="2822387"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6">
            <a:extLst xmlns:a="http://schemas.openxmlformats.org/drawingml/2006/main">
              <a:ext uri="{FF2B5EF4-FFF2-40B4-BE49-F238E27FC236}">
                <a16:creationId xmlns:a16="http://schemas.microsoft.com/office/drawing/2014/main" id="{E750F491-9638-42A4-BD1F-AD50E0170EBF}"/>
              </a:ext>
            </a:extLst>
          </p:cNvPr>
          <p:cNvSpPr>
            <a:spLocks xmlns:a="http://schemas.openxmlformats.org/drawingml/2006/main" noGrp="1"/>
          </p:cNvSpPr>
          <p:nvPr/>
        </p:nvSpPr>
        <p:spPr>
          <a:xfrm xmlns:a="http://schemas.openxmlformats.org/drawingml/2006/main">
            <a:off x="3005267"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2</a:t>
            </a:r>
            <a:endParaRPr sz="1400"/>
          </a:p>
        </p:txBody>
      </p:sp>
      <p:sp>
        <p:nvSpPr>
          <p:cNvPr id="9" name="Text 7">
            <a:extLst xmlns:a="http://schemas.openxmlformats.org/drawingml/2006/main">
              <a:ext uri="{FF2B5EF4-FFF2-40B4-BE49-F238E27FC236}">
                <a16:creationId xmlns:a16="http://schemas.microsoft.com/office/drawing/2014/main" id="{DD7D7268-7C5E-473F-8135-648554D828C6}"/>
              </a:ext>
            </a:extLst>
          </p:cNvPr>
          <p:cNvSpPr>
            <a:spLocks xmlns:a="http://schemas.openxmlformats.org/drawingml/2006/main" noGrp="1"/>
          </p:cNvSpPr>
          <p:nvPr/>
        </p:nvSpPr>
        <p:spPr>
          <a:xfrm xmlns:a="http://schemas.openxmlformats.org/drawingml/2006/main">
            <a:off x="3325307"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Portfolio</a:t>
            </a:r>
            <a:endParaRPr sz="1600"/>
          </a:p>
        </p:txBody>
      </p:sp>
      <p:sp>
        <p:nvSpPr>
          <p:cNvPr id="10" name="Text 8">
            <a:extLst xmlns:a="http://schemas.openxmlformats.org/drawingml/2006/main">
              <a:ext uri="{FF2B5EF4-FFF2-40B4-BE49-F238E27FC236}">
                <a16:creationId xmlns:a16="http://schemas.microsoft.com/office/drawing/2014/main" id="{FAEA3F1D-D329-44CD-8728-88B51B7B79F4}"/>
              </a:ext>
            </a:extLst>
          </p:cNvPr>
          <p:cNvSpPr>
            <a:spLocks xmlns:a="http://schemas.openxmlformats.org/drawingml/2006/main" noGrp="1"/>
          </p:cNvSpPr>
          <p:nvPr/>
        </p:nvSpPr>
        <p:spPr>
          <a:xfrm xmlns:a="http://schemas.openxmlformats.org/drawingml/2006/main">
            <a:off x="3005267"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real funds, a reason for every holding</a:t>
            </a:r>
            <a:endParaRPr sz="1200"/>
          </a:p>
        </p:txBody>
      </p:sp>
      <p:sp>
        <p:nvSpPr>
          <p:cNvPr id="11" name="step-divider-2">
            <a:extLst xmlns:a="http://schemas.openxmlformats.org/drawingml/2006/main">
              <a:ext uri="{FF2B5EF4-FFF2-40B4-BE49-F238E27FC236}">
                <a16:creationId xmlns:a16="http://schemas.microsoft.com/office/drawing/2014/main" id="{0ADFDECC-5D43-4F54-B717-209236738EA3}"/>
              </a:ext>
            </a:extLst>
          </p:cNvPr>
          <p:cNvSpPr>
            <a:spLocks xmlns:a="http://schemas.openxmlformats.org/drawingml/2006/main" noGrp="1"/>
          </p:cNvSpPr>
          <p:nvPr/>
        </p:nvSpPr>
        <p:spPr>
          <a:xfrm xmlns:a="http://schemas.openxmlformats.org/drawingml/2006/main">
            <a:off x="5004694"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2" name="Text 10">
            <a:extLst xmlns:a="http://schemas.openxmlformats.org/drawingml/2006/main">
              <a:ext uri="{FF2B5EF4-FFF2-40B4-BE49-F238E27FC236}">
                <a16:creationId xmlns:a16="http://schemas.microsoft.com/office/drawing/2014/main" id="{ADA65B06-A4C0-4A22-BE11-5FD5D3EA85E6}"/>
              </a:ext>
            </a:extLst>
          </p:cNvPr>
          <p:cNvSpPr>
            <a:spLocks xmlns:a="http://schemas.openxmlformats.org/drawingml/2006/main" noGrp="1"/>
          </p:cNvSpPr>
          <p:nvPr/>
        </p:nvSpPr>
        <p:spPr>
          <a:xfrm xmlns:a="http://schemas.openxmlformats.org/drawingml/2006/main">
            <a:off x="5187574"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3</a:t>
            </a:r>
            <a:endParaRPr sz="1400"/>
          </a:p>
        </p:txBody>
      </p:sp>
      <p:sp>
        <p:nvSpPr>
          <p:cNvPr id="13" name="Text 11">
            <a:extLst xmlns:a="http://schemas.openxmlformats.org/drawingml/2006/main">
              <a:ext uri="{FF2B5EF4-FFF2-40B4-BE49-F238E27FC236}">
                <a16:creationId xmlns:a16="http://schemas.microsoft.com/office/drawing/2014/main" id="{4CB6D08B-BB6A-4A04-B65E-1E5AD76351BA}"/>
              </a:ext>
            </a:extLst>
          </p:cNvPr>
          <p:cNvSpPr>
            <a:spLocks xmlns:a="http://schemas.openxmlformats.org/drawingml/2006/main" noGrp="1"/>
          </p:cNvSpPr>
          <p:nvPr/>
        </p:nvSpPr>
        <p:spPr>
          <a:xfrm xmlns:a="http://schemas.openxmlformats.org/drawingml/2006/main">
            <a:off x="5507614"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latin typeface="Arial"/>
                <a:ea typeface="Arial"/>
                <a:cs typeface="Arial"/>
              </a:rPr>
              <a:t>Rehearse</a:t>
            </a:r>
            <a:endParaRPr sz="1600"/>
          </a:p>
        </p:txBody>
      </p:sp>
      <p:sp>
        <p:nvSpPr>
          <p:cNvPr id="14" name="Text 12">
            <a:extLst xmlns:a="http://schemas.openxmlformats.org/drawingml/2006/main">
              <a:ext uri="{FF2B5EF4-FFF2-40B4-BE49-F238E27FC236}">
                <a16:creationId xmlns:a16="http://schemas.microsoft.com/office/drawing/2014/main" id="{E6F35379-E914-4C93-8928-69A64EA7F0A6}"/>
              </a:ext>
            </a:extLst>
          </p:cNvPr>
          <p:cNvSpPr>
            <a:spLocks xmlns:a="http://schemas.openxmlformats.org/drawingml/2006/main" noGrp="1"/>
          </p:cNvSpPr>
          <p:nvPr/>
        </p:nvSpPr>
        <p:spPr>
          <a:xfrm xmlns:a="http://schemas.openxmlformats.org/drawingml/2006/main">
            <a:off x="5187574"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live through 2008 before investing</a:t>
            </a:r>
            <a:endParaRPr sz="1200"/>
          </a:p>
        </p:txBody>
      </p:sp>
      <p:sp>
        <p:nvSpPr>
          <p:cNvPr id="15" name="step-divider-3">
            <a:extLst xmlns:a="http://schemas.openxmlformats.org/drawingml/2006/main">
              <a:ext uri="{FF2B5EF4-FFF2-40B4-BE49-F238E27FC236}">
                <a16:creationId xmlns:a16="http://schemas.microsoft.com/office/drawing/2014/main" id="{CBBCA5F1-67D1-4249-AAB5-91F22C8DBA7C}"/>
              </a:ext>
            </a:extLst>
          </p:cNvPr>
          <p:cNvSpPr>
            <a:spLocks xmlns:a="http://schemas.openxmlformats.org/drawingml/2006/main" noGrp="1"/>
          </p:cNvSpPr>
          <p:nvPr/>
        </p:nvSpPr>
        <p:spPr>
          <a:xfrm xmlns:a="http://schemas.openxmlformats.org/drawingml/2006/main">
            <a:off x="7187001"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F9F998EC-92B9-4332-8405-E3939ABBD383}"/>
              </a:ext>
            </a:extLst>
          </p:cNvPr>
          <p:cNvSpPr>
            <a:spLocks xmlns:a="http://schemas.openxmlformats.org/drawingml/2006/main" noGrp="1"/>
          </p:cNvSpPr>
          <p:nvPr/>
        </p:nvSpPr>
        <p:spPr>
          <a:xfrm xmlns:a="http://schemas.openxmlformats.org/drawingml/2006/main">
            <a:off x="7369881"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4</a:t>
            </a:r>
            <a:endParaRPr sz="1400"/>
          </a:p>
        </p:txBody>
      </p:sp>
      <p:sp>
        <p:nvSpPr>
          <p:cNvPr id="17" name="Text 15">
            <a:extLst xmlns:a="http://schemas.openxmlformats.org/drawingml/2006/main">
              <a:ext uri="{FF2B5EF4-FFF2-40B4-BE49-F238E27FC236}">
                <a16:creationId xmlns:a16="http://schemas.microsoft.com/office/drawing/2014/main" id="{C1828733-440D-45C6-AA2E-406620208E77}"/>
              </a:ext>
            </a:extLst>
          </p:cNvPr>
          <p:cNvSpPr>
            <a:spLocks xmlns:a="http://schemas.openxmlformats.org/drawingml/2006/main" noGrp="1"/>
          </p:cNvSpPr>
          <p:nvPr/>
        </p:nvSpPr>
        <p:spPr>
          <a:xfrm xmlns:a="http://schemas.openxmlformats.org/drawingml/2006/main">
            <a:off x="7689921"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Goal</a:t>
            </a:r>
            <a:endParaRPr sz="1600"/>
          </a:p>
        </p:txBody>
      </p:sp>
      <p:sp>
        <p:nvSpPr>
          <p:cNvPr id="18" name="Text 16">
            <a:extLst xmlns:a="http://schemas.openxmlformats.org/drawingml/2006/main">
              <a:ext uri="{FF2B5EF4-FFF2-40B4-BE49-F238E27FC236}">
                <a16:creationId xmlns:a16="http://schemas.microsoft.com/office/drawing/2014/main" id="{98CE2F0D-0F55-48CD-8319-26A24AEF81B9}"/>
              </a:ext>
            </a:extLst>
          </p:cNvPr>
          <p:cNvSpPr>
            <a:spLocks xmlns:a="http://schemas.openxmlformats.org/drawingml/2006/main" noGrp="1"/>
          </p:cNvSpPr>
          <p:nvPr/>
        </p:nvSpPr>
        <p:spPr>
          <a:xfrm xmlns:a="http://schemas.openxmlformats.org/drawingml/2006/main">
            <a:off x="7369881"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the chance of reaching it, from 5,000 futures</a:t>
            </a:r>
            <a:endParaRPr sz="1200"/>
          </a:p>
        </p:txBody>
      </p:sp>
      <p:sp>
        <p:nvSpPr>
          <p:cNvPr id="19" name="step-divider-4">
            <a:extLst xmlns:a="http://schemas.openxmlformats.org/drawingml/2006/main">
              <a:ext uri="{FF2B5EF4-FFF2-40B4-BE49-F238E27FC236}">
                <a16:creationId xmlns:a16="http://schemas.microsoft.com/office/drawing/2014/main" id="{C9F7EB78-010F-428C-8A2D-873861B17D49}"/>
              </a:ext>
            </a:extLst>
          </p:cNvPr>
          <p:cNvSpPr>
            <a:spLocks xmlns:a="http://schemas.openxmlformats.org/drawingml/2006/main" noGrp="1"/>
          </p:cNvSpPr>
          <p:nvPr/>
        </p:nvSpPr>
        <p:spPr>
          <a:xfrm xmlns:a="http://schemas.openxmlformats.org/drawingml/2006/main">
            <a:off x="9369308"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20" name="Text 18">
            <a:extLst xmlns:a="http://schemas.openxmlformats.org/drawingml/2006/main">
              <a:ext uri="{FF2B5EF4-FFF2-40B4-BE49-F238E27FC236}">
                <a16:creationId xmlns:a16="http://schemas.microsoft.com/office/drawing/2014/main" id="{E6284375-6DA9-4A0F-A3B6-8DD5ED6EFDDB}"/>
              </a:ext>
            </a:extLst>
          </p:cNvPr>
          <p:cNvSpPr>
            <a:spLocks xmlns:a="http://schemas.openxmlformats.org/drawingml/2006/main" noGrp="1"/>
          </p:cNvSpPr>
          <p:nvPr/>
        </p:nvSpPr>
        <p:spPr>
          <a:xfrm xmlns:a="http://schemas.openxmlformats.org/drawingml/2006/main">
            <a:off x="9552188"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5</a:t>
            </a:r>
            <a:endParaRPr sz="1400"/>
          </a:p>
        </p:txBody>
      </p:sp>
      <p:sp>
        <p:nvSpPr>
          <p:cNvPr id="21" name="Text 19">
            <a:extLst xmlns:a="http://schemas.openxmlformats.org/drawingml/2006/main">
              <a:ext uri="{FF2B5EF4-FFF2-40B4-BE49-F238E27FC236}">
                <a16:creationId xmlns:a16="http://schemas.microsoft.com/office/drawing/2014/main" id="{AAD08697-123F-475A-89C0-2099E47F1CFD}"/>
              </a:ext>
            </a:extLst>
          </p:cNvPr>
          <p:cNvSpPr>
            <a:spLocks xmlns:a="http://schemas.openxmlformats.org/drawingml/2006/main" noGrp="1"/>
          </p:cNvSpPr>
          <p:nvPr/>
        </p:nvSpPr>
        <p:spPr>
          <a:xfrm xmlns:a="http://schemas.openxmlformats.org/drawingml/2006/main">
            <a:off x="9872228"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Invest</a:t>
            </a:r>
            <a:endParaRPr sz="1600"/>
          </a:p>
        </p:txBody>
      </p:sp>
      <p:sp>
        <p:nvSpPr>
          <p:cNvPr id="22" name="Text 20">
            <a:extLst xmlns:a="http://schemas.openxmlformats.org/drawingml/2006/main">
              <a:ext uri="{FF2B5EF4-FFF2-40B4-BE49-F238E27FC236}">
                <a16:creationId xmlns:a16="http://schemas.microsoft.com/office/drawing/2014/main" id="{12606968-C688-4E3E-85CE-070AEFA12028}"/>
              </a:ext>
            </a:extLst>
          </p:cNvPr>
          <p:cNvSpPr>
            <a:spLocks xmlns:a="http://schemas.openxmlformats.org/drawingml/2006/main" noGrp="1"/>
          </p:cNvSpPr>
          <p:nvPr/>
        </p:nvSpPr>
        <p:spPr>
          <a:xfrm xmlns:a="http://schemas.openxmlformats.org/drawingml/2006/main">
            <a:off x="9552188"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signed, held to confirm, recorded on chain</a:t>
            </a:r>
            <a:endParaRPr sz="1200"/>
          </a:p>
        </p:txBody>
      </p:sp>
      <p:sp>
        <p:nvSpPr>
          <p:cNvPr id="23" name="steps-bottom">
            <a:extLst xmlns:a="http://schemas.openxmlformats.org/drawingml/2006/main">
              <a:ext uri="{FF2B5EF4-FFF2-40B4-BE49-F238E27FC236}">
                <a16:creationId xmlns:a16="http://schemas.microsoft.com/office/drawing/2014/main" id="{38D11A8A-0C54-4F4E-893D-974620663D01}"/>
              </a:ext>
            </a:extLst>
          </p:cNvPr>
          <p:cNvSpPr>
            <a:spLocks xmlns:a="http://schemas.openxmlformats.org/drawingml/2006/main" noGrp="1"/>
          </p:cNvSpPr>
          <p:nvPr/>
        </p:nvSpPr>
        <p:spPr>
          <a:xfrm xmlns:a="http://schemas.openxmlformats.org/drawingml/2006/main">
            <a:off x="640080" y="256032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pic>
        <p:nvPicPr>
          <p:cNvPr id="24" name="screenshot-portfolio">
            <a:extLst xmlns:a="http://schemas.openxmlformats.org/drawingml/2006/main">
              <a:ext uri="{FF2B5EF4-FFF2-40B4-BE49-F238E27FC236}">
                <a16:creationId xmlns:a16="http://schemas.microsoft.com/office/drawing/2014/main" id="{19EF5E3A-C04F-43D4-ACAF-8A3691DE61CF}"/>
              </a:ext>
            </a:extLst>
          </p:cNvPr>
          <p:cNvPicPr>
            <a:picLocks xmlns:a="http://schemas.openxmlformats.org/drawingml/2006/main" noChangeAspect="1"/>
          </p:cNvPicPr>
          <p:nvPr/>
        </p:nvPicPr>
        <p:blipFill>
          <a:blip xmlns:r="http://schemas.openxmlformats.org/officeDocument/2006/relationships" xmlns:a="http://schemas.openxmlformats.org/drawingml/2006/main" r:embed="R2bcd35597c064d38"/>
          <a:stretch xmlns:a="http://schemas.openxmlformats.org/drawingml/2006/main">
            <a:fillRect l="0" t="0" r="0" b="0"/>
          </a:stretch>
        </p:blipFill>
        <p:spPr>
          <a:xfrm xmlns:a="http://schemas.openxmlformats.org/drawingml/2006/main">
            <a:off x="640080" y="2834640"/>
            <a:ext cx="5486400" cy="3429000"/>
          </a:xfrm>
          <a:prstGeom xmlns:a="http://schemas.openxmlformats.org/drawingml/2006/main" prst="rect">
            <a:avLst/>
          </a:prstGeom>
        </p:spPr>
      </p:pic>
      <p:sp>
        <p:nvSpPr>
          <p:cNvPr id="25" name="screenshot-portfolio-frame">
            <a:extLst xmlns:a="http://schemas.openxmlformats.org/drawingml/2006/main">
              <a:ext uri="{FF2B5EF4-FFF2-40B4-BE49-F238E27FC236}">
                <a16:creationId xmlns:a16="http://schemas.microsoft.com/office/drawing/2014/main" id="{64254DA8-3CEB-40E3-8EAA-FD03D1B09A7D}"/>
              </a:ext>
            </a:extLst>
          </p:cNvPr>
          <p:cNvSpPr>
            <a:spLocks xmlns:a="http://schemas.openxmlformats.org/drawingml/2006/main" noGrp="1"/>
          </p:cNvSpPr>
          <p:nvPr/>
        </p:nvSpPr>
        <p:spPr>
          <a:xfrm xmlns:a="http://schemas.openxmlformats.org/drawingml/2006/main">
            <a:off x="640080" y="2834640"/>
            <a:ext cx="5486400" cy="3429000"/>
          </a:xfrm>
          <a:prstGeom xmlns:a="http://schemas.openxmlformats.org/drawingml/2006/main" prst="rect">
            <a:avLst/>
          </a:prstGeom>
          <a:ln xmlns:a="http://schemas.openxmlformats.org/drawingml/2006/main" w="9525">
            <a:solidFill>
              <a:srgbClr val="C5CDD5"/>
            </a:solidFill>
            <a:prstDash val="solid"/>
          </a:ln>
        </p:spPr>
      </p:sp>
      <p:sp>
        <p:nvSpPr>
          <p:cNvPr id="26" name="Text 23">
            <a:extLst xmlns:a="http://schemas.openxmlformats.org/drawingml/2006/main">
              <a:ext uri="{FF2B5EF4-FFF2-40B4-BE49-F238E27FC236}">
                <a16:creationId xmlns:a16="http://schemas.microsoft.com/office/drawing/2014/main" id="{9456D4D1-2E08-4973-A962-D2CA532A6F28}"/>
              </a:ext>
            </a:extLst>
          </p:cNvPr>
          <p:cNvSpPr>
            <a:spLocks xmlns:a="http://schemas.openxmlformats.org/drawingml/2006/main" noGrp="1"/>
          </p:cNvSpPr>
          <p:nvPr/>
        </p:nvSpPr>
        <p:spPr>
          <a:xfrm xmlns:a="http://schemas.openxmlformats.org/drawingml/2006/main">
            <a:off x="6583680" y="2834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Chat or form</a:t>
            </a:r>
            <a:endParaRPr sz="1500"/>
          </a:p>
        </p:txBody>
      </p:sp>
      <p:sp>
        <p:nvSpPr>
          <p:cNvPr id="27" name="Text 24">
            <a:extLst xmlns:a="http://schemas.openxmlformats.org/drawingml/2006/main">
              <a:ext uri="{FF2B5EF4-FFF2-40B4-BE49-F238E27FC236}">
                <a16:creationId xmlns:a16="http://schemas.microsoft.com/office/drawing/2014/main" id="{7EE82B4E-E3EC-4FC5-ADF0-CD749EBAB249}"/>
              </a:ext>
            </a:extLst>
          </p:cNvPr>
          <p:cNvSpPr>
            <a:spLocks xmlns:a="http://schemas.openxmlformats.org/drawingml/2006/main" noGrp="1"/>
          </p:cNvSpPr>
          <p:nvPr/>
        </p:nvSpPr>
        <p:spPr>
          <a:xfrm xmlns:a="http://schemas.openxmlformats.org/drawingml/2006/main">
            <a:off x="6583680" y="3182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client can talk in English or 中文, or answer eight short questions. Both fill the same client file.</a:t>
            </a:r>
            <a:endParaRPr sz="1300"/>
          </a:p>
        </p:txBody>
      </p:sp>
      <p:sp>
        <p:nvSpPr>
          <p:cNvPr id="28" name="workflow-note-rule-1">
            <a:extLst xmlns:a="http://schemas.openxmlformats.org/drawingml/2006/main">
              <a:ext uri="{FF2B5EF4-FFF2-40B4-BE49-F238E27FC236}">
                <a16:creationId xmlns:a16="http://schemas.microsoft.com/office/drawing/2014/main" id="{63F9112E-1B42-4D46-9009-DE96E14494F4}"/>
              </a:ext>
            </a:extLst>
          </p:cNvPr>
          <p:cNvSpPr>
            <a:spLocks xmlns:a="http://schemas.openxmlformats.org/drawingml/2006/main" noGrp="1"/>
          </p:cNvSpPr>
          <p:nvPr/>
        </p:nvSpPr>
        <p:spPr>
          <a:xfrm xmlns:a="http://schemas.openxmlformats.org/drawingml/2006/main">
            <a:off x="6583680" y="3867912"/>
            <a:ext cx="49679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29" name="Text 26">
            <a:extLst xmlns:a="http://schemas.openxmlformats.org/drawingml/2006/main">
              <a:ext uri="{FF2B5EF4-FFF2-40B4-BE49-F238E27FC236}">
                <a16:creationId xmlns:a16="http://schemas.microsoft.com/office/drawing/2014/main" id="{E82B9C49-2CE1-4829-9EF6-4C4315B3C41B}"/>
              </a:ext>
            </a:extLst>
          </p:cNvPr>
          <p:cNvSpPr>
            <a:spLocks xmlns:a="http://schemas.openxmlformats.org/drawingml/2006/main" noGrp="1"/>
          </p:cNvSpPr>
          <p:nvPr/>
        </p:nvSpPr>
        <p:spPr>
          <a:xfrm xmlns:a="http://schemas.openxmlformats.org/drawingml/2006/main">
            <a:off x="6583680" y="3977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Every number has a source</a:t>
            </a:r>
            <a:endParaRPr sz="1500"/>
          </a:p>
        </p:txBody>
      </p:sp>
      <p:sp>
        <p:nvSpPr>
          <p:cNvPr id="30" name="Text 27">
            <a:extLst xmlns:a="http://schemas.openxmlformats.org/drawingml/2006/main">
              <a:ext uri="{FF2B5EF4-FFF2-40B4-BE49-F238E27FC236}">
                <a16:creationId xmlns:a16="http://schemas.microsoft.com/office/drawing/2014/main" id="{CDA6A76A-DA15-42FA-B574-FF7FD8391593}"/>
              </a:ext>
            </a:extLst>
          </p:cNvPr>
          <p:cNvSpPr>
            <a:spLocks xmlns:a="http://schemas.openxmlformats.org/drawingml/2006/main" noGrp="1"/>
          </p:cNvSpPr>
          <p:nvPr/>
        </p:nvSpPr>
        <p:spPr>
          <a:xfrm xmlns:a="http://schemas.openxmlformats.org/drawingml/2006/main">
            <a:off x="6583680" y="4325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Tap any figure to see the function that computed it and its audit record.</a:t>
            </a:r>
            <a:endParaRPr sz="1300"/>
          </a:p>
        </p:txBody>
      </p:sp>
      <p:sp>
        <p:nvSpPr>
          <p:cNvPr id="31" name="workflow-note-rule-2">
            <a:extLst xmlns:a="http://schemas.openxmlformats.org/drawingml/2006/main">
              <a:ext uri="{FF2B5EF4-FFF2-40B4-BE49-F238E27FC236}">
                <a16:creationId xmlns:a16="http://schemas.microsoft.com/office/drawing/2014/main" id="{1ACD2128-78FC-4B6C-AEF6-C291427E2201}"/>
              </a:ext>
            </a:extLst>
          </p:cNvPr>
          <p:cNvSpPr>
            <a:spLocks xmlns:a="http://schemas.openxmlformats.org/drawingml/2006/main" noGrp="1"/>
          </p:cNvSpPr>
          <p:nvPr/>
        </p:nvSpPr>
        <p:spPr>
          <a:xfrm xmlns:a="http://schemas.openxmlformats.org/drawingml/2006/main">
            <a:off x="6583680" y="5010912"/>
            <a:ext cx="49679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32" name="Text 29">
            <a:extLst xmlns:a="http://schemas.openxmlformats.org/drawingml/2006/main">
              <a:ext uri="{FF2B5EF4-FFF2-40B4-BE49-F238E27FC236}">
                <a16:creationId xmlns:a16="http://schemas.microsoft.com/office/drawing/2014/main" id="{3D7B7FC7-C3AD-4B75-A6FD-2A7C77B9958D}"/>
              </a:ext>
            </a:extLst>
          </p:cNvPr>
          <p:cNvSpPr>
            <a:spLocks xmlns:a="http://schemas.openxmlformats.org/drawingml/2006/main" noGrp="1"/>
          </p:cNvSpPr>
          <p:nvPr/>
        </p:nvSpPr>
        <p:spPr>
          <a:xfrm xmlns:a="http://schemas.openxmlformats.org/drawingml/2006/main">
            <a:off x="6583680" y="5120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Two optional tools</a:t>
            </a:r>
            <a:endParaRPr sz="1500"/>
          </a:p>
        </p:txBody>
      </p:sp>
      <p:sp>
        <p:nvSpPr>
          <p:cNvPr id="33" name="Text 30">
            <a:extLst xmlns:a="http://schemas.openxmlformats.org/drawingml/2006/main">
              <a:ext uri="{FF2B5EF4-FFF2-40B4-BE49-F238E27FC236}">
                <a16:creationId xmlns:a16="http://schemas.microsoft.com/office/drawing/2014/main" id="{34ECCF5C-36BE-48EF-B428-306A57B84A9C}"/>
              </a:ext>
            </a:extLst>
          </p:cNvPr>
          <p:cNvSpPr>
            <a:spLocks xmlns:a="http://schemas.openxmlformats.org/drawingml/2006/main" noGrp="1"/>
          </p:cNvSpPr>
          <p:nvPr/>
        </p:nvSpPr>
        <p:spPr>
          <a:xfrm xmlns:a="http://schemas.openxmlformats.org/drawingml/2006/main">
            <a:off x="6583680" y="5468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Compare products and run crisis tests when needed.</a:t>
            </a:r>
            <a:endParaRPr sz="1300"/>
          </a:p>
        </p:txBody>
      </p:sp>
      <p:sp>
        <p:nvSpPr>
          <p:cNvPr id="34" name="Slide Number Placeholder 0">
            <a:extLst xmlns:a="http://schemas.openxmlformats.org/drawingml/2006/main">
              <a:ext uri="{FF2B5EF4-FFF2-40B4-BE49-F238E27FC236}">
                <a16:creationId xmlns:a16="http://schemas.microsoft.com/office/drawing/2014/main" id="{E82AB3D5-81C6-4CE3-9F86-0261592392F3}"/>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212595896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3566E124-512E-4A2D-9757-7E444F5082C2}"/>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Crash Rehearsal: what clients do, not what they say</a:t>
            </a:r>
            <a:endParaRPr sz="3000"/>
          </a:p>
        </p:txBody>
      </p:sp>
      <p:pic>
        <p:nvPicPr>
          <p:cNvPr id="3" name="screenshot-rehearsal">
            <a:extLst xmlns:a="http://schemas.openxmlformats.org/drawingml/2006/main">
              <a:ext uri="{FF2B5EF4-FFF2-40B4-BE49-F238E27FC236}">
                <a16:creationId xmlns:a16="http://schemas.microsoft.com/office/drawing/2014/main" id="{90122F40-AFFB-42EB-8766-2DA17F33EFAA}"/>
              </a:ext>
            </a:extLst>
          </p:cNvPr>
          <p:cNvPicPr>
            <a:picLocks xmlns:a="http://schemas.openxmlformats.org/drawingml/2006/main" noChangeAspect="1"/>
          </p:cNvPicPr>
          <p:nvPr/>
        </p:nvPicPr>
        <p:blipFill>
          <a:blip xmlns:r="http://schemas.openxmlformats.org/officeDocument/2006/relationships" xmlns:a="http://schemas.openxmlformats.org/drawingml/2006/main" r:embed="Raad7c85562e7426a"/>
          <a:stretch xmlns:a="http://schemas.openxmlformats.org/drawingml/2006/main">
            <a:fillRect l="0" t="0" r="0" b="0"/>
          </a:stretch>
        </p:blipFill>
        <p:spPr>
          <a:xfrm xmlns:a="http://schemas.openxmlformats.org/drawingml/2006/main">
            <a:off x="640080" y="1417320"/>
            <a:ext cx="6035040" cy="3771900"/>
          </a:xfrm>
          <a:prstGeom xmlns:a="http://schemas.openxmlformats.org/drawingml/2006/main" prst="rect">
            <a:avLst/>
          </a:prstGeom>
        </p:spPr>
      </p:pic>
      <p:sp>
        <p:nvSpPr>
          <p:cNvPr id="4" name="screenshot-rehearsal-frame">
            <a:extLst xmlns:a="http://schemas.openxmlformats.org/drawingml/2006/main">
              <a:ext uri="{FF2B5EF4-FFF2-40B4-BE49-F238E27FC236}">
                <a16:creationId xmlns:a16="http://schemas.microsoft.com/office/drawing/2014/main" id="{4CED80AD-E96B-4450-BC1D-1F62E6E1C3F5}"/>
              </a:ext>
            </a:extLst>
          </p:cNvPr>
          <p:cNvSpPr>
            <a:spLocks xmlns:a="http://schemas.openxmlformats.org/drawingml/2006/main" noGrp="1"/>
          </p:cNvSpPr>
          <p:nvPr/>
        </p:nvSpPr>
        <p:spPr>
          <a:xfrm xmlns:a="http://schemas.openxmlformats.org/drawingml/2006/main">
            <a:off x="640080" y="1417320"/>
            <a:ext cx="6035040" cy="3771900"/>
          </a:xfrm>
          <a:prstGeom xmlns:a="http://schemas.openxmlformats.org/drawingml/2006/main" prst="rect">
            <a:avLst/>
          </a:prstGeom>
          <a:ln xmlns:a="http://schemas.openxmlformats.org/drawingml/2006/main" w="9525">
            <a:solidFill>
              <a:srgbClr val="C5CDD5"/>
            </a:solidFill>
            <a:prstDash val="solid"/>
          </a:ln>
        </p:spPr>
      </p:sp>
      <p:sp>
        <p:nvSpPr>
          <p:cNvPr id="5" name="Text 2">
            <a:extLst xmlns:a="http://schemas.openxmlformats.org/drawingml/2006/main">
              <a:ext uri="{FF2B5EF4-FFF2-40B4-BE49-F238E27FC236}">
                <a16:creationId xmlns:a16="http://schemas.microsoft.com/office/drawing/2014/main" id="{C1A2AC8C-FCC3-4BAB-B544-D054C515E9CB}"/>
              </a:ext>
            </a:extLst>
          </p:cNvPr>
          <p:cNvSpPr>
            <a:spLocks xmlns:a="http://schemas.openxmlformats.org/drawingml/2006/main" noGrp="1"/>
          </p:cNvSpPr>
          <p:nvPr/>
        </p:nvSpPr>
        <p:spPr>
          <a:xfrm xmlns:a="http://schemas.openxmlformats.org/drawingml/2006/main">
            <a:off x="7132320" y="14173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history</a:t>
            </a:r>
            <a:endParaRPr sz="1500"/>
          </a:p>
        </p:txBody>
      </p:sp>
      <p:sp>
        <p:nvSpPr>
          <p:cNvPr id="6" name="Text 3">
            <a:extLst xmlns:a="http://schemas.openxmlformats.org/drawingml/2006/main">
              <a:ext uri="{FF2B5EF4-FFF2-40B4-BE49-F238E27FC236}">
                <a16:creationId xmlns:a16="http://schemas.microsoft.com/office/drawing/2014/main" id="{F7203EB1-60BD-4946-8063-B55CE90843F6}"/>
              </a:ext>
            </a:extLst>
          </p:cNvPr>
          <p:cNvSpPr>
            <a:spLocks xmlns:a="http://schemas.openxmlformats.org/drawingml/2006/main" noGrp="1"/>
          </p:cNvSpPr>
          <p:nvPr/>
        </p:nvSpPr>
        <p:spPr>
          <a:xfrm xmlns:a="http://schemas.openxmlformats.org/drawingml/2006/main">
            <a:off x="7132320" y="17647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October 2007 to March 2013, month by month, on Kenneth R. French, FRED and World Bank data, with the headlines of the time.</a:t>
            </a:r>
            <a:endParaRPr sz="1300"/>
          </a:p>
        </p:txBody>
      </p:sp>
      <p:sp>
        <p:nvSpPr>
          <p:cNvPr id="7" name="rehearsal-rule-1">
            <a:extLst xmlns:a="http://schemas.openxmlformats.org/drawingml/2006/main">
              <a:ext uri="{FF2B5EF4-FFF2-40B4-BE49-F238E27FC236}">
                <a16:creationId xmlns:a16="http://schemas.microsoft.com/office/drawing/2014/main" id="{9E1A7CF1-D037-4D7A-959F-CE1BF4C1E9B9}"/>
              </a:ext>
            </a:extLst>
          </p:cNvPr>
          <p:cNvSpPr>
            <a:spLocks xmlns:a="http://schemas.openxmlformats.org/drawingml/2006/main" noGrp="1"/>
          </p:cNvSpPr>
          <p:nvPr/>
        </p:nvSpPr>
        <p:spPr>
          <a:xfrm xmlns:a="http://schemas.openxmlformats.org/drawingml/2006/main">
            <a:off x="7132320" y="2564892"/>
            <a:ext cx="441929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E9D1A3B2-981A-4C47-813A-B626C07880C5}"/>
              </a:ext>
            </a:extLst>
          </p:cNvPr>
          <p:cNvSpPr>
            <a:spLocks xmlns:a="http://schemas.openxmlformats.org/drawingml/2006/main" noGrp="1"/>
          </p:cNvSpPr>
          <p:nvPr/>
        </p:nvSpPr>
        <p:spPr>
          <a:xfrm xmlns:a="http://schemas.openxmlformats.org/drawingml/2006/main">
            <a:off x="7132320" y="26746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Revealed tolerance</a:t>
            </a:r>
            <a:endParaRPr sz="1500"/>
          </a:p>
        </p:txBody>
      </p:sp>
      <p:sp>
        <p:nvSpPr>
          <p:cNvPr id="9" name="Text 6">
            <a:extLst xmlns:a="http://schemas.openxmlformats.org/drawingml/2006/main">
              <a:ext uri="{FF2B5EF4-FFF2-40B4-BE49-F238E27FC236}">
                <a16:creationId xmlns:a16="http://schemas.microsoft.com/office/drawing/2014/main" id="{DFD0A46A-E429-4E07-978E-812D6E383FA2}"/>
              </a:ext>
            </a:extLst>
          </p:cNvPr>
          <p:cNvSpPr>
            <a:spLocks xmlns:a="http://schemas.openxmlformats.org/drawingml/2006/main" noGrp="1"/>
          </p:cNvSpPr>
          <p:nvPr/>
        </p:nvSpPr>
        <p:spPr>
          <a:xfrm xmlns:a="http://schemas.openxmlformats.org/drawingml/2006/main">
            <a:off x="7132320" y="30220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Where the client sells sets the risk class their behaviour supports.</a:t>
            </a:r>
            <a:endParaRPr sz="1300"/>
          </a:p>
        </p:txBody>
      </p:sp>
      <p:sp>
        <p:nvSpPr>
          <p:cNvPr id="10" name="rehearsal-rule-2">
            <a:extLst xmlns:a="http://schemas.openxmlformats.org/drawingml/2006/main">
              <a:ext uri="{FF2B5EF4-FFF2-40B4-BE49-F238E27FC236}">
                <a16:creationId xmlns:a16="http://schemas.microsoft.com/office/drawing/2014/main" id="{1301E5CB-8102-4694-B38B-D56682703D5B}"/>
              </a:ext>
            </a:extLst>
          </p:cNvPr>
          <p:cNvSpPr>
            <a:spLocks xmlns:a="http://schemas.openxmlformats.org/drawingml/2006/main" noGrp="1"/>
          </p:cNvSpPr>
          <p:nvPr/>
        </p:nvSpPr>
        <p:spPr>
          <a:xfrm xmlns:a="http://schemas.openxmlformats.org/drawingml/2006/main">
            <a:off x="7132320" y="3822192"/>
            <a:ext cx="441929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FDDDC370-2296-429D-982D-BAE601A72918}"/>
              </a:ext>
            </a:extLst>
          </p:cNvPr>
          <p:cNvSpPr>
            <a:spLocks xmlns:a="http://schemas.openxmlformats.org/drawingml/2006/main" noGrp="1"/>
          </p:cNvSpPr>
          <p:nvPr/>
        </p:nvSpPr>
        <p:spPr>
          <a:xfrm xmlns:a="http://schemas.openxmlformats.org/drawingml/2006/main">
            <a:off x="7132320" y="39319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Only ever safer</a:t>
            </a:r>
            <a:endParaRPr sz="1500"/>
          </a:p>
        </p:txBody>
      </p:sp>
      <p:sp>
        <p:nvSpPr>
          <p:cNvPr id="12" name="Text 9">
            <a:extLst xmlns:a="http://schemas.openxmlformats.org/drawingml/2006/main">
              <a:ext uri="{FF2B5EF4-FFF2-40B4-BE49-F238E27FC236}">
                <a16:creationId xmlns:a16="http://schemas.microsoft.com/office/drawing/2014/main" id="{1CCF7E26-D9C7-49EA-8478-A3DF2E36BD9E}"/>
              </a:ext>
            </a:extLst>
          </p:cNvPr>
          <p:cNvSpPr>
            <a:spLocks xmlns:a="http://schemas.openxmlformats.org/drawingml/2006/main" noGrp="1"/>
          </p:cNvSpPr>
          <p:nvPr/>
        </p:nvSpPr>
        <p:spPr>
          <a:xfrm xmlns:a="http://schemas.openxmlformats.org/drawingml/2006/main">
            <a:off x="7132320" y="42793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new class is the lower of stated and revealed. Holding never raises it. The result is logged and printed on the client's report.</a:t>
            </a:r>
            <a:endParaRPr sz="1300"/>
          </a:p>
        </p:txBody>
      </p:sp>
      <p:sp>
        <p:nvSpPr>
          <p:cNvPr id="13" name="rehearsal-example-rule">
            <a:extLst xmlns:a="http://schemas.openxmlformats.org/drawingml/2006/main">
              <a:ext uri="{FF2B5EF4-FFF2-40B4-BE49-F238E27FC236}">
                <a16:creationId xmlns:a16="http://schemas.microsoft.com/office/drawing/2014/main" id="{51BD1E2A-1F48-43AB-BDFC-490A74F13233}"/>
              </a:ext>
            </a:extLst>
          </p:cNvPr>
          <p:cNvSpPr>
            <a:spLocks xmlns:a="http://schemas.openxmlformats.org/drawingml/2006/main" noGrp="1"/>
          </p:cNvSpPr>
          <p:nvPr/>
        </p:nvSpPr>
        <p:spPr>
          <a:xfrm xmlns:a="http://schemas.openxmlformats.org/drawingml/2006/main">
            <a:off x="640080" y="544068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14" name="Text 11">
            <a:extLst xmlns:a="http://schemas.openxmlformats.org/drawingml/2006/main">
              <a:ext uri="{FF2B5EF4-FFF2-40B4-BE49-F238E27FC236}">
                <a16:creationId xmlns:a16="http://schemas.microsoft.com/office/drawing/2014/main" id="{236F7B15-8872-42C5-AF79-4E0680D06C16}"/>
              </a:ext>
            </a:extLst>
          </p:cNvPr>
          <p:cNvSpPr>
            <a:spLocks xmlns:a="http://schemas.openxmlformats.org/drawingml/2006/main" noGrp="1"/>
          </p:cNvSpPr>
          <p:nvPr/>
        </p:nvSpPr>
        <p:spPr>
          <a:xfrm xmlns:a="http://schemas.openxmlformats.org/drawingml/2006/main">
            <a:off x="640080" y="5577840"/>
            <a:ext cx="1091153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latin typeface="Arial"/>
                <a:ea typeface="Arial"/>
                <a:cs typeface="Arial"/>
              </a:rPr>
              <a:t>Evidence session 02:  </a:t>
            </a:r>
            <a:r>
              <a:rPr sz="1400">
                <a:solidFill>
                  <a:schemeClr val="accent5"/>
                </a:solidFill>
                <a:latin typeface="Arial"/>
                <a:ea typeface="Arial"/>
                <a:cs typeface="Arial"/>
              </a:rPr>
              <a:t>the client said they would buy more in a fall, then sold in September 2008, 12.5% below the peak. Holding would have ended at 133,266 on 100,000; selling ended at 89,601. Class lowered from C5 to C3, and the old C5 portfolio was refused.</a:t>
            </a:r>
            <a:endParaRPr sz="1400"/>
          </a:p>
        </p:txBody>
      </p:sp>
      <p:sp>
        <p:nvSpPr>
          <p:cNvPr id="25" name="Slide Number Placeholder 0">
            <a:extLst xmlns:a="http://schemas.openxmlformats.org/drawingml/2006/main">
              <a:ext uri="{FF2B5EF4-FFF2-40B4-BE49-F238E27FC236}">
                <a16:creationId xmlns:a16="http://schemas.microsoft.com/office/drawing/2014/main" id="{D682A2B4-B24D-43B1-ACD2-7DA91464BD4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7198556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DC063870-D077-4719-907D-F5CE04085EB1}"/>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The model talks. Code decides.</a:t>
            </a:r>
            <a:endParaRPr sz="3000"/>
          </a:p>
        </p:txBody>
      </p:sp>
      <p:graphicFrame>
        <p:nvGraphicFramePr>
          <p:cNvPr id="7" name="boundary-table">
            <a:extLst xmlns:a="http://schemas.openxmlformats.org/drawingml/2006/main">
              <a:ext uri="{FF2B5EF4-FFF2-40B4-BE49-F238E27FC236}">
                <a16:creationId xmlns:a16="http://schemas.microsoft.com/office/drawing/2014/main" id="{66FFFD1D-F153-4A0C-A067-79E2563B732D}"/>
              </a:ext>
            </a:extLst>
          </p:cNvPr>
          <p:cNvGraphicFramePr/>
          <p:nvPr/>
        </p:nvGraphicFramePr>
        <p:xfrm>
          <a:off xmlns:a="http://schemas.openxmlformats.org/drawingml/2006/main" x="640080" y="1417320"/>
          <a:ext xmlns:a="http://schemas.openxmlformats.org/drawingml/2006/main" cx="7040880" cy="914400"/>
        </p:xfrm>
        <a:graphic xmlns:a="http://schemas.openxmlformats.org/drawingml/2006/main">
          <a:graphicData uri="http://schemas.openxmlformats.org/drawingml/2006/table">
            <a:tbl>
              <a:tblPr/>
              <a:tblGrid>
                <a:gridCol w="2651760"/>
                <a:gridCol w="2286000"/>
                <a:gridCol w="2103120"/>
              </a:tblGrid>
              <a:tr h="566928">
                <a:tc>
                  <a:txBody>
                    <a:bodyPr/>
                    <a:lstStyle/>
                    <a:p>
                      <a:pPr marL="0" indent="0">
                        <a:buNone/>
                      </a:pPr>
                      <a:r>
                        <a:rPr sz="1200" b="1">
                          <a:solidFill>
                            <a:schemeClr val="accent5"/>
                          </a:solidFill>
                          <a:latin typeface="Arial"/>
                          <a:ea typeface="Arial"/>
                          <a:cs typeface="Arial"/>
                        </a:rPr>
                        <a:t>Concern</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c>
                  <a:txBody>
                    <a:bodyPr/>
                    <a:lstStyle/>
                    <a:p>
                      <a:pPr marL="0" indent="0">
                        <a:buNone/>
                      </a:pPr>
                      <a:r>
                        <a:rPr sz="1200" b="1">
                          <a:solidFill>
                            <a:schemeClr val="accent5"/>
                          </a:solidFill>
                          <a:latin typeface="Arial"/>
                          <a:ea typeface="Arial"/>
                          <a:cs typeface="Arial"/>
                        </a:rPr>
                        <a:t>Owned by</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c>
                  <a:txBody>
                    <a:bodyPr/>
                    <a:lstStyle/>
                    <a:p>
                      <a:pPr marL="0" indent="0">
                        <a:buNone/>
                      </a:pPr>
                      <a:r>
                        <a:rPr sz="1200" b="1">
                          <a:solidFill>
                            <a:schemeClr val="accent5"/>
                          </a:solidFill>
                          <a:latin typeface="Arial"/>
                          <a:ea typeface="Arial"/>
                          <a:cs typeface="Arial"/>
                        </a:rPr>
                        <a:t>Why</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r>
              <a:tr h="566928">
                <a:tc>
                  <a:txBody>
                    <a:bodyPr/>
                    <a:lstStyle/>
                    <a:p>
                      <a:pPr marL="0" indent="0">
                        <a:buNone/>
                      </a:pPr>
                      <a:r>
                        <a:rPr sz="1300">
                          <a:solidFill>
                            <a:schemeClr val="tx1"/>
                          </a:solidFill>
                          <a:latin typeface="Arial"/>
                          <a:ea typeface="Arial"/>
                          <a:cs typeface="Arial"/>
                        </a:rPr>
                        <a:t>Conversation and explanations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Language model (Groq)</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Language is what models do well</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Risk class, weights, returns, fees, stress losses, goal odds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Deterministic, tested Python</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Reproducible, no invented figures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Suitability, liquidity, limits, cooling-off</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Server code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Cannot be talked around</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Placing an order</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b="1">
                          <a:solidFill>
                            <a:schemeClr val="accent2"/>
                          </a:solidFill>
                          <a:latin typeface="Arial"/>
                          <a:ea typeface="Arial"/>
                          <a:cs typeface="Arial"/>
                        </a:rPr>
                        <a:t>The client only, with a one-time token</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The model has no tool that can trade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Record of what happened</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Hash-chained log, anchored on FISCO BCOS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Tamper-evident, checkable by anyone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bl>
          </a:graphicData>
        </a:graphic>
      </p:graphicFrame>
      <p:sp>
        <p:nvSpPr>
          <p:cNvPr id="4" name="proof-divider">
            <a:extLst xmlns:a="http://schemas.openxmlformats.org/drawingml/2006/main">
              <a:ext uri="{FF2B5EF4-FFF2-40B4-BE49-F238E27FC236}">
                <a16:creationId xmlns:a16="http://schemas.microsoft.com/office/drawing/2014/main" id="{A4AC3961-01C9-4391-96E8-96444FB71B64}"/>
              </a:ext>
            </a:extLst>
          </p:cNvPr>
          <p:cNvSpPr>
            <a:spLocks xmlns:a="http://schemas.openxmlformats.org/drawingml/2006/main" noGrp="1"/>
          </p:cNvSpPr>
          <p:nvPr/>
        </p:nvSpPr>
        <p:spPr>
          <a:xfrm xmlns:a="http://schemas.openxmlformats.org/drawingml/2006/main">
            <a:off x="7955280" y="1417320"/>
            <a:ext cx="0" cy="420624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Text 2">
            <a:extLst xmlns:a="http://schemas.openxmlformats.org/drawingml/2006/main">
              <a:ext uri="{FF2B5EF4-FFF2-40B4-BE49-F238E27FC236}">
                <a16:creationId xmlns:a16="http://schemas.microsoft.com/office/drawing/2014/main" id="{C47D2684-2F6D-4229-A651-C9647DF91433}"/>
              </a:ext>
            </a:extLst>
          </p:cNvPr>
          <p:cNvSpPr>
            <a:spLocks xmlns:a="http://schemas.openxmlformats.org/drawingml/2006/main" noGrp="1"/>
          </p:cNvSpPr>
          <p:nvPr/>
        </p:nvSpPr>
        <p:spPr>
          <a:xfrm xmlns:a="http://schemas.openxmlformats.org/drawingml/2006/main">
            <a:off x="8229600" y="141732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Every number shows its source</a:t>
            </a:r>
            <a:endParaRPr sz="1500"/>
          </a:p>
        </p:txBody>
      </p:sp>
      <p:sp>
        <p:nvSpPr>
          <p:cNvPr id="6" name="Text 3">
            <a:extLst xmlns:a="http://schemas.openxmlformats.org/drawingml/2006/main">
              <a:ext uri="{FF2B5EF4-FFF2-40B4-BE49-F238E27FC236}">
                <a16:creationId xmlns:a16="http://schemas.microsoft.com/office/drawing/2014/main" id="{65872F42-1151-4EEC-9760-DF8D9700F9E8}"/>
              </a:ext>
            </a:extLst>
          </p:cNvPr>
          <p:cNvSpPr>
            <a:spLocks xmlns:a="http://schemas.openxmlformats.org/drawingml/2006/main" noGrp="1"/>
          </p:cNvSpPr>
          <p:nvPr/>
        </p:nvSpPr>
        <p:spPr>
          <a:xfrm xmlns:a="http://schemas.openxmlformats.org/drawingml/2006/main">
            <a:off x="8229600" y="178308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Tap 7.43% and Keel shows: computed by allocation.build_allocation(), audit record cfbe5d57.</a:t>
            </a:r>
            <a:endParaRPr sz="1300"/>
          </a:p>
        </p:txBody>
      </p:sp>
      <p:sp>
        <p:nvSpPr>
          <p:cNvPr id="26" name="proof-rule-1">
            <a:extLst xmlns:a="http://schemas.openxmlformats.org/drawingml/2006/main">
              <a:ext uri="{FF2B5EF4-FFF2-40B4-BE49-F238E27FC236}">
                <a16:creationId xmlns:a16="http://schemas.microsoft.com/office/drawing/2014/main" id="{4646D549-5F53-4B88-B1A7-F036FDFD5370}"/>
              </a:ext>
            </a:extLst>
          </p:cNvPr>
          <p:cNvSpPr>
            <a:spLocks xmlns:a="http://schemas.openxmlformats.org/drawingml/2006/main" noGrp="1"/>
          </p:cNvSpPr>
          <p:nvPr/>
        </p:nvSpPr>
        <p:spPr>
          <a:xfrm xmlns:a="http://schemas.openxmlformats.org/drawingml/2006/main">
            <a:off x="8229600" y="2697480"/>
            <a:ext cx="332201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24C9461D-5DDD-4C87-A512-D284CFEE81B9}"/>
              </a:ext>
            </a:extLst>
          </p:cNvPr>
          <p:cNvSpPr>
            <a:spLocks xmlns:a="http://schemas.openxmlformats.org/drawingml/2006/main" noGrp="1"/>
          </p:cNvSpPr>
          <p:nvPr/>
        </p:nvSpPr>
        <p:spPr>
          <a:xfrm xmlns:a="http://schemas.openxmlformats.org/drawingml/2006/main">
            <a:off x="8229600" y="283464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No ungrounded figures</a:t>
            </a:r>
            <a:endParaRPr sz="1500"/>
          </a:p>
        </p:txBody>
      </p:sp>
      <p:sp>
        <p:nvSpPr>
          <p:cNvPr id="9" name="Text 6">
            <a:extLst xmlns:a="http://schemas.openxmlformats.org/drawingml/2006/main">
              <a:ext uri="{FF2B5EF4-FFF2-40B4-BE49-F238E27FC236}">
                <a16:creationId xmlns:a16="http://schemas.microsoft.com/office/drawing/2014/main" id="{FC8B5F12-D3E7-43C4-965C-2CBB20526B09}"/>
              </a:ext>
            </a:extLst>
          </p:cNvPr>
          <p:cNvSpPr>
            <a:spLocks xmlns:a="http://schemas.openxmlformats.org/drawingml/2006/main" noGrp="1"/>
          </p:cNvSpPr>
          <p:nvPr/>
        </p:nvSpPr>
        <p:spPr>
          <a:xfrm xmlns:a="http://schemas.openxmlformats.org/drawingml/2006/main">
            <a:off x="8229600" y="320040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An output guard checks each number in a reply against this session's tool results, and blocks promises such as "guaranteed".</a:t>
            </a:r>
            <a:endParaRPr sz="1300"/>
          </a:p>
        </p:txBody>
      </p:sp>
      <p:sp>
        <p:nvSpPr>
          <p:cNvPr id="10" name="proof-rule-2">
            <a:extLst xmlns:a="http://schemas.openxmlformats.org/drawingml/2006/main">
              <a:ext uri="{FF2B5EF4-FFF2-40B4-BE49-F238E27FC236}">
                <a16:creationId xmlns:a16="http://schemas.microsoft.com/office/drawing/2014/main" id="{90941CF4-6BAC-4900-98A4-DEC55D8E41C5}"/>
              </a:ext>
            </a:extLst>
          </p:cNvPr>
          <p:cNvSpPr>
            <a:spLocks xmlns:a="http://schemas.openxmlformats.org/drawingml/2006/main" noGrp="1"/>
          </p:cNvSpPr>
          <p:nvPr/>
        </p:nvSpPr>
        <p:spPr>
          <a:xfrm xmlns:a="http://schemas.openxmlformats.org/drawingml/2006/main">
            <a:off x="8229600" y="4114800"/>
            <a:ext cx="332201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5BEF1034-B0DF-4D67-8909-CA666D56903E}"/>
              </a:ext>
            </a:extLst>
          </p:cNvPr>
          <p:cNvSpPr>
            <a:spLocks xmlns:a="http://schemas.openxmlformats.org/drawingml/2006/main" noGrp="1"/>
          </p:cNvSpPr>
          <p:nvPr/>
        </p:nvSpPr>
        <p:spPr>
          <a:xfrm xmlns:a="http://schemas.openxmlformats.org/drawingml/2006/main">
            <a:off x="8229600" y="425196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Verifiable afterwards</a:t>
            </a:r>
            <a:endParaRPr sz="1500"/>
          </a:p>
        </p:txBody>
      </p:sp>
      <p:sp>
        <p:nvSpPr>
          <p:cNvPr id="12" name="Text 9">
            <a:extLst xmlns:a="http://schemas.openxmlformats.org/drawingml/2006/main">
              <a:ext uri="{FF2B5EF4-FFF2-40B4-BE49-F238E27FC236}">
                <a16:creationId xmlns:a16="http://schemas.microsoft.com/office/drawing/2014/main" id="{EC8837CC-0423-4EA3-8766-DDFCF4C7AF36}"/>
              </a:ext>
            </a:extLst>
          </p:cNvPr>
          <p:cNvSpPr>
            <a:spLocks xmlns:a="http://schemas.openxmlformats.org/drawingml/2006/main" noGrp="1"/>
          </p:cNvSpPr>
          <p:nvPr/>
        </p:nvSpPr>
        <p:spPr>
          <a:xfrm xmlns:a="http://schemas.openxmlformats.org/drawingml/2006/main">
            <a:off x="8229600" y="461772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audit-log head is written to a smart contract on WeBank's FISCO BCOS. Verify recomputes the log; one edited record fails.</a:t>
            </a:r>
            <a:endParaRPr sz="1300"/>
          </a:p>
        </p:txBody>
      </p:sp>
      <p:sp>
        <p:nvSpPr>
          <p:cNvPr id="25" name="Slide Number Placeholder 0">
            <a:extLst xmlns:a="http://schemas.openxmlformats.org/drawingml/2006/main">
              <a:ext uri="{FF2B5EF4-FFF2-40B4-BE49-F238E27FC236}">
                <a16:creationId xmlns:a16="http://schemas.microsoft.com/office/drawing/2014/main" id="{0C75A532-30E6-43E3-9F32-BD77FEABBCF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8535034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CF5BFECD-3ACE-44F7-A332-ADAE39E6983E}"/>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Advice on 24 real Chinese public funds</a:t>
            </a:r>
            <a:endParaRPr sz="3000"/>
          </a:p>
        </p:txBody>
      </p:sp>
      <p:sp>
        <p:nvSpPr>
          <p:cNvPr id="3" name="Text 1">
            <a:extLst xmlns:a="http://schemas.openxmlformats.org/drawingml/2006/main">
              <a:ext uri="{FF2B5EF4-FFF2-40B4-BE49-F238E27FC236}">
                <a16:creationId xmlns:a16="http://schemas.microsoft.com/office/drawing/2014/main" id="{3CBDF7D1-EE0C-4C3C-B96A-09F6A446CB10}"/>
              </a:ext>
            </a:extLst>
          </p:cNvPr>
          <p:cNvSpPr>
            <a:spLocks xmlns:a="http://schemas.openxmlformats.org/drawingml/2006/main" noGrp="1"/>
          </p:cNvSpPr>
          <p:nvPr/>
        </p:nvSpPr>
        <p:spPr>
          <a:xfrm xmlns:a="http://schemas.openxmlformats.org/drawingml/2006/main">
            <a:off x="640080" y="14173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Public data</a:t>
            </a:r>
            <a:endParaRPr sz="1500"/>
          </a:p>
        </p:txBody>
      </p:sp>
      <p:sp>
        <p:nvSpPr>
          <p:cNvPr id="4" name="Text 2">
            <a:extLst xmlns:a="http://schemas.openxmlformats.org/drawingml/2006/main">
              <a:ext uri="{FF2B5EF4-FFF2-40B4-BE49-F238E27FC236}">
                <a16:creationId xmlns:a16="http://schemas.microsoft.com/office/drawing/2014/main" id="{921FB82F-6850-4190-AA6F-B821EDE8ABDC}"/>
              </a:ext>
            </a:extLst>
          </p:cNvPr>
          <p:cNvSpPr>
            <a:spLocks xmlns:a="http://schemas.openxmlformats.org/drawingml/2006/main" noGrp="1"/>
          </p:cNvSpPr>
          <p:nvPr/>
        </p:nvSpPr>
        <p:spPr>
          <a:xfrm xmlns:a="http://schemas.openxmlformats.org/drawingml/2006/main">
            <a:off x="640080" y="1764792"/>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Fund pages on East Money and Tiantian Fund, the source the open-source AkShare library uses.</a:t>
            </a:r>
            <a:endParaRPr sz="1300"/>
          </a:p>
        </p:txBody>
      </p:sp>
      <p:sp>
        <p:nvSpPr>
          <p:cNvPr id="5" name="fact-rule-1">
            <a:extLst xmlns:a="http://schemas.openxmlformats.org/drawingml/2006/main">
              <a:ext uri="{FF2B5EF4-FFF2-40B4-BE49-F238E27FC236}">
                <a16:creationId xmlns:a16="http://schemas.microsoft.com/office/drawing/2014/main" id="{98CA6CE6-5DB2-4F61-99A3-77123B52D13F}"/>
              </a:ext>
            </a:extLst>
          </p:cNvPr>
          <p:cNvSpPr>
            <a:spLocks xmlns:a="http://schemas.openxmlformats.org/drawingml/2006/main" noGrp="1"/>
          </p:cNvSpPr>
          <p:nvPr/>
        </p:nvSpPr>
        <p:spPr>
          <a:xfrm xmlns:a="http://schemas.openxmlformats.org/drawingml/2006/main">
            <a:off x="640080" y="2368296"/>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6" name="Text 4">
            <a:extLst xmlns:a="http://schemas.openxmlformats.org/drawingml/2006/main">
              <a:ext uri="{FF2B5EF4-FFF2-40B4-BE49-F238E27FC236}">
                <a16:creationId xmlns:a16="http://schemas.microsoft.com/office/drawing/2014/main" id="{F732FC38-E481-46AB-9F66-00152E3370BE}"/>
              </a:ext>
            </a:extLst>
          </p:cNvPr>
          <p:cNvSpPr>
            <a:spLocks xmlns:a="http://schemas.openxmlformats.org/drawingml/2006/main" noGrp="1"/>
          </p:cNvSpPr>
          <p:nvPr/>
        </p:nvSpPr>
        <p:spPr>
          <a:xfrm xmlns:a="http://schemas.openxmlformats.org/drawingml/2006/main">
            <a:off x="640080" y="2496312"/>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risk levels</a:t>
            </a:r>
            <a:endParaRPr sz="1500"/>
          </a:p>
        </p:txBody>
      </p:sp>
      <p:sp>
        <p:nvSpPr>
          <p:cNvPr id="7" name="Text 5">
            <a:extLst xmlns:a="http://schemas.openxmlformats.org/drawingml/2006/main">
              <a:ext uri="{FF2B5EF4-FFF2-40B4-BE49-F238E27FC236}">
                <a16:creationId xmlns:a16="http://schemas.microsoft.com/office/drawing/2014/main" id="{595F7E45-DF39-4670-9EB5-128A6EAF5780}"/>
              </a:ext>
            </a:extLst>
          </p:cNvPr>
          <p:cNvSpPr>
            <a:spLocks xmlns:a="http://schemas.openxmlformats.org/drawingml/2006/main" noGrp="1"/>
          </p:cNvSpPr>
          <p:nvPr/>
        </p:nvSpPr>
        <p:spPr>
          <a:xfrm xmlns:a="http://schemas.openxmlformats.org/drawingml/2006/main">
            <a:off x="640080" y="2843784"/>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Distributor labels 低风险 to 高风险, mapped to R1 to R5.</a:t>
            </a:r>
            <a:endParaRPr sz="1300"/>
          </a:p>
        </p:txBody>
      </p:sp>
      <p:sp>
        <p:nvSpPr>
          <p:cNvPr id="8" name="fact-rule-2">
            <a:extLst xmlns:a="http://schemas.openxmlformats.org/drawingml/2006/main">
              <a:ext uri="{FF2B5EF4-FFF2-40B4-BE49-F238E27FC236}">
                <a16:creationId xmlns:a16="http://schemas.microsoft.com/office/drawing/2014/main" id="{71C2E8F0-15D9-492E-B981-5D7AB92E1173}"/>
              </a:ext>
            </a:extLst>
          </p:cNvPr>
          <p:cNvSpPr>
            <a:spLocks xmlns:a="http://schemas.openxmlformats.org/drawingml/2006/main" noGrp="1"/>
          </p:cNvSpPr>
          <p:nvPr/>
        </p:nvSpPr>
        <p:spPr>
          <a:xfrm xmlns:a="http://schemas.openxmlformats.org/drawingml/2006/main">
            <a:off x="640080" y="3447288"/>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9" name="Text 7">
            <a:extLst xmlns:a="http://schemas.openxmlformats.org/drawingml/2006/main">
              <a:ext uri="{FF2B5EF4-FFF2-40B4-BE49-F238E27FC236}">
                <a16:creationId xmlns:a16="http://schemas.microsoft.com/office/drawing/2014/main" id="{B908DB75-22B1-45C2-9DB0-733DBB6928B0}"/>
              </a:ext>
            </a:extLst>
          </p:cNvPr>
          <p:cNvSpPr>
            <a:spLocks xmlns:a="http://schemas.openxmlformats.org/drawingml/2006/main" noGrp="1"/>
          </p:cNvSpPr>
          <p:nvPr/>
        </p:nvSpPr>
        <p:spPr>
          <a:xfrm xmlns:a="http://schemas.openxmlformats.org/drawingml/2006/main">
            <a:off x="640080" y="3575304"/>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costs</a:t>
            </a:r>
            <a:endParaRPr sz="1500"/>
          </a:p>
        </p:txBody>
      </p:sp>
      <p:sp>
        <p:nvSpPr>
          <p:cNvPr id="10" name="Text 8">
            <a:extLst xmlns:a="http://schemas.openxmlformats.org/drawingml/2006/main">
              <a:ext uri="{FF2B5EF4-FFF2-40B4-BE49-F238E27FC236}">
                <a16:creationId xmlns:a16="http://schemas.microsoft.com/office/drawing/2014/main" id="{FEA78CCD-DD9D-4AD4-BB62-D97BD5F2156C}"/>
              </a:ext>
            </a:extLst>
          </p:cNvPr>
          <p:cNvSpPr>
            <a:spLocks xmlns:a="http://schemas.openxmlformats.org/drawingml/2006/main" noGrp="1"/>
          </p:cNvSpPr>
          <p:nvPr/>
        </p:nvSpPr>
        <p:spPr>
          <a:xfrm xmlns:a="http://schemas.openxmlformats.org/drawingml/2006/main">
            <a:off x="640080" y="3922776"/>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Management, custody and sales-service fees for every fund.</a:t>
            </a:r>
            <a:endParaRPr sz="1300"/>
          </a:p>
        </p:txBody>
      </p:sp>
      <p:sp>
        <p:nvSpPr>
          <p:cNvPr id="11" name="fact-rule-3">
            <a:extLst xmlns:a="http://schemas.openxmlformats.org/drawingml/2006/main">
              <a:ext uri="{FF2B5EF4-FFF2-40B4-BE49-F238E27FC236}">
                <a16:creationId xmlns:a16="http://schemas.microsoft.com/office/drawing/2014/main" id="{846DBA57-6BB9-43DE-A0D9-6278699DD0AB}"/>
              </a:ext>
            </a:extLst>
          </p:cNvPr>
          <p:cNvSpPr>
            <a:spLocks xmlns:a="http://schemas.openxmlformats.org/drawingml/2006/main" noGrp="1"/>
          </p:cNvSpPr>
          <p:nvPr/>
        </p:nvSpPr>
        <p:spPr>
          <a:xfrm xmlns:a="http://schemas.openxmlformats.org/drawingml/2006/main">
            <a:off x="640080" y="4526280"/>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2" name="Text 10">
            <a:extLst xmlns:a="http://schemas.openxmlformats.org/drawingml/2006/main">
              <a:ext uri="{FF2B5EF4-FFF2-40B4-BE49-F238E27FC236}">
                <a16:creationId xmlns:a16="http://schemas.microsoft.com/office/drawing/2014/main" id="{E58928F2-9150-48DA-885F-5CD4F6B7F93A}"/>
              </a:ext>
            </a:extLst>
          </p:cNvPr>
          <p:cNvSpPr>
            <a:spLocks xmlns:a="http://schemas.openxmlformats.org/drawingml/2006/main" noGrp="1"/>
          </p:cNvSpPr>
          <p:nvPr/>
        </p:nvSpPr>
        <p:spPr>
          <a:xfrm xmlns:a="http://schemas.openxmlformats.org/drawingml/2006/main">
            <a:off x="640080" y="465429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Honest estimates</a:t>
            </a:r>
            <a:endParaRPr sz="1500"/>
          </a:p>
        </p:txBody>
      </p:sp>
      <p:sp>
        <p:nvSpPr>
          <p:cNvPr id="13" name="Text 11">
            <a:extLst xmlns:a="http://schemas.openxmlformats.org/drawingml/2006/main">
              <a:ext uri="{FF2B5EF4-FFF2-40B4-BE49-F238E27FC236}">
                <a16:creationId xmlns:a16="http://schemas.microsoft.com/office/drawing/2014/main" id="{3CC00FFB-2CDA-4151-AC88-FAADEB72004C}"/>
              </a:ext>
            </a:extLst>
          </p:cNvPr>
          <p:cNvSpPr>
            <a:spLocks xmlns:a="http://schemas.openxmlformats.org/drawingml/2006/main" noGrp="1"/>
          </p:cNvSpPr>
          <p:nvPr/>
        </p:nvSpPr>
        <p:spPr>
          <a:xfrm xmlns:a="http://schemas.openxmlformats.org/drawingml/2006/main">
            <a:off x="640080" y="5001768"/>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Ten years of NAV volatility; returns shrunk halfway to an asset-class prior.</a:t>
            </a:r>
            <a:endParaRPr sz="1300"/>
          </a:p>
        </p:txBody>
      </p:sp>
      <p:graphicFrame>
        <p:nvGraphicFramePr>
          <p:cNvPr id="26" name="class-ladder">
            <a:extLst xmlns:a="http://schemas.openxmlformats.org/drawingml/2006/main">
              <a:ext uri="{FF2B5EF4-FFF2-40B4-BE49-F238E27FC236}">
                <a16:creationId xmlns:a16="http://schemas.microsoft.com/office/drawing/2014/main" id="{6404B3EE-695C-4F2C-AB9F-C0057F2F3A57}"/>
              </a:ext>
            </a:extLst>
          </p:cNvPr>
          <p:cNvGraphicFramePr/>
          <p:nvPr/>
        </p:nvGraphicFramePr>
        <p:xfrm>
          <a:off xmlns:a="http://schemas.openxmlformats.org/drawingml/2006/main" x="6309360" y="1417320"/>
          <a:ext xmlns:a="http://schemas.openxmlformats.org/drawingml/2006/main" cx="5242255" cy="914400"/>
        </p:xfrm>
        <a:graphic xmlns:a="http://schemas.openxmlformats.org/drawingml/2006/main">
          <a:graphicData uri="http://schemas.openxmlformats.org/drawingml/2006/table">
            <a:tbl>
              <a:tblPr/>
              <a:tblGrid>
                <a:gridCol w="1828800"/>
                <a:gridCol w="1325880"/>
                <a:gridCol w="1234440"/>
                <a:gridCol w="1493215"/>
              </a:tblGrid>
              <a:tr h="512064">
                <a:tc>
                  <a:txBody>
                    <a:bodyPr/>
                    <a:lstStyle/>
                    <a:p>
                      <a:pPr marL="0" indent="0" algn="l">
                        <a:buNone/>
                      </a:pPr>
                      <a:r>
                        <a:rPr sz="1200" b="1">
                          <a:solidFill>
                            <a:schemeClr val="accent5"/>
                          </a:solidFill>
                          <a:latin typeface="Arial"/>
                          <a:ea typeface="Arial"/>
                          <a:cs typeface="Arial"/>
                        </a:rPr>
                        <a:t>Risk class</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Expected return</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Typical swing</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Worst historical loss</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r>
              <a:tr h="512064">
                <a:tc>
                  <a:txBody>
                    <a:bodyPr/>
                    <a:lstStyle/>
                    <a:p>
                      <a:pPr marL="0" indent="0" algn="l">
                        <a:buNone/>
                      </a:pPr>
                      <a:r>
                        <a:rPr sz="1400">
                          <a:solidFill>
                            <a:schemeClr val="tx1"/>
                          </a:solidFill>
                          <a:latin typeface="Arial"/>
                          <a:ea typeface="Arial"/>
                          <a:cs typeface="Arial"/>
                        </a:rPr>
                        <a:t>C1 Conservative</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1.1%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0.2%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0.0%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2.4%</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8.2%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C3 Balanced</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2.6%</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10.0%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C4</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7.1%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8.2%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21.3%</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C5 Aggressive</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8.0%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9.9%</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24.5%</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bl>
          </a:graphicData>
        </a:graphic>
      </p:graphicFrame>
      <p:sp>
        <p:nvSpPr>
          <p:cNvPr id="15" name="Text 12">
            <a:extLst xmlns:a="http://schemas.openxmlformats.org/drawingml/2006/main">
              <a:ext uri="{FF2B5EF4-FFF2-40B4-BE49-F238E27FC236}">
                <a16:creationId xmlns:a16="http://schemas.microsoft.com/office/drawing/2014/main" id="{36DB63B0-AD7E-4E6B-8A21-FD968CADC78C}"/>
              </a:ext>
            </a:extLst>
          </p:cNvPr>
          <p:cNvSpPr>
            <a:spLocks xmlns:a="http://schemas.openxmlformats.org/drawingml/2006/main" noGrp="1"/>
          </p:cNvSpPr>
          <p:nvPr/>
        </p:nvSpPr>
        <p:spPr>
          <a:xfrm xmlns:a="http://schemas.openxmlformats.org/drawingml/2006/main">
            <a:off x="6309360" y="4709160"/>
            <a:ext cx="52422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Model portfolios of 100,000 from the real catalog, after fees, before the client's own loss limit is applied. Worst of the 2008, 2020 and 2022 shocks.</a:t>
            </a:r>
            <a:endParaRPr sz="1200"/>
          </a:p>
        </p:txBody>
      </p:sp>
      <p:sp>
        <p:nvSpPr>
          <p:cNvPr id="25" name="Slide Number Placeholder 0">
            <a:extLst xmlns:a="http://schemas.openxmlformats.org/drawingml/2006/main">
              <a:ext uri="{FF2B5EF4-FFF2-40B4-BE49-F238E27FC236}">
                <a16:creationId xmlns:a16="http://schemas.microsoft.com/office/drawing/2014/main" id="{FDB8DE6B-49DB-4B76-AF78-9B6D53CB1CFD}"/>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70885306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81A8F9AE-6772-473E-A7E0-DB48D357E949}"/>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Security enforced in code, not in prompts</a:t>
            </a:r>
            <a:endParaRPr sz="3000"/>
          </a:p>
        </p:txBody>
      </p:sp>
      <p:sp>
        <p:nvSpPr>
          <p:cNvPr id="3" name="tiers-top">
            <a:extLst xmlns:a="http://schemas.openxmlformats.org/drawingml/2006/main">
              <a:ext uri="{FF2B5EF4-FFF2-40B4-BE49-F238E27FC236}">
                <a16:creationId xmlns:a16="http://schemas.microsoft.com/office/drawing/2014/main" id="{C1611AC8-05A5-4434-9067-6350207B2920}"/>
              </a:ext>
            </a:extLst>
          </p:cNvPr>
          <p:cNvSpPr>
            <a:spLocks xmlns:a="http://schemas.openxmlformats.org/drawingml/2006/main" noGrp="1"/>
          </p:cNvSpPr>
          <p:nvPr/>
        </p:nvSpPr>
        <p:spPr>
          <a:xfrm xmlns:a="http://schemas.openxmlformats.org/drawingml/2006/main">
            <a:off x="640080" y="1417320"/>
            <a:ext cx="5303520"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ABE5CD99-68F2-4266-B9F7-C844BD35034E}"/>
              </a:ext>
            </a:extLst>
          </p:cNvPr>
          <p:cNvSpPr>
            <a:spLocks xmlns:a="http://schemas.openxmlformats.org/drawingml/2006/main" noGrp="1"/>
          </p:cNvSpPr>
          <p:nvPr/>
        </p:nvSpPr>
        <p:spPr>
          <a:xfrm xmlns:a="http://schemas.openxmlformats.org/drawingml/2006/main">
            <a:off x="640080" y="152704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T0 Info</a:t>
            </a:r>
            <a:endParaRPr sz="1500"/>
          </a:p>
        </p:txBody>
      </p:sp>
      <p:sp>
        <p:nvSpPr>
          <p:cNvPr id="5" name="Text 3">
            <a:extLst xmlns:a="http://schemas.openxmlformats.org/drawingml/2006/main">
              <a:ext uri="{FF2B5EF4-FFF2-40B4-BE49-F238E27FC236}">
                <a16:creationId xmlns:a16="http://schemas.microsoft.com/office/drawing/2014/main" id="{29027714-09F3-4328-BA2C-AA85D004E12B}"/>
              </a:ext>
            </a:extLst>
          </p:cNvPr>
          <p:cNvSpPr>
            <a:spLocks xmlns:a="http://schemas.openxmlformats.org/drawingml/2006/main" noGrp="1"/>
          </p:cNvSpPr>
          <p:nvPr/>
        </p:nvSpPr>
        <p:spPr>
          <a:xfrm xmlns:a="http://schemas.openxmlformats.org/drawingml/2006/main">
            <a:off x="2194560" y="152704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education and product facts</a:t>
            </a:r>
            <a:endParaRPr sz="1400"/>
          </a:p>
        </p:txBody>
      </p:sp>
      <p:sp>
        <p:nvSpPr>
          <p:cNvPr id="6" name="tier-rule-0">
            <a:extLst xmlns:a="http://schemas.openxmlformats.org/drawingml/2006/main">
              <a:ext uri="{FF2B5EF4-FFF2-40B4-BE49-F238E27FC236}">
                <a16:creationId xmlns:a16="http://schemas.microsoft.com/office/drawing/2014/main" id="{859C2254-2093-49B8-941F-D70AA0A8AE3F}"/>
              </a:ext>
            </a:extLst>
          </p:cNvPr>
          <p:cNvSpPr>
            <a:spLocks xmlns:a="http://schemas.openxmlformats.org/drawingml/2006/main" noGrp="1"/>
          </p:cNvSpPr>
          <p:nvPr/>
        </p:nvSpPr>
        <p:spPr>
          <a:xfrm xmlns:a="http://schemas.openxmlformats.org/drawingml/2006/main">
            <a:off x="640080" y="219456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E6298AFD-21FE-4521-B09A-E65CBD030899}"/>
              </a:ext>
            </a:extLst>
          </p:cNvPr>
          <p:cNvSpPr>
            <a:spLocks xmlns:a="http://schemas.openxmlformats.org/drawingml/2006/main" noGrp="1"/>
          </p:cNvSpPr>
          <p:nvPr/>
        </p:nvSpPr>
        <p:spPr>
          <a:xfrm xmlns:a="http://schemas.openxmlformats.org/drawingml/2006/main">
            <a:off x="640080" y="230428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T1 Advise</a:t>
            </a:r>
            <a:endParaRPr sz="1500"/>
          </a:p>
        </p:txBody>
      </p:sp>
      <p:sp>
        <p:nvSpPr>
          <p:cNvPr id="8" name="Text 6">
            <a:extLst xmlns:a="http://schemas.openxmlformats.org/drawingml/2006/main">
              <a:ext uri="{FF2B5EF4-FFF2-40B4-BE49-F238E27FC236}">
                <a16:creationId xmlns:a16="http://schemas.microsoft.com/office/drawing/2014/main" id="{1F7288A5-FC70-4007-A819-750950504130}"/>
              </a:ext>
            </a:extLst>
          </p:cNvPr>
          <p:cNvSpPr>
            <a:spLocks xmlns:a="http://schemas.openxmlformats.org/drawingml/2006/main" noGrp="1"/>
          </p:cNvSpPr>
          <p:nvPr/>
        </p:nvSpPr>
        <p:spPr>
          <a:xfrm xmlns:a="http://schemas.openxmlformats.org/drawingml/2006/main">
            <a:off x="2194560" y="230428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the default: profile, portfolio, stress tests, goals</a:t>
            </a:r>
            <a:endParaRPr sz="1400"/>
          </a:p>
        </p:txBody>
      </p:sp>
      <p:sp>
        <p:nvSpPr>
          <p:cNvPr id="9" name="tier-rule-1">
            <a:extLst xmlns:a="http://schemas.openxmlformats.org/drawingml/2006/main">
              <a:ext uri="{FF2B5EF4-FFF2-40B4-BE49-F238E27FC236}">
                <a16:creationId xmlns:a16="http://schemas.microsoft.com/office/drawing/2014/main" id="{9A110213-9DFE-4C2A-83B1-C07624D9AFD5}"/>
              </a:ext>
            </a:extLst>
          </p:cNvPr>
          <p:cNvSpPr>
            <a:spLocks xmlns:a="http://schemas.openxmlformats.org/drawingml/2006/main" noGrp="1"/>
          </p:cNvSpPr>
          <p:nvPr/>
        </p:nvSpPr>
        <p:spPr>
          <a:xfrm xmlns:a="http://schemas.openxmlformats.org/drawingml/2006/main">
            <a:off x="640080" y="297180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0" name="Text 8">
            <a:extLst xmlns:a="http://schemas.openxmlformats.org/drawingml/2006/main">
              <a:ext uri="{FF2B5EF4-FFF2-40B4-BE49-F238E27FC236}">
                <a16:creationId xmlns:a16="http://schemas.microsoft.com/office/drawing/2014/main" id="{58579AF8-45A7-4C47-AAAE-8DF5C507B41F}"/>
              </a:ext>
            </a:extLst>
          </p:cNvPr>
          <p:cNvSpPr>
            <a:spLocks xmlns:a="http://schemas.openxmlformats.org/drawingml/2006/main" noGrp="1"/>
          </p:cNvSpPr>
          <p:nvPr/>
        </p:nvSpPr>
        <p:spPr>
          <a:xfrm xmlns:a="http://schemas.openxmlformats.org/drawingml/2006/main">
            <a:off x="640080" y="308152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T2 Propose</a:t>
            </a:r>
            <a:endParaRPr sz="1500"/>
          </a:p>
        </p:txBody>
      </p:sp>
      <p:sp>
        <p:nvSpPr>
          <p:cNvPr id="11" name="Text 9">
            <a:extLst xmlns:a="http://schemas.openxmlformats.org/drawingml/2006/main">
              <a:ext uri="{FF2B5EF4-FFF2-40B4-BE49-F238E27FC236}">
                <a16:creationId xmlns:a16="http://schemas.microsoft.com/office/drawing/2014/main" id="{F550660B-F23C-4C50-8F9E-34C39944D07A}"/>
              </a:ext>
            </a:extLst>
          </p:cNvPr>
          <p:cNvSpPr>
            <a:spLocks xmlns:a="http://schemas.openxmlformats.org/drawingml/2006/main" noGrp="1"/>
          </p:cNvSpPr>
          <p:nvPr/>
        </p:nvSpPr>
        <p:spPr>
          <a:xfrm xmlns:a="http://schemas.openxmlformats.org/drawingml/2006/main">
            <a:off x="2194560" y="308152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draft orders after pre-trade checks</a:t>
            </a:r>
            <a:endParaRPr sz="1400"/>
          </a:p>
        </p:txBody>
      </p:sp>
      <p:sp>
        <p:nvSpPr>
          <p:cNvPr id="12" name="tier-rule-2">
            <a:extLst xmlns:a="http://schemas.openxmlformats.org/drawingml/2006/main">
              <a:ext uri="{FF2B5EF4-FFF2-40B4-BE49-F238E27FC236}">
                <a16:creationId xmlns:a16="http://schemas.microsoft.com/office/drawing/2014/main" id="{459782E7-2647-4BD9-A62B-2A9AF39337D0}"/>
              </a:ext>
            </a:extLst>
          </p:cNvPr>
          <p:cNvSpPr>
            <a:spLocks xmlns:a="http://schemas.openxmlformats.org/drawingml/2006/main" noGrp="1"/>
          </p:cNvSpPr>
          <p:nvPr/>
        </p:nvSpPr>
        <p:spPr>
          <a:xfrm xmlns:a="http://schemas.openxmlformats.org/drawingml/2006/main">
            <a:off x="640080" y="374904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3" name="Text 11">
            <a:extLst xmlns:a="http://schemas.openxmlformats.org/drawingml/2006/main">
              <a:ext uri="{FF2B5EF4-FFF2-40B4-BE49-F238E27FC236}">
                <a16:creationId xmlns:a16="http://schemas.microsoft.com/office/drawing/2014/main" id="{0793047B-C43C-44B5-983E-A672E753F527}"/>
              </a:ext>
            </a:extLst>
          </p:cNvPr>
          <p:cNvSpPr>
            <a:spLocks xmlns:a="http://schemas.openxmlformats.org/drawingml/2006/main" noGrp="1"/>
          </p:cNvSpPr>
          <p:nvPr/>
        </p:nvSpPr>
        <p:spPr>
          <a:xfrm xmlns:a="http://schemas.openxmlformats.org/drawingml/2006/main">
            <a:off x="640080" y="385876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accent2"/>
                </a:solidFill>
                <a:latin typeface="Arial"/>
                <a:ea typeface="Arial"/>
                <a:cs typeface="Arial"/>
              </a:rPr>
              <a:t>T3 Execute</a:t>
            </a:r>
            <a:endParaRPr sz="1500"/>
          </a:p>
        </p:txBody>
      </p:sp>
      <p:sp>
        <p:nvSpPr>
          <p:cNvPr id="14" name="Text 12">
            <a:extLst xmlns:a="http://schemas.openxmlformats.org/drawingml/2006/main">
              <a:ext uri="{FF2B5EF4-FFF2-40B4-BE49-F238E27FC236}">
                <a16:creationId xmlns:a16="http://schemas.microsoft.com/office/drawing/2014/main" id="{CA589EEC-42CF-436D-85F7-1E825268DA8A}"/>
              </a:ext>
            </a:extLst>
          </p:cNvPr>
          <p:cNvSpPr>
            <a:spLocks xmlns:a="http://schemas.openxmlformats.org/drawingml/2006/main" noGrp="1"/>
          </p:cNvSpPr>
          <p:nvPr/>
        </p:nvSpPr>
        <p:spPr>
          <a:xfrm xmlns:a="http://schemas.openxmlformats.org/drawingml/2006/main">
            <a:off x="2194560" y="385876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2"/>
                </a:solidFill>
                <a:latin typeface="Arial"/>
                <a:ea typeface="Arial"/>
                <a:cs typeface="Arial"/>
              </a:rPr>
              <a:t>only with the client's one-time token</a:t>
            </a:r>
            <a:endParaRPr sz="1400"/>
          </a:p>
        </p:txBody>
      </p:sp>
      <p:sp>
        <p:nvSpPr>
          <p:cNvPr id="15" name="tier-rule-3">
            <a:extLst xmlns:a="http://schemas.openxmlformats.org/drawingml/2006/main">
              <a:ext uri="{FF2B5EF4-FFF2-40B4-BE49-F238E27FC236}">
                <a16:creationId xmlns:a16="http://schemas.microsoft.com/office/drawing/2014/main" id="{7844DEE3-35DF-4F44-A019-CC0BB6DF2F54}"/>
              </a:ext>
            </a:extLst>
          </p:cNvPr>
          <p:cNvSpPr>
            <a:spLocks xmlns:a="http://schemas.openxmlformats.org/drawingml/2006/main" noGrp="1"/>
          </p:cNvSpPr>
          <p:nvPr/>
        </p:nvSpPr>
        <p:spPr>
          <a:xfrm xmlns:a="http://schemas.openxmlformats.org/drawingml/2006/main">
            <a:off x="640080" y="452628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07571BB9-A028-475A-802E-E7198FF19256}"/>
              </a:ext>
            </a:extLst>
          </p:cNvPr>
          <p:cNvSpPr>
            <a:spLocks xmlns:a="http://schemas.openxmlformats.org/drawingml/2006/main" noGrp="1"/>
          </p:cNvSpPr>
          <p:nvPr/>
        </p:nvSpPr>
        <p:spPr>
          <a:xfrm xmlns:a="http://schemas.openxmlformats.org/drawingml/2006/main">
            <a:off x="640080" y="4709160"/>
            <a:ext cx="530352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Trading needs a signed risk disclosure, a 1.5-second hold and a 5-second undo window. Tokens are hashed, bound to the exact order, single use and expire in five minutes. A kill switch caps every session at T1. Personal data is masked before any model call.</a:t>
            </a:r>
            <a:endParaRPr sz="1300"/>
          </a:p>
        </p:txBody>
      </p:sp>
      <p:sp>
        <p:nvSpPr>
          <p:cNvPr id="17" name="security-divider">
            <a:extLst xmlns:a="http://schemas.openxmlformats.org/drawingml/2006/main">
              <a:ext uri="{FF2B5EF4-FFF2-40B4-BE49-F238E27FC236}">
                <a16:creationId xmlns:a16="http://schemas.microsoft.com/office/drawing/2014/main" id="{AEC13B91-977C-4D46-98C4-7E48805CCDE3}"/>
              </a:ext>
            </a:extLst>
          </p:cNvPr>
          <p:cNvSpPr>
            <a:spLocks xmlns:a="http://schemas.openxmlformats.org/drawingml/2006/main" noGrp="1"/>
          </p:cNvSpPr>
          <p:nvPr/>
        </p:nvSpPr>
        <p:spPr>
          <a:xfrm xmlns:a="http://schemas.openxmlformats.org/drawingml/2006/main">
            <a:off x="6355080" y="1417320"/>
            <a:ext cx="0" cy="4572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8" name="Text 16">
            <a:extLst xmlns:a="http://schemas.openxmlformats.org/drawingml/2006/main">
              <a:ext uri="{FF2B5EF4-FFF2-40B4-BE49-F238E27FC236}">
                <a16:creationId xmlns:a16="http://schemas.microsoft.com/office/drawing/2014/main" id="{6A658C6A-6F5E-4572-80C2-9A853289CFA9}"/>
              </a:ext>
            </a:extLst>
          </p:cNvPr>
          <p:cNvSpPr>
            <a:spLocks xmlns:a="http://schemas.openxmlformats.org/drawingml/2006/main" noGrp="1"/>
          </p:cNvSpPr>
          <p:nvPr/>
        </p:nvSpPr>
        <p:spPr>
          <a:xfrm xmlns:a="http://schemas.openxmlformats.org/drawingml/2006/main">
            <a:off x="6675120" y="1325880"/>
            <a:ext cx="48764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6400" b="1">
                <a:solidFill>
                  <a:schemeClr val="accent1"/>
                </a:solidFill>
                <a:latin typeface="Arial"/>
                <a:ea typeface="Arial"/>
                <a:cs typeface="Arial"/>
              </a:rPr>
              <a:t>57 / 57</a:t>
            </a:r>
            <a:endParaRPr sz="6400"/>
          </a:p>
        </p:txBody>
      </p:sp>
      <p:sp>
        <p:nvSpPr>
          <p:cNvPr id="19" name="Text 17">
            <a:extLst xmlns:a="http://schemas.openxmlformats.org/drawingml/2006/main">
              <a:ext uri="{FF2B5EF4-FFF2-40B4-BE49-F238E27FC236}">
                <a16:creationId xmlns:a16="http://schemas.microsoft.com/office/drawing/2014/main" id="{EFB197EB-0CF6-4529-A3D6-7CFB28B90869}"/>
              </a:ext>
            </a:extLst>
          </p:cNvPr>
          <p:cNvSpPr>
            <a:spLocks xmlns:a="http://schemas.openxmlformats.org/drawingml/2006/main" noGrp="1"/>
          </p:cNvSpPr>
          <p:nvPr/>
        </p:nvSpPr>
        <p:spPr>
          <a:xfrm xmlns:a="http://schemas.openxmlformats.org/drawingml/2006/main">
            <a:off x="6675120" y="2377440"/>
            <a:ext cx="487649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1"/>
                </a:solidFill>
                <a:latin typeface="Arial"/>
                <a:ea typeface="Arial"/>
                <a:cs typeface="Arial"/>
              </a:rPr>
              <a:t>red-team attacks stopped, and 8 / 8 harmless requests still answered normally</a:t>
            </a:r>
            <a:endParaRPr sz="1500"/>
          </a:p>
        </p:txBody>
      </p:sp>
      <p:sp>
        <p:nvSpPr>
          <p:cNvPr id="20" name="Text 18">
            <a:extLst xmlns:a="http://schemas.openxmlformats.org/drawingml/2006/main">
              <a:ext uri="{FF2B5EF4-FFF2-40B4-BE49-F238E27FC236}">
                <a16:creationId xmlns:a16="http://schemas.microsoft.com/office/drawing/2014/main" id="{D2683414-D80E-48A5-B0B2-B45A9B00489D}"/>
              </a:ext>
            </a:extLst>
          </p:cNvPr>
          <p:cNvSpPr>
            <a:spLocks xmlns:a="http://schemas.openxmlformats.org/drawingml/2006/main" noGrp="1"/>
          </p:cNvSpPr>
          <p:nvPr/>
        </p:nvSpPr>
        <p:spPr>
          <a:xfrm xmlns:a="http://schemas.openxmlformats.org/drawingml/2006/main">
            <a:off x="6675120" y="3108960"/>
            <a:ext cx="4876495"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Char char="•"/>
            </a:pPr>
            <a:r>
              <a:rPr sz="1250">
                <a:solidFill>
                  <a:schemeClr val="accent5"/>
                </a:solidFill>
                <a:latin typeface="Arial"/>
                <a:ea typeface="Arial"/>
                <a:cs typeface="Arial"/>
              </a:rPr>
              <a:t>Prompt injection (10)</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Injection in Chinese, Russian, Uzbek, Spanish (5)</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Obfuscated: base64, leetspeak, acrostic (4)</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Role-play jailbreaks (3)</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Injection hidden in fund data (5)</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Personal data leaks (10)</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Unsafe claims and invented numbers (6)</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Suitability bypass (4)</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Execution without consent (6)</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Audit tampering and abuse (4)</a:t>
            </a:r>
            <a:endParaRPr sz="1250"/>
          </a:p>
        </p:txBody>
      </p:sp>
      <p:sp>
        <p:nvSpPr>
          <p:cNvPr id="25" name="Slide Number Placeholder 0">
            <a:extLst xmlns:a="http://schemas.openxmlformats.org/drawingml/2006/main">
              <a:ext uri="{FF2B5EF4-FFF2-40B4-BE49-F238E27FC236}">
                <a16:creationId xmlns:a16="http://schemas.microsoft.com/office/drawing/2014/main" id="{70E0406B-B9D9-4357-82EB-3001C1F17ED5}"/>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2374846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FECBEC92-B472-4BA6-ABA1-0ABDA796EFA2}"/>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Measured, not claimed</a:t>
            </a:r>
            <a:endParaRPr sz="3000"/>
          </a:p>
        </p:txBody>
      </p:sp>
      <p:sp>
        <p:nvSpPr>
          <p:cNvPr id="3" name="stats-top">
            <a:extLst xmlns:a="http://schemas.openxmlformats.org/drawingml/2006/main">
              <a:ext uri="{FF2B5EF4-FFF2-40B4-BE49-F238E27FC236}">
                <a16:creationId xmlns:a16="http://schemas.microsoft.com/office/drawing/2014/main" id="{1ACB0D4D-C800-4775-A8CE-51FBE47A785C}"/>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2BC84826-2E00-48AD-8732-06F3419986B7}"/>
              </a:ext>
            </a:extLst>
          </p:cNvPr>
          <p:cNvSpPr>
            <a:spLocks xmlns:a="http://schemas.openxmlformats.org/drawingml/2006/main" noGrp="1"/>
          </p:cNvSpPr>
          <p:nvPr/>
        </p:nvSpPr>
        <p:spPr>
          <a:xfrm xmlns:a="http://schemas.openxmlformats.org/drawingml/2006/main">
            <a:off x="640080"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30 / 30</a:t>
            </a:r>
            <a:endParaRPr sz="4000"/>
          </a:p>
        </p:txBody>
      </p:sp>
      <p:sp>
        <p:nvSpPr>
          <p:cNvPr id="5" name="Text 3">
            <a:extLst xmlns:a="http://schemas.openxmlformats.org/drawingml/2006/main">
              <a:ext uri="{FF2B5EF4-FFF2-40B4-BE49-F238E27FC236}">
                <a16:creationId xmlns:a16="http://schemas.microsoft.com/office/drawing/2014/main" id="{BB73B57D-98CF-4A76-BAAB-2AE427F4E104}"/>
              </a:ext>
            </a:extLst>
          </p:cNvPr>
          <p:cNvSpPr>
            <a:spLocks xmlns:a="http://schemas.openxmlformats.org/drawingml/2006/main" noGrp="1"/>
          </p:cNvSpPr>
          <p:nvPr/>
        </p:nvSpPr>
        <p:spPr>
          <a:xfrm xmlns:a="http://schemas.openxmlformats.org/drawingml/2006/main">
            <a:off x="640080"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client journeys completed end to end on a live model: 30 scripted clients across C1 to C5, one in five in Chinese</a:t>
            </a:r>
            <a:endParaRPr sz="1250"/>
          </a:p>
        </p:txBody>
      </p:sp>
      <p:sp>
        <p:nvSpPr>
          <p:cNvPr id="6" name="stat-divider-1">
            <a:extLst xmlns:a="http://schemas.openxmlformats.org/drawingml/2006/main">
              <a:ext uri="{FF2B5EF4-FFF2-40B4-BE49-F238E27FC236}">
                <a16:creationId xmlns:a16="http://schemas.microsoft.com/office/drawing/2014/main" id="{34029D68-97B1-4425-8FBF-D310C58C7F35}"/>
              </a:ext>
            </a:extLst>
          </p:cNvPr>
          <p:cNvSpPr>
            <a:spLocks xmlns:a="http://schemas.openxmlformats.org/drawingml/2006/main" noGrp="1"/>
          </p:cNvSpPr>
          <p:nvPr/>
        </p:nvSpPr>
        <p:spPr>
          <a:xfrm xmlns:a="http://schemas.openxmlformats.org/drawingml/2006/main">
            <a:off x="3367964"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68BC268B-1F74-4711-AB23-183D5A8504D3}"/>
              </a:ext>
            </a:extLst>
          </p:cNvPr>
          <p:cNvSpPr>
            <a:spLocks xmlns:a="http://schemas.openxmlformats.org/drawingml/2006/main" noGrp="1"/>
          </p:cNvSpPr>
          <p:nvPr/>
        </p:nvSpPr>
        <p:spPr>
          <a:xfrm xmlns:a="http://schemas.openxmlformats.org/drawingml/2006/main">
            <a:off x="3642284"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57 / 57</a:t>
            </a:r>
            <a:endParaRPr sz="4000"/>
          </a:p>
        </p:txBody>
      </p:sp>
      <p:sp>
        <p:nvSpPr>
          <p:cNvPr id="8" name="Text 6">
            <a:extLst xmlns:a="http://schemas.openxmlformats.org/drawingml/2006/main">
              <a:ext uri="{FF2B5EF4-FFF2-40B4-BE49-F238E27FC236}">
                <a16:creationId xmlns:a16="http://schemas.microsoft.com/office/drawing/2014/main" id="{891A36D4-D94F-446F-A0F0-579CA74FEB42}"/>
              </a:ext>
            </a:extLst>
          </p:cNvPr>
          <p:cNvSpPr>
            <a:spLocks xmlns:a="http://schemas.openxmlformats.org/drawingml/2006/main" noGrp="1"/>
          </p:cNvSpPr>
          <p:nvPr/>
        </p:nvSpPr>
        <p:spPr>
          <a:xfrm xmlns:a="http://schemas.openxmlformats.org/drawingml/2006/main">
            <a:off x="3642284"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red-team attacks stopped across 12 categories, with no harmless request refused</a:t>
            </a:r>
            <a:endParaRPr sz="1250"/>
          </a:p>
        </p:txBody>
      </p:sp>
      <p:sp>
        <p:nvSpPr>
          <p:cNvPr id="9" name="stat-divider-2">
            <a:extLst xmlns:a="http://schemas.openxmlformats.org/drawingml/2006/main">
              <a:ext uri="{FF2B5EF4-FFF2-40B4-BE49-F238E27FC236}">
                <a16:creationId xmlns:a16="http://schemas.microsoft.com/office/drawing/2014/main" id="{D7663C27-05E1-42CD-AAF9-4DE04E2AC0C5}"/>
              </a:ext>
            </a:extLst>
          </p:cNvPr>
          <p:cNvSpPr>
            <a:spLocks xmlns:a="http://schemas.openxmlformats.org/drawingml/2006/main" noGrp="1"/>
          </p:cNvSpPr>
          <p:nvPr/>
        </p:nvSpPr>
        <p:spPr>
          <a:xfrm xmlns:a="http://schemas.openxmlformats.org/drawingml/2006/main">
            <a:off x="6095848"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0" name="Text 8">
            <a:extLst xmlns:a="http://schemas.openxmlformats.org/drawingml/2006/main">
              <a:ext uri="{FF2B5EF4-FFF2-40B4-BE49-F238E27FC236}">
                <a16:creationId xmlns:a16="http://schemas.microsoft.com/office/drawing/2014/main" id="{89836D2B-308B-4582-88F9-9DD950375460}"/>
              </a:ext>
            </a:extLst>
          </p:cNvPr>
          <p:cNvSpPr>
            <a:spLocks xmlns:a="http://schemas.openxmlformats.org/drawingml/2006/main" noGrp="1"/>
          </p:cNvSpPr>
          <p:nvPr/>
        </p:nvSpPr>
        <p:spPr>
          <a:xfrm xmlns:a="http://schemas.openxmlformats.org/drawingml/2006/main">
            <a:off x="6370168"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156</a:t>
            </a:r>
            <a:endParaRPr sz="4000"/>
          </a:p>
        </p:txBody>
      </p:sp>
      <p:sp>
        <p:nvSpPr>
          <p:cNvPr id="11" name="Text 9">
            <a:extLst xmlns:a="http://schemas.openxmlformats.org/drawingml/2006/main">
              <a:ext uri="{FF2B5EF4-FFF2-40B4-BE49-F238E27FC236}">
                <a16:creationId xmlns:a16="http://schemas.microsoft.com/office/drawing/2014/main" id="{CBA0384A-B086-4365-847E-034A6F53592D}"/>
              </a:ext>
            </a:extLst>
          </p:cNvPr>
          <p:cNvSpPr>
            <a:spLocks xmlns:a="http://schemas.openxmlformats.org/drawingml/2006/main" noGrp="1"/>
          </p:cNvSpPr>
          <p:nvPr/>
        </p:nvSpPr>
        <p:spPr>
          <a:xfrm xmlns:a="http://schemas.openxmlformats.org/drawingml/2006/main">
            <a:off x="6370168"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automated tests, run offline in CI; a FISCO BCOS round trip runs when the chain is up</a:t>
            </a:r>
            <a:endParaRPr sz="1250"/>
          </a:p>
        </p:txBody>
      </p:sp>
      <p:sp>
        <p:nvSpPr>
          <p:cNvPr id="12" name="stat-divider-3">
            <a:extLst xmlns:a="http://schemas.openxmlformats.org/drawingml/2006/main">
              <a:ext uri="{FF2B5EF4-FFF2-40B4-BE49-F238E27FC236}">
                <a16:creationId xmlns:a16="http://schemas.microsoft.com/office/drawing/2014/main" id="{FF87BDBE-484D-4D2C-BC95-D8DAB12B8E45}"/>
              </a:ext>
            </a:extLst>
          </p:cNvPr>
          <p:cNvSpPr>
            <a:spLocks xmlns:a="http://schemas.openxmlformats.org/drawingml/2006/main" noGrp="1"/>
          </p:cNvSpPr>
          <p:nvPr/>
        </p:nvSpPr>
        <p:spPr>
          <a:xfrm xmlns:a="http://schemas.openxmlformats.org/drawingml/2006/main">
            <a:off x="8823731"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3" name="Text 11">
            <a:extLst xmlns:a="http://schemas.openxmlformats.org/drawingml/2006/main">
              <a:ext uri="{FF2B5EF4-FFF2-40B4-BE49-F238E27FC236}">
                <a16:creationId xmlns:a16="http://schemas.microsoft.com/office/drawing/2014/main" id="{A4C3DBF7-9E1F-4F9C-80F2-0FBAB1688ACF}"/>
              </a:ext>
            </a:extLst>
          </p:cNvPr>
          <p:cNvSpPr>
            <a:spLocks xmlns:a="http://schemas.openxmlformats.org/drawingml/2006/main" noGrp="1"/>
          </p:cNvSpPr>
          <p:nvPr/>
        </p:nvSpPr>
        <p:spPr>
          <a:xfrm xmlns:a="http://schemas.openxmlformats.org/drawingml/2006/main">
            <a:off x="9098051"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5 / 5</a:t>
            </a:r>
            <a:endParaRPr sz="4000"/>
          </a:p>
        </p:txBody>
      </p:sp>
      <p:sp>
        <p:nvSpPr>
          <p:cNvPr id="14" name="Text 12">
            <a:extLst xmlns:a="http://schemas.openxmlformats.org/drawingml/2006/main">
              <a:ext uri="{FF2B5EF4-FFF2-40B4-BE49-F238E27FC236}">
                <a16:creationId xmlns:a16="http://schemas.microsoft.com/office/drawing/2014/main" id="{69A63998-F1EF-4007-8569-2281CDC8C111}"/>
              </a:ext>
            </a:extLst>
          </p:cNvPr>
          <p:cNvSpPr>
            <a:spLocks xmlns:a="http://schemas.openxmlformats.org/drawingml/2006/main" noGrp="1"/>
          </p:cNvSpPr>
          <p:nvPr/>
        </p:nvSpPr>
        <p:spPr>
          <a:xfrm xmlns:a="http://schemas.openxmlformats.org/drawingml/2006/main">
            <a:off x="9098051"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risk classes stayed inside their volatility band from 2008 to 2026</a:t>
            </a:r>
            <a:endParaRPr sz="1250"/>
          </a:p>
        </p:txBody>
      </p:sp>
      <p:sp>
        <p:nvSpPr>
          <p:cNvPr id="15" name="stats-bottom">
            <a:extLst xmlns:a="http://schemas.openxmlformats.org/drawingml/2006/main">
              <a:ext uri="{FF2B5EF4-FFF2-40B4-BE49-F238E27FC236}">
                <a16:creationId xmlns:a16="http://schemas.microsoft.com/office/drawing/2014/main" id="{1164ED32-E8F8-4361-AC4F-DDE1E9B2E9EE}"/>
              </a:ext>
            </a:extLst>
          </p:cNvPr>
          <p:cNvSpPr>
            <a:spLocks xmlns:a="http://schemas.openxmlformats.org/drawingml/2006/main" noGrp="1"/>
          </p:cNvSpPr>
          <p:nvPr/>
        </p:nvSpPr>
        <p:spPr>
          <a:xfrm xmlns:a="http://schemas.openxmlformats.org/drawingml/2006/main">
            <a:off x="640080" y="374904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B653F525-A75D-442D-8B88-8C3044265F56}"/>
              </a:ext>
            </a:extLst>
          </p:cNvPr>
          <p:cNvSpPr>
            <a:spLocks xmlns:a="http://schemas.openxmlformats.org/drawingml/2006/main" noGrp="1"/>
          </p:cNvSpPr>
          <p:nvPr/>
        </p:nvSpPr>
        <p:spPr>
          <a:xfrm xmlns:a="http://schemas.openxmlformats.org/drawingml/2006/main">
            <a:off x="640080" y="4069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accent2"/>
                </a:solidFill>
                <a:latin typeface="Arial"/>
                <a:ea typeface="Arial"/>
                <a:cs typeface="Arial"/>
              </a:rPr>
              <a:t>What the backtest taught us</a:t>
            </a:r>
            <a:endParaRPr sz="1500"/>
          </a:p>
        </p:txBody>
      </p:sp>
      <p:sp>
        <p:nvSpPr>
          <p:cNvPr id="17" name="Text 15">
            <a:extLst xmlns:a="http://schemas.openxmlformats.org/drawingml/2006/main">
              <a:ext uri="{FF2B5EF4-FFF2-40B4-BE49-F238E27FC236}">
                <a16:creationId xmlns:a16="http://schemas.microsoft.com/office/drawing/2014/main" id="{E2BF7524-24D3-4954-B6AD-C0785CAB7FAE}"/>
              </a:ext>
            </a:extLst>
          </p:cNvPr>
          <p:cNvSpPr>
            <a:spLocks xmlns:a="http://schemas.openxmlformats.org/drawingml/2006/main" noGrp="1"/>
          </p:cNvSpPr>
          <p:nvPr/>
        </p:nvSpPr>
        <p:spPr>
          <a:xfrm xmlns:a="http://schemas.openxmlformats.org/drawingml/2006/main">
            <a:off x="640080" y="4480560"/>
            <a:ext cx="9997135"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chemeClr val="tx1"/>
                </a:solidFill>
                <a:latin typeface="Arial"/>
                <a:ea typeface="Arial"/>
                <a:cs typeface="Arial"/>
              </a:rPr>
              <a:t>Every class kept its volatility target for 18 years, yet every class fell further than that number suggests: C5 lost 34% in 2008. A volatility figure does not tell a client what 2008 feels like. That is why Keel enforces the client's own loss limit and has them rehearse the crash.</a:t>
            </a:r>
            <a:endParaRPr sz="1700"/>
          </a:p>
        </p:txBody>
      </p:sp>
      <p:sp>
        <p:nvSpPr>
          <p:cNvPr id="25" name="Slide Number Placeholder 0">
            <a:extLst xmlns:a="http://schemas.openxmlformats.org/drawingml/2006/main">
              <a:ext uri="{FF2B5EF4-FFF2-40B4-BE49-F238E27FC236}">
                <a16:creationId xmlns:a16="http://schemas.microsoft.com/office/drawing/2014/main" id="{D19A1347-F4E8-4DB0-B466-105874D41656}"/>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2035497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9BC98064-39E5-46CF-8A29-FF887C3B6F35}"/>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Architecture</a:t>
            </a:r>
            <a:endParaRPr sz="3000"/>
          </a:p>
        </p:txBody>
      </p:sp>
      <p:pic>
        <p:nvPicPr>
          <p:cNvPr id="3" name="architecture">
            <a:extLst xmlns:a="http://schemas.openxmlformats.org/drawingml/2006/main">
              <a:ext uri="{FF2B5EF4-FFF2-40B4-BE49-F238E27FC236}">
                <a16:creationId xmlns:a16="http://schemas.microsoft.com/office/drawing/2014/main" id="{40315B45-4263-4A6D-AD46-F21A074C7A8F}"/>
              </a:ext>
            </a:extLst>
          </p:cNvPr>
          <p:cNvPicPr>
            <a:picLocks xmlns:a="http://schemas.openxmlformats.org/drawingml/2006/main" noChangeAspect="1"/>
          </p:cNvPicPr>
          <p:nvPr/>
        </p:nvPicPr>
        <p:blipFill>
          <a:blip xmlns:r="http://schemas.openxmlformats.org/officeDocument/2006/relationships" xmlns:a="http://schemas.openxmlformats.org/drawingml/2006/main" r:embed="R3abfdf5d1765495a"/>
          <a:stretch xmlns:a="http://schemas.openxmlformats.org/drawingml/2006/main">
            <a:fillRect l="0" t="0" r="0" b="0"/>
          </a:stretch>
        </p:blipFill>
        <p:spPr>
          <a:xfrm xmlns:a="http://schemas.openxmlformats.org/drawingml/2006/main">
            <a:off x="640080" y="1325880"/>
            <a:ext cx="6766560" cy="4736592"/>
          </a:xfrm>
          <a:prstGeom xmlns:a="http://schemas.openxmlformats.org/drawingml/2006/main" prst="rect">
            <a:avLst/>
          </a:prstGeom>
        </p:spPr>
      </p:pic>
      <p:sp>
        <p:nvSpPr>
          <p:cNvPr id="4" name="arch-divider">
            <a:extLst xmlns:a="http://schemas.openxmlformats.org/drawingml/2006/main">
              <a:ext uri="{FF2B5EF4-FFF2-40B4-BE49-F238E27FC236}">
                <a16:creationId xmlns:a16="http://schemas.microsoft.com/office/drawing/2014/main" id="{951BAFA1-F286-4DEE-911F-9DD42D98D305}"/>
              </a:ext>
            </a:extLst>
          </p:cNvPr>
          <p:cNvSpPr>
            <a:spLocks xmlns:a="http://schemas.openxmlformats.org/drawingml/2006/main" noGrp="1"/>
          </p:cNvSpPr>
          <p:nvPr/>
        </p:nvSpPr>
        <p:spPr>
          <a:xfrm xmlns:a="http://schemas.openxmlformats.org/drawingml/2006/main">
            <a:off x="7635240" y="1417320"/>
            <a:ext cx="0" cy="4572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Text 2">
            <a:extLst xmlns:a="http://schemas.openxmlformats.org/drawingml/2006/main">
              <a:ext uri="{FF2B5EF4-FFF2-40B4-BE49-F238E27FC236}">
                <a16:creationId xmlns:a16="http://schemas.microsoft.com/office/drawing/2014/main" id="{70E48CEF-2F7C-43AD-8529-AD290B200E55}"/>
              </a:ext>
            </a:extLst>
          </p:cNvPr>
          <p:cNvSpPr>
            <a:spLocks xmlns:a="http://schemas.openxmlformats.org/drawingml/2006/main" noGrp="1"/>
          </p:cNvSpPr>
          <p:nvPr/>
        </p:nvSpPr>
        <p:spPr>
          <a:xfrm xmlns:a="http://schemas.openxmlformats.org/drawingml/2006/main">
            <a:off x="7863840" y="141732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The model is untrusted</a:t>
            </a:r>
            <a:endParaRPr sz="1500"/>
          </a:p>
        </p:txBody>
      </p:sp>
      <p:sp>
        <p:nvSpPr>
          <p:cNvPr id="6" name="Text 3">
            <a:extLst xmlns:a="http://schemas.openxmlformats.org/drawingml/2006/main">
              <a:ext uri="{FF2B5EF4-FFF2-40B4-BE49-F238E27FC236}">
                <a16:creationId xmlns:a16="http://schemas.microsoft.com/office/drawing/2014/main" id="{ECD7DB02-9AA5-4A8B-B40E-7FF09F44705A}"/>
              </a:ext>
            </a:extLst>
          </p:cNvPr>
          <p:cNvSpPr>
            <a:spLocks xmlns:a="http://schemas.openxmlformats.org/drawingml/2006/main" noGrp="1"/>
          </p:cNvSpPr>
          <p:nvPr/>
        </p:nvSpPr>
        <p:spPr>
          <a:xfrm xmlns:a="http://schemas.openxmlformats.org/drawingml/2006/main">
            <a:off x="7863840" y="178308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It can only talk and request tools. It never sees personal data and cannot reach the account.</a:t>
            </a:r>
            <a:endParaRPr sz="1300"/>
          </a:p>
        </p:txBody>
      </p:sp>
      <p:sp>
        <p:nvSpPr>
          <p:cNvPr id="7" name="arch-rule-1">
            <a:extLst xmlns:a="http://schemas.openxmlformats.org/drawingml/2006/main">
              <a:ext uri="{FF2B5EF4-FFF2-40B4-BE49-F238E27FC236}">
                <a16:creationId xmlns:a16="http://schemas.microsoft.com/office/drawing/2014/main" id="{5760367A-FCE0-4F57-B6AA-7D71D225B52B}"/>
              </a:ext>
            </a:extLst>
          </p:cNvPr>
          <p:cNvSpPr>
            <a:spLocks xmlns:a="http://schemas.openxmlformats.org/drawingml/2006/main" noGrp="1"/>
          </p:cNvSpPr>
          <p:nvPr/>
        </p:nvSpPr>
        <p:spPr>
          <a:xfrm xmlns:a="http://schemas.openxmlformats.org/drawingml/2006/main">
            <a:off x="7863840" y="2788920"/>
            <a:ext cx="368777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44743D1B-8882-4971-9C6B-1F74447E7044}"/>
              </a:ext>
            </a:extLst>
          </p:cNvPr>
          <p:cNvSpPr>
            <a:spLocks xmlns:a="http://schemas.openxmlformats.org/drawingml/2006/main" noGrp="1"/>
          </p:cNvSpPr>
          <p:nvPr/>
        </p:nvSpPr>
        <p:spPr>
          <a:xfrm xmlns:a="http://schemas.openxmlformats.org/drawingml/2006/main">
            <a:off x="7863840" y="292608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Versioned advice</a:t>
            </a:r>
            <a:endParaRPr sz="1500"/>
          </a:p>
        </p:txBody>
      </p:sp>
      <p:sp>
        <p:nvSpPr>
          <p:cNvPr id="9" name="Text 6">
            <a:extLst xmlns:a="http://schemas.openxmlformats.org/drawingml/2006/main">
              <a:ext uri="{FF2B5EF4-FFF2-40B4-BE49-F238E27FC236}">
                <a16:creationId xmlns:a16="http://schemas.microsoft.com/office/drawing/2014/main" id="{11AE410C-3960-44F5-9444-307F0F2E4B36}"/>
              </a:ext>
            </a:extLst>
          </p:cNvPr>
          <p:cNvSpPr>
            <a:spLocks xmlns:a="http://schemas.openxmlformats.org/drawingml/2006/main" noGrp="1"/>
          </p:cNvSpPr>
          <p:nvPr/>
        </p:nvSpPr>
        <p:spPr>
          <a:xfrm xmlns:a="http://schemas.openxmlformats.org/drawingml/2006/main">
            <a:off x="7863840" y="329184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Advice binds the profile, goal, catalog and calculation versions. Material changes make old advice stale.</a:t>
            </a:r>
            <a:endParaRPr sz="1300"/>
          </a:p>
        </p:txBody>
      </p:sp>
      <p:sp>
        <p:nvSpPr>
          <p:cNvPr id="10" name="arch-rule-2">
            <a:extLst xmlns:a="http://schemas.openxmlformats.org/drawingml/2006/main">
              <a:ext uri="{FF2B5EF4-FFF2-40B4-BE49-F238E27FC236}">
                <a16:creationId xmlns:a16="http://schemas.microsoft.com/office/drawing/2014/main" id="{3EBB5DA4-DFAF-40DC-BC3F-0E9D5924CCD5}"/>
              </a:ext>
            </a:extLst>
          </p:cNvPr>
          <p:cNvSpPr>
            <a:spLocks xmlns:a="http://schemas.openxmlformats.org/drawingml/2006/main" noGrp="1"/>
          </p:cNvSpPr>
          <p:nvPr/>
        </p:nvSpPr>
        <p:spPr>
          <a:xfrm xmlns:a="http://schemas.openxmlformats.org/drawingml/2006/main">
            <a:off x="7863840" y="4297680"/>
            <a:ext cx="368777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B1FDAF0B-CA4F-4DAC-9E0F-BDF0C956BE0F}"/>
              </a:ext>
            </a:extLst>
          </p:cNvPr>
          <p:cNvSpPr>
            <a:spLocks xmlns:a="http://schemas.openxmlformats.org/drawingml/2006/main" noGrp="1"/>
          </p:cNvSpPr>
          <p:nvPr/>
        </p:nvSpPr>
        <p:spPr>
          <a:xfrm xmlns:a="http://schemas.openxmlformats.org/drawingml/2006/main">
            <a:off x="7863840" y="443484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Stage-aware tools</a:t>
            </a:r>
            <a:endParaRPr sz="1500"/>
          </a:p>
        </p:txBody>
      </p:sp>
      <p:sp>
        <p:nvSpPr>
          <p:cNvPr id="12" name="Text 9">
            <a:extLst xmlns:a="http://schemas.openxmlformats.org/drawingml/2006/main">
              <a:ext uri="{FF2B5EF4-FFF2-40B4-BE49-F238E27FC236}">
                <a16:creationId xmlns:a16="http://schemas.microsoft.com/office/drawing/2014/main" id="{6F387AAA-60A4-43EF-B6A0-D7A77D4BA954}"/>
              </a:ext>
            </a:extLst>
          </p:cNvPr>
          <p:cNvSpPr>
            <a:spLocks xmlns:a="http://schemas.openxmlformats.org/drawingml/2006/main" noGrp="1"/>
          </p:cNvSpPr>
          <p:nvPr/>
        </p:nvSpPr>
        <p:spPr>
          <a:xfrm xmlns:a="http://schemas.openxmlformats.org/drawingml/2006/main">
            <a:off x="7863840" y="480060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Each stage exposes only valid tools, with at most eight model steps per turn. Offline tests need no API key.</a:t>
            </a:r>
            <a:endParaRPr sz="1300"/>
          </a:p>
        </p:txBody>
      </p:sp>
      <p:sp>
        <p:nvSpPr>
          <p:cNvPr id="25" name="Slide Number Placeholder 0">
            <a:extLst xmlns:a="http://schemas.openxmlformats.org/drawingml/2006/main">
              <a:ext uri="{FF2B5EF4-FFF2-40B4-BE49-F238E27FC236}">
                <a16:creationId xmlns:a16="http://schemas.microsoft.com/office/drawing/2014/main" id="{3BCCF2B8-DCD8-4844-A61E-354EC641D52C}"/>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204943793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36F1294C-FCBB-45BE-B5A0-C0A9C456B9D4}"/>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Built for a bank like WeBank</a:t>
            </a:r>
            <a:endParaRPr sz="3000"/>
          </a:p>
        </p:txBody>
      </p:sp>
      <p:sp>
        <p:nvSpPr>
          <p:cNvPr id="3" name="fit-top">
            <a:extLst xmlns:a="http://schemas.openxmlformats.org/drawingml/2006/main">
              <a:ext uri="{FF2B5EF4-FFF2-40B4-BE49-F238E27FC236}">
                <a16:creationId xmlns:a16="http://schemas.microsoft.com/office/drawing/2014/main" id="{5FB55D36-D690-4821-9914-F8A5C2816BDD}"/>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fit-middle">
            <a:extLst xmlns:a="http://schemas.openxmlformats.org/drawingml/2006/main">
              <a:ext uri="{FF2B5EF4-FFF2-40B4-BE49-F238E27FC236}">
                <a16:creationId xmlns:a16="http://schemas.microsoft.com/office/drawing/2014/main" id="{E066F0C1-9281-4351-890A-3D4DD4FD3C6C}"/>
              </a:ext>
            </a:extLst>
          </p:cNvPr>
          <p:cNvSpPr>
            <a:spLocks xmlns:a="http://schemas.openxmlformats.org/drawingml/2006/main" noGrp="1"/>
          </p:cNvSpPr>
          <p:nvPr/>
        </p:nvSpPr>
        <p:spPr>
          <a:xfrm xmlns:a="http://schemas.openxmlformats.org/drawingml/2006/main">
            <a:off x="640080" y="365760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fit-divider">
            <a:extLst xmlns:a="http://schemas.openxmlformats.org/drawingml/2006/main">
              <a:ext uri="{FF2B5EF4-FFF2-40B4-BE49-F238E27FC236}">
                <a16:creationId xmlns:a16="http://schemas.microsoft.com/office/drawing/2014/main" id="{FE8FAD8E-5393-4A26-B68A-D65C53593A56}"/>
              </a:ext>
            </a:extLst>
          </p:cNvPr>
          <p:cNvSpPr>
            <a:spLocks xmlns:a="http://schemas.openxmlformats.org/drawingml/2006/main" noGrp="1"/>
          </p:cNvSpPr>
          <p:nvPr/>
        </p:nvSpPr>
        <p:spPr>
          <a:xfrm xmlns:a="http://schemas.openxmlformats.org/drawingml/2006/main">
            <a:off x="6095848" y="1417320"/>
            <a:ext cx="0" cy="448056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6" name="Text 4">
            <a:extLst xmlns:a="http://schemas.openxmlformats.org/drawingml/2006/main">
              <a:ext uri="{FF2B5EF4-FFF2-40B4-BE49-F238E27FC236}">
                <a16:creationId xmlns:a16="http://schemas.microsoft.com/office/drawing/2014/main" id="{78B43AA9-3CC2-4AAA-9C7A-05448CDE63F0}"/>
              </a:ext>
            </a:extLst>
          </p:cNvPr>
          <p:cNvSpPr>
            <a:spLocks xmlns:a="http://schemas.openxmlformats.org/drawingml/2006/main" noGrp="1"/>
          </p:cNvSpPr>
          <p:nvPr/>
        </p:nvSpPr>
        <p:spPr>
          <a:xfrm xmlns:a="http://schemas.openxmlformats.org/drawingml/2006/main">
            <a:off x="640080" y="164592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FISCO BCOS</a:t>
            </a:r>
            <a:endParaRPr sz="1800"/>
          </a:p>
        </p:txBody>
      </p:sp>
      <p:sp>
        <p:nvSpPr>
          <p:cNvPr id="7" name="Text 5">
            <a:extLst xmlns:a="http://schemas.openxmlformats.org/drawingml/2006/main">
              <a:ext uri="{FF2B5EF4-FFF2-40B4-BE49-F238E27FC236}">
                <a16:creationId xmlns:a16="http://schemas.microsoft.com/office/drawing/2014/main" id="{0FB38C3E-A169-4CE5-8A3C-A95B401850AB}"/>
              </a:ext>
            </a:extLst>
          </p:cNvPr>
          <p:cNvSpPr>
            <a:spLocks xmlns:a="http://schemas.openxmlformats.org/drawingml/2006/main" noGrp="1"/>
          </p:cNvSpPr>
          <p:nvPr/>
        </p:nvSpPr>
        <p:spPr>
          <a:xfrm xmlns:a="http://schemas.openxmlformats.org/drawingml/2006/main">
            <a:off x="4632808" y="164592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8" name="Text 6">
            <a:extLst xmlns:a="http://schemas.openxmlformats.org/drawingml/2006/main">
              <a:ext uri="{FF2B5EF4-FFF2-40B4-BE49-F238E27FC236}">
                <a16:creationId xmlns:a16="http://schemas.microsoft.com/office/drawing/2014/main" id="{477B4ECE-ED7E-4411-A46D-949802CAA3F4}"/>
              </a:ext>
            </a:extLst>
          </p:cNvPr>
          <p:cNvSpPr>
            <a:spLocks xmlns:a="http://schemas.openxmlformats.org/drawingml/2006/main" noGrp="1"/>
          </p:cNvSpPr>
          <p:nvPr/>
        </p:nvSpPr>
        <p:spPr>
          <a:xfrm xmlns:a="http://schemas.openxmlformats.org/drawingml/2006/main">
            <a:off x="640080" y="214884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Advisory records anchored on WeBank's consortium chain. In production the nodes would be run by the bank, an auditor and the regulator.</a:t>
            </a:r>
            <a:endParaRPr sz="1400"/>
          </a:p>
        </p:txBody>
      </p:sp>
      <p:sp>
        <p:nvSpPr>
          <p:cNvPr id="9" name="Text 7">
            <a:extLst xmlns:a="http://schemas.openxmlformats.org/drawingml/2006/main">
              <a:ext uri="{FF2B5EF4-FFF2-40B4-BE49-F238E27FC236}">
                <a16:creationId xmlns:a16="http://schemas.microsoft.com/office/drawing/2014/main" id="{C48D19B7-549E-4E43-82EF-12E88ED97B2E}"/>
              </a:ext>
            </a:extLst>
          </p:cNvPr>
          <p:cNvSpPr>
            <a:spLocks xmlns:a="http://schemas.openxmlformats.org/drawingml/2006/main" noGrp="1"/>
          </p:cNvSpPr>
          <p:nvPr/>
        </p:nvSpPr>
        <p:spPr>
          <a:xfrm xmlns:a="http://schemas.openxmlformats.org/drawingml/2006/main">
            <a:off x="6461608" y="164592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FATE federated learning</a:t>
            </a:r>
            <a:endParaRPr sz="1800"/>
          </a:p>
        </p:txBody>
      </p:sp>
      <p:sp>
        <p:nvSpPr>
          <p:cNvPr id="10" name="Text 8">
            <a:extLst xmlns:a="http://schemas.openxmlformats.org/drawingml/2006/main">
              <a:ext uri="{FF2B5EF4-FFF2-40B4-BE49-F238E27FC236}">
                <a16:creationId xmlns:a16="http://schemas.microsoft.com/office/drawing/2014/main" id="{62C5850C-C934-4910-946F-59288717BD4D}"/>
              </a:ext>
            </a:extLst>
          </p:cNvPr>
          <p:cNvSpPr>
            <a:spLocks xmlns:a="http://schemas.openxmlformats.org/drawingml/2006/main" noGrp="1"/>
          </p:cNvSpPr>
          <p:nvPr/>
        </p:nvSpPr>
        <p:spPr>
          <a:xfrm xmlns:a="http://schemas.openxmlformats.org/drawingml/2006/main">
            <a:off x="10454335" y="164592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2"/>
                </a:solidFill>
                <a:latin typeface="Arial"/>
                <a:ea typeface="Arial"/>
                <a:cs typeface="Arial"/>
              </a:rPr>
              <a:t>Next</a:t>
            </a:r>
            <a:endParaRPr sz="1300"/>
          </a:p>
        </p:txBody>
      </p:sp>
      <p:sp>
        <p:nvSpPr>
          <p:cNvPr id="11" name="Text 9">
            <a:extLst xmlns:a="http://schemas.openxmlformats.org/drawingml/2006/main">
              <a:ext uri="{FF2B5EF4-FFF2-40B4-BE49-F238E27FC236}">
                <a16:creationId xmlns:a16="http://schemas.microsoft.com/office/drawing/2014/main" id="{373F00CC-0992-4374-961F-FC3CE6106516}"/>
              </a:ext>
            </a:extLst>
          </p:cNvPr>
          <p:cNvSpPr>
            <a:spLocks xmlns:a="http://schemas.openxmlformats.org/drawingml/2006/main" noGrp="1"/>
          </p:cNvSpPr>
          <p:nvPr/>
        </p:nvSpPr>
        <p:spPr>
          <a:xfrm xmlns:a="http://schemas.openxmlformats.org/drawingml/2006/main">
            <a:off x="6461608" y="214884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Crash Rehearsal creates a new signal, revealed risk tolerance. Banks could learn to predict it from questionnaires with FATE without pooling client data.</a:t>
            </a:r>
            <a:endParaRPr sz="1400"/>
          </a:p>
        </p:txBody>
      </p:sp>
      <p:sp>
        <p:nvSpPr>
          <p:cNvPr id="12" name="Text 10">
            <a:extLst xmlns:a="http://schemas.openxmlformats.org/drawingml/2006/main">
              <a:ext uri="{FF2B5EF4-FFF2-40B4-BE49-F238E27FC236}">
                <a16:creationId xmlns:a16="http://schemas.microsoft.com/office/drawing/2014/main" id="{2F4C3882-4159-4E16-B457-AB998EA61E49}"/>
              </a:ext>
            </a:extLst>
          </p:cNvPr>
          <p:cNvSpPr>
            <a:spLocks xmlns:a="http://schemas.openxmlformats.org/drawingml/2006/main" noGrp="1"/>
          </p:cNvSpPr>
          <p:nvPr/>
        </p:nvSpPr>
        <p:spPr>
          <a:xfrm xmlns:a="http://schemas.openxmlformats.org/drawingml/2006/main">
            <a:off x="640080" y="388620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Fund distribution</a:t>
            </a:r>
            <a:endParaRPr sz="1800"/>
          </a:p>
        </p:txBody>
      </p:sp>
      <p:sp>
        <p:nvSpPr>
          <p:cNvPr id="13" name="Text 11">
            <a:extLst xmlns:a="http://schemas.openxmlformats.org/drawingml/2006/main">
              <a:ext uri="{FF2B5EF4-FFF2-40B4-BE49-F238E27FC236}">
                <a16:creationId xmlns:a16="http://schemas.microsoft.com/office/drawing/2014/main" id="{B63901A5-CDFD-46BB-884E-1C8865ADD3D6}"/>
              </a:ext>
            </a:extLst>
          </p:cNvPr>
          <p:cNvSpPr>
            <a:spLocks xmlns:a="http://schemas.openxmlformats.org/drawingml/2006/main" noGrp="1"/>
          </p:cNvSpPr>
          <p:nvPr/>
        </p:nvSpPr>
        <p:spPr>
          <a:xfrm xmlns:a="http://schemas.openxmlformats.org/drawingml/2006/main">
            <a:off x="4632808" y="388620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14" name="Text 12">
            <a:extLst xmlns:a="http://schemas.openxmlformats.org/drawingml/2006/main">
              <a:ext uri="{FF2B5EF4-FFF2-40B4-BE49-F238E27FC236}">
                <a16:creationId xmlns:a16="http://schemas.microsoft.com/office/drawing/2014/main" id="{33ABBC08-E088-4D9F-ADFE-964A2626395A}"/>
              </a:ext>
            </a:extLst>
          </p:cNvPr>
          <p:cNvSpPr>
            <a:spLocks xmlns:a="http://schemas.openxmlformats.org/drawingml/2006/main" noGrp="1"/>
          </p:cNvSpPr>
          <p:nvPr/>
        </p:nvSpPr>
        <p:spPr>
          <a:xfrm xmlns:a="http://schemas.openxmlformats.org/drawingml/2006/main">
            <a:off x="640080" y="438912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Real public funds with distributor risk levels: the products a digital bank already sells.</a:t>
            </a:r>
            <a:endParaRPr sz="1400"/>
          </a:p>
        </p:txBody>
      </p:sp>
      <p:sp>
        <p:nvSpPr>
          <p:cNvPr id="15" name="Text 13">
            <a:extLst xmlns:a="http://schemas.openxmlformats.org/drawingml/2006/main">
              <a:ext uri="{FF2B5EF4-FFF2-40B4-BE49-F238E27FC236}">
                <a16:creationId xmlns:a16="http://schemas.microsoft.com/office/drawing/2014/main" id="{A9FB0EA1-8010-4EF5-BEA5-FA1692056771}"/>
              </a:ext>
            </a:extLst>
          </p:cNvPr>
          <p:cNvSpPr>
            <a:spLocks xmlns:a="http://schemas.openxmlformats.org/drawingml/2006/main" noGrp="1"/>
          </p:cNvSpPr>
          <p:nvPr/>
        </p:nvSpPr>
        <p:spPr>
          <a:xfrm xmlns:a="http://schemas.openxmlformats.org/drawingml/2006/main">
            <a:off x="6461608" y="388620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Bilingual by design</a:t>
            </a:r>
            <a:endParaRPr sz="1800"/>
          </a:p>
        </p:txBody>
      </p:sp>
      <p:sp>
        <p:nvSpPr>
          <p:cNvPr id="16" name="Text 14">
            <a:extLst xmlns:a="http://schemas.openxmlformats.org/drawingml/2006/main">
              <a:ext uri="{FF2B5EF4-FFF2-40B4-BE49-F238E27FC236}">
                <a16:creationId xmlns:a16="http://schemas.microsoft.com/office/drawing/2014/main" id="{2A10A855-F3C3-42D5-9E40-F008CF21B812}"/>
              </a:ext>
            </a:extLst>
          </p:cNvPr>
          <p:cNvSpPr>
            <a:spLocks xmlns:a="http://schemas.openxmlformats.org/drawingml/2006/main" noGrp="1"/>
          </p:cNvSpPr>
          <p:nvPr/>
        </p:nvSpPr>
        <p:spPr>
          <a:xfrm xmlns:a="http://schemas.openxmlformats.org/drawingml/2006/main">
            <a:off x="10454335" y="388620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17" name="Text 15">
            <a:extLst xmlns:a="http://schemas.openxmlformats.org/drawingml/2006/main">
              <a:ext uri="{FF2B5EF4-FFF2-40B4-BE49-F238E27FC236}">
                <a16:creationId xmlns:a16="http://schemas.microsoft.com/office/drawing/2014/main" id="{FEAFDDC4-5C71-4040-B391-AB24FEB83BD7}"/>
              </a:ext>
            </a:extLst>
          </p:cNvPr>
          <p:cNvSpPr>
            <a:spLocks xmlns:a="http://schemas.openxmlformats.org/drawingml/2006/main" noGrp="1"/>
          </p:cNvSpPr>
          <p:nvPr/>
        </p:nvSpPr>
        <p:spPr>
          <a:xfrm xmlns:a="http://schemas.openxmlformats.org/drawingml/2006/main">
            <a:off x="6461608" y="438912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English and 简体中文 throughout, for Shenzhen and clients across the region.</a:t>
            </a:r>
            <a:endParaRPr sz="1400"/>
          </a:p>
        </p:txBody>
      </p:sp>
      <p:sp>
        <p:nvSpPr>
          <p:cNvPr id="25" name="Slide Number Placeholder 0">
            <a:extLst xmlns:a="http://schemas.openxmlformats.org/drawingml/2006/main">
              <a:ext uri="{FF2B5EF4-FFF2-40B4-BE49-F238E27FC236}">
                <a16:creationId xmlns:a16="http://schemas.microsoft.com/office/drawing/2014/main" id="{46338CE0-FA94-44C1-8C24-71DD246FD0EB}"/>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11</a:t>
            </a:fld>
            <a:endParaRPr/>
          </a:p>
        </p:txBody>
      </p:sp>
    </p:spTree>
    <p:extLst>
      <p:ext uri="{BB962C8B-B14F-4D97-AF65-F5344CB8AC3E}">
        <p14:creationId xmlns:p14="http://schemas.microsoft.com/office/powerpoint/2010/main" val="133707582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logo-close">
            <a:extLst xmlns:a="http://schemas.openxmlformats.org/drawingml/2006/main">
              <a:ext uri="{FF2B5EF4-FFF2-40B4-BE49-F238E27FC236}">
                <a16:creationId xmlns:a16="http://schemas.microsoft.com/office/drawing/2014/main" id="{17AC553C-5F58-45CF-B5DC-611E5EB65D26}"/>
              </a:ext>
            </a:extLst>
          </p:cNvPr>
          <p:cNvPicPr>
            <a:picLocks xmlns:a="http://schemas.openxmlformats.org/drawingml/2006/main" noChangeAspect="1"/>
          </p:cNvPicPr>
          <p:nvPr/>
        </p:nvPicPr>
        <p:blipFill>
          <a:blip xmlns:r="http://schemas.openxmlformats.org/officeDocument/2006/relationships" xmlns:a="http://schemas.openxmlformats.org/drawingml/2006/main" r:embed="R39c94232c9f64a71"/>
          <a:stretch xmlns:a="http://schemas.openxmlformats.org/drawingml/2006/main">
            <a:fillRect l="0" t="0" r="0" b="0"/>
          </a:stretch>
        </p:blipFill>
        <p:spPr>
          <a:xfrm xmlns:a="http://schemas.openxmlformats.org/drawingml/2006/main">
            <a:off x="640080" y="640080"/>
            <a:ext cx="457200" cy="4572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600A348-9227-42CA-98D0-0939B2CAADF2}"/>
              </a:ext>
            </a:extLst>
          </p:cNvPr>
          <p:cNvSpPr>
            <a:spLocks xmlns:a="http://schemas.openxmlformats.org/drawingml/2006/main" noGrp="1"/>
          </p:cNvSpPr>
          <p:nvPr/>
        </p:nvSpPr>
        <p:spPr>
          <a:xfrm xmlns:a="http://schemas.openxmlformats.org/drawingml/2006/main">
            <a:off x="640080" y="1737360"/>
            <a:ext cx="100584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6000" b="1">
                <a:solidFill>
                  <a:schemeClr val="bg1"/>
                </a:solidFill>
                <a:latin typeface="Arial"/>
                <a:ea typeface="Arial"/>
                <a:cs typeface="Arial"/>
              </a:rPr>
              <a:t>Advice you can check.</a:t>
            </a:r>
            <a:endParaRPr sz="6000"/>
          </a:p>
        </p:txBody>
      </p:sp>
      <p:sp>
        <p:nvSpPr>
          <p:cNvPr id="4" name="Text 1">
            <a:extLst xmlns:a="http://schemas.openxmlformats.org/drawingml/2006/main">
              <a:ext uri="{FF2B5EF4-FFF2-40B4-BE49-F238E27FC236}">
                <a16:creationId xmlns:a16="http://schemas.microsoft.com/office/drawing/2014/main" id="{8A267D71-7562-4BC1-BDE7-E2F4903D0D8B}"/>
              </a:ext>
            </a:extLst>
          </p:cNvPr>
          <p:cNvSpPr>
            <a:spLocks xmlns:a="http://schemas.openxmlformats.org/drawingml/2006/main" noGrp="1"/>
          </p:cNvSpPr>
          <p:nvPr/>
        </p:nvSpPr>
        <p:spPr>
          <a:xfrm xmlns:a="http://schemas.openxmlformats.org/drawingml/2006/main">
            <a:off x="640080" y="3291840"/>
            <a:ext cx="9875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A6B1BC"/>
                </a:solidFill>
                <a:latin typeface="Arial"/>
                <a:ea typeface="Arial"/>
                <a:cs typeface="Arial"/>
              </a:rPr>
              <a:t>Rehearse the crash before investing. Ground every number in code. Let only the client move money. Anchor the record on chain.</a:t>
            </a:r>
            <a:endParaRPr sz="2100"/>
          </a:p>
        </p:txBody>
      </p:sp>
      <p:sp>
        <p:nvSpPr>
          <p:cNvPr id="5" name="close-rule">
            <a:extLst xmlns:a="http://schemas.openxmlformats.org/drawingml/2006/main">
              <a:ext uri="{FF2B5EF4-FFF2-40B4-BE49-F238E27FC236}">
                <a16:creationId xmlns:a16="http://schemas.microsoft.com/office/drawing/2014/main" id="{E2FE5011-877E-4744-AE61-F52C1A31495C}"/>
              </a:ext>
            </a:extLst>
          </p:cNvPr>
          <p:cNvSpPr>
            <a:spLocks xmlns:a="http://schemas.openxmlformats.org/drawingml/2006/main" noGrp="1"/>
          </p:cNvSpPr>
          <p:nvPr/>
        </p:nvSpPr>
        <p:spPr>
          <a:xfrm xmlns:a="http://schemas.openxmlformats.org/drawingml/2006/main">
            <a:off x="640080" y="5257800"/>
            <a:ext cx="10911535" cy="0"/>
          </a:xfrm>
          <a:prstGeom xmlns:a="http://schemas.openxmlformats.org/drawingml/2006/main" prst="line">
            <a:avLst/>
          </a:prstGeom>
          <a:noFill xmlns:a="http://schemas.openxmlformats.org/drawingml/2006/main"/>
          <a:ln xmlns:a="http://schemas.openxmlformats.org/drawingml/2006/main" w="9525">
            <a:solidFill>
              <a:srgbClr val="2E3F4E"/>
            </a:solidFill>
            <a:prstDash val="solid"/>
          </a:ln>
        </p:spPr>
      </p:sp>
      <p:sp>
        <p:nvSpPr>
          <p:cNvPr id="6" name="Text 3">
            <a:extLst xmlns:a="http://schemas.openxmlformats.org/drawingml/2006/main">
              <a:ext uri="{FF2B5EF4-FFF2-40B4-BE49-F238E27FC236}">
                <a16:creationId xmlns:a16="http://schemas.microsoft.com/office/drawing/2014/main" id="{1F428687-063C-4D71-9DD7-027E2F90BABC}"/>
              </a:ext>
            </a:extLst>
          </p:cNvPr>
          <p:cNvSpPr>
            <a:spLocks xmlns:a="http://schemas.openxmlformats.org/drawingml/2006/main" noGrp="1"/>
          </p:cNvSpPr>
          <p:nvPr/>
        </p:nvSpPr>
        <p:spPr>
          <a:xfrm xmlns:a="http://schemas.openxmlformats.org/drawingml/2006/main">
            <a:off x="640080" y="5440680"/>
            <a:ext cx="10515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400">
                <a:solidFill>
                  <a:srgbClr val="A6B1BC"/>
                </a:solidFill>
                <a:latin typeface="Arial"/>
                <a:ea typeface="Arial"/>
                <a:cs typeface="Arial"/>
              </a:rPr>
              <a:t>Code and documentation: github.com/erkinovvv/keel</a:t>
            </a:r>
            <a:endParaRPr sz="1400"/>
          </a:p>
          <a:p xmlns:a="http://schemas.openxmlformats.org/drawingml/2006/main">
            <a:pPr marL="0" indent="0">
              <a:lnSpc>
                <a:spcPct val="120000"/>
              </a:lnSpc>
              <a:buNone/>
            </a:pPr>
            <a:r>
              <a:rPr sz="1400">
                <a:solidFill>
                  <a:srgbClr val="A6B1BC"/>
                </a:solidFill>
                <a:latin typeface="Arial"/>
                <a:ea typeface="Arial"/>
                <a:cs typeface="Arial"/>
              </a:rPr>
              <a:t>Team Keel   Westminster International University in Tashkent</a:t>
            </a:r>
          </a:p>
        </p:txBody>
      </p:sp>
      <p:sp>
        <p:nvSpPr>
          <p:cNvPr id="25" name="Slide Number Placeholder 0">
            <a:extLst xmlns:a="http://schemas.openxmlformats.org/drawingml/2006/main">
              <a:ext uri="{FF2B5EF4-FFF2-40B4-BE49-F238E27FC236}">
                <a16:creationId xmlns:a16="http://schemas.microsoft.com/office/drawing/2014/main" id="{BEDCCDC5-37AD-4D67-8EF1-612362AFE85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639351078"/>
      </p:ext>
    </p:extLst>
  </p:cSld>
</p:sld>
</file>

<file path=ppt/theme/theme1.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2026-10-15T18:15:58.6780000Z</dcterms:created>
  <dcterms:modified xsi:type="dcterms:W3CDTF">2026-10-15T18:15:58.6780000Z</dcterms:modified>
</coreProperties>
</file>