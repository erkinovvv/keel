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dvice cannot be checked" id="{b97185a3-ffbb-7e76-b7ae-8182e0690b42}">
          <p14:sldIdLst>
            <p14:sldId id="256"/>
            <p14:sldId id="257"/>
          </p14:sldIdLst>
        </p14:section>
        <p14:section name="Lucid" id="{2b10ddae-7533-b673-b4b3-47ad9f87c79b}">
          <p14:sldIdLst>
            <p14:sldId id="258"/>
            <p14:sldId id="259"/>
            <p14:sldId id="260"/>
          </p14:sldIdLst>
        </p14:section>
        <p14:section name="Proof" id="{b9b0c955-8ea7-a553-bda5-effd4be33ab8}">
          <p14:sldIdLst>
            <p14:sldId id="261"/>
            <p14:sldId id="262"/>
            <p14:sldId id="263"/>
          </p14:sldIdLst>
        </p14:section>
        <p14:section name="Results and fit" id="{a73d3c6f-35f0-688b-3d74-23bc5adbbae6}">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[names] from Westminster International University in Tashkent. Our project is Lucid, a wealth-advisory agent for Topic B. In one sentence: it is the AI wealth advisor that proves its advice. In the next nine minutes we show what that means and why it matters to a bank like WeBank.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First, risk questionnaires are easy to game: clients pick the answers that unlock the product they want, then panic-sell in the first crash. Second, language-model advisors invent numbers and can be jailbroken. Third, everyone says explainable, but nobody can verify a recommendation after the fact. Topic B asks for compliant and explainable advice; we took both words literally.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Lucid runs the same seven steps a licensed advisor follows: fact-find, risk profile, crash rehearsal, allocation, goal planning, stress test and execution. The client can do it in conversation, in English or Chinese, and the client file fills in live. Every underlined number opens its provenance: which function computed it and which audit record holds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core idea. Every robo-advisor stress-tests the portfolio. We stress-test the investor. Before any money moves, the client lives through 2008 with the exact portfolio we are about to recommend, month by month, and can press Sell at any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rehearsal. The screen turns into a trading terminal; the client's own portfolio falls month by month on real data, the headlines of the time scroll by, and the Sell button pulses at the bottom. In our test, a client who said they would buy more in a crash sold in September 2008 at minus 13.5 percent. Holding would have ended at 130,715; selling ended at 88,386. The class drops from C5 to C3, and that is written to the audit log and to the client's report. Behaviour can only make the advice safer, never riskier.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design rule: the model talks, code decides. The language model handles conversation. Every figure, the risk class, suitability, limits and the order path live in deterministic server code the model cannot reach. Every number in the interface links to the function that computed it, and every decision goes into a hash-chained audit log whose head we write to a smart contract on WeBank's FISCO BCOS. Change one record and verification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replaced a mock catalog with 24 real Chinese public mutual funds: money market including Yu'E Bao, bond and balanced funds, CSI 300 and 500, Hang Seng, S&amp;P 500, Nasdaq-100, gold and US real estate, the kind of products WeBank distributes. Risk levels R1 to R5 come from the distributor labels, fees are the real fees, volatility is ten years of NAV history. The table shows the resulting ladder: from 1.1 percent for C1 to 8.2 percent for C5, each with its worst historical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thirty percent of the score, so we enforce it in code. Four permission tiers; a session starts at Advise. Trading needs a signed risk disclosure, and every order needs a one-time token that only the person holding the confirm button receives; the model has no tool that can obtain it. Personal data is masked before any model call. Our red-team suite stops all 57 attacks, in five languages, while answering all 8 harmless control requests normally.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we measured. [x] of 30 scripted clients completed the whole journey on a live model. All 57 red-team attacks stopped. 89 automated tests. And a backtest from 2008 to 2026: every model portfolio stayed inside its volatility band, yet every one fell further than that number suggests; C5 lost 34 percent in 2008. That is exactly why we enforce the client's own loss limit and make them rehearse the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in one picture. The web app talks to an advisor session. Every message passes an input guard that masks personal data and catches injection, then a bounded agent loop that only sees the tools valid for the current stage, then an output guard that refuses numbers no tool produced. The tools call a deterministic engine on real data. Execution sits behind permission tiers and one-time tokens. Everything is written to a hash-chained audit log anchored on FISCO BCOS.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fits WeBank. The audit records already go to FISCO BCOS, the chain WeBank built. Next, FATE: Crash Rehearsal produces a new signal, revealed risk tolerance, and banks could learn to predict it from questionnaire answers with federated learning without pooling client data. The products are real public funds like those a digital bank distributes, and the interface is bilingual for Shenzhen and the APEC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Lucid: advice you can prove. We rehearse the crash before the client invests, every number is grounded in audited code, only the client can move money, and the record lives on chain. Thank you; we are happy to take questions and to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Lucid · FinTechathon 2026 · Topic B</a:t>
            </a:r>
            <a:endParaRPr lang="en-US" sz="1000" dirty="0"/>
          </a:p>
        </p:txBody>
      </p:sp>
      <p:sp>
        <p:nvSpPr>
          <p:cNvPr id="3" name="Text 1"/>
          <p:cNvSpPr/>
          <p:nvPr>
            <p:ph idx="101" type="title" hasCustomPrompt="1"/>
          </p:nvPr>
        </p:nvSpPr>
        <p:spPr>
          <a:xfrm>
            <a:off x="548640" y="411480"/>
            <a:ext cx="11094415" cy="822960"/>
          </a:xfrm>
          <a:prstGeom prst="rect">
            <a:avLst/>
          </a:prstGeom>
          <a:noFill/>
          <a:ln/>
        </p:spPr>
        <p:txBody>
          <a:bodyPr wrap="square" rtlCol="0"/>
          <a:lstStyle>
            <a:lvl1pPr indent="0" marL="0">
              <a:buNone/>
              <a:defRPr lang="en-US" sz="3400" dirty="0">
                <a:solidFill>
                  <a:schemeClr val="tx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cNvSpPr/>
          <p:nvPr/>
        </p:nvSpPr>
        <p:spPr>
          <a:xfrm>
            <a:off x="548640" y="548640"/>
            <a:ext cx="411480" cy="411480"/>
          </a:xfrm>
          <a:prstGeom prst="roundRect">
            <a:avLst>
              <a:gd name="adj" fmla="val 22222"/>
            </a:avLst>
          </a:prstGeom>
          <a:solidFill>
            <a:schemeClr val="accent1"/>
          </a:solidFill>
          <a:ln w="12700">
            <a:solidFill>
              <a:schemeClr val="accent1"/>
            </a:solidFill>
            <a:prstDash val="solid"/>
          </a:ln>
        </p:spPr>
      </p:sp>
      <p:sp>
        <p:nvSpPr>
          <p:cNvPr id="3" name="Text 1"/>
          <p:cNvSpPr txBox="1"/>
          <p:nvPr/>
        </p:nvSpPr>
        <p:spPr>
          <a:xfrm>
            <a:off x="1097280" y="566928"/>
            <a:ext cx="2743200" cy="411480"/>
          </a:xfrm>
          <a:prstGeom prst="rect">
            <a:avLst/>
          </a:prstGeom>
          <a:noFill/>
          <a:ln/>
        </p:spPr>
        <p:txBody>
          <a:bodyPr wrap="square" lIns="0" tIns="0" rIns="0" bIns="0" rtlCol="0" anchor="ctr"/>
          <a:lstStyle/>
          <a:p>
            <a:pPr indent="0" marL="0">
              <a:buNone/>
            </a:pPr>
            <a:r>
              <a:rPr lang="en-US" sz="2200" b="1" dirty="0">
                <a:solidFill>
                  <a:schemeClr val="bg1"/>
                </a:solidFill>
              </a:rPr>
              <a:t>Lucid</a:t>
            </a:r>
            <a:endParaRPr lang="en-US" sz="2200" dirty="0"/>
          </a:p>
        </p:txBody>
      </p:sp>
      <p:sp>
        <p:nvSpPr>
          <p:cNvPr id="4" name="Text 2"/>
          <p:cNvSpPr txBox="1"/>
          <p:nvPr/>
        </p:nvSpPr>
        <p:spPr>
          <a:xfrm>
            <a:off x="548640" y="2011680"/>
            <a:ext cx="10058400" cy="1828800"/>
          </a:xfrm>
          <a:prstGeom prst="rect">
            <a:avLst/>
          </a:prstGeom>
          <a:noFill/>
          <a:ln/>
        </p:spPr>
        <p:txBody>
          <a:bodyPr wrap="square" lIns="0" tIns="0" rIns="0" bIns="0" rtlCol="0" anchor="b"/>
          <a:lstStyle/>
          <a:p>
            <a:pPr indent="0" marL="0">
              <a:buNone/>
            </a:pPr>
            <a:r>
              <a:rPr lang="en-US" sz="5400" dirty="0">
                <a:solidFill>
                  <a:schemeClr val="bg1"/>
                </a:solidFill>
                <a:latin typeface="Cambria" pitchFamily="34" charset="0"/>
                <a:ea typeface="Cambria" pitchFamily="34" charset="-122"/>
                <a:cs typeface="Cambria" pitchFamily="34" charset="-120"/>
              </a:rPr>
              <a:t>The AI wealth advisor that proves its advice</a:t>
            </a:r>
            <a:endParaRPr lang="en-US" sz="5400" dirty="0"/>
          </a:p>
        </p:txBody>
      </p:sp>
      <p:sp>
        <p:nvSpPr>
          <p:cNvPr id="5" name="Text 3"/>
          <p:cNvSpPr txBox="1"/>
          <p:nvPr/>
        </p:nvSpPr>
        <p:spPr>
          <a:xfrm>
            <a:off x="548640" y="4023360"/>
            <a:ext cx="9144000" cy="914400"/>
          </a:xfrm>
          <a:prstGeom prst="rect">
            <a:avLst/>
          </a:prstGeom>
          <a:noFill/>
          <a:ln/>
        </p:spPr>
        <p:txBody>
          <a:bodyPr wrap="square" lIns="0" tIns="0" rIns="0" bIns="0" rtlCol="0" anchor="t"/>
          <a:lstStyle/>
          <a:p>
            <a:pPr indent="0" marL="0">
              <a:buNone/>
            </a:pPr>
            <a:r>
              <a:rPr lang="en-US" sz="2000" dirty="0">
                <a:solidFill>
                  <a:srgbClr val="BFD0CC"/>
                </a:solidFill>
              </a:rPr>
              <a:t>A licensed advisor's workflow, a crash rehearsal for the client, and an audit trail anchored on WeBank's FISCO BCOS.</a:t>
            </a:r>
            <a:endParaRPr lang="en-US" sz="2000" dirty="0"/>
          </a:p>
        </p:txBody>
      </p:sp>
      <p:sp>
        <p:nvSpPr>
          <p:cNvPr id="6" name="Text 4"/>
          <p:cNvSpPr txBox="1"/>
          <p:nvPr/>
        </p:nvSpPr>
        <p:spPr>
          <a:xfrm>
            <a:off x="548640" y="5669280"/>
            <a:ext cx="10058400" cy="640080"/>
          </a:xfrm>
          <a:prstGeom prst="rect">
            <a:avLst/>
          </a:prstGeom>
          <a:noFill/>
          <a:ln/>
        </p:spPr>
        <p:txBody>
          <a:bodyPr wrap="square" lIns="0" tIns="0" rIns="0" bIns="0" rtlCol="0" anchor="t"/>
          <a:lstStyle/>
          <a:p>
            <a:pPr indent="0" marL="0">
              <a:buNone/>
            </a:pPr>
            <a:r>
              <a:rPr lang="en-US" sz="1400" dirty="0">
                <a:solidFill>
                  <a:srgbClr val="BFD0CC"/>
                </a:solidFill>
              </a:rPr>
              <a:t>FinTechathon 2026 · International Track · Topic B: Wealth Advisory Agent</a:t>
            </a:r>
            <a:endParaRPr lang="en-US" sz="1400" dirty="0"/>
          </a:p>
          <a:p>
            <a:pPr indent="0" marL="0">
              <a:buNone/>
            </a:pPr>
            <a:r>
              <a:rPr lang="en-US" sz="1400" dirty="0">
                <a:solidFill>
                  <a:srgbClr val="BFD0CC"/>
                </a:solidFill>
              </a:rPr>
              <a:t>[Name 1], [Name 2] · Westminster International University in Tashkent</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Wealth advice today cannot be checked</a:t>
            </a:r>
            <a:endParaRPr lang="en-US" sz="3400" dirty="0"/>
          </a:p>
        </p:txBody>
      </p:sp>
      <p:sp>
        <p:nvSpPr>
          <p:cNvPr id="3" name="problem-1"/>
          <p:cNvSpPr/>
          <p:nvPr/>
        </p:nvSpPr>
        <p:spPr>
          <a:xfrm>
            <a:off x="548640" y="1508760"/>
            <a:ext cx="3484778" cy="4206240"/>
          </a:xfrm>
          <a:prstGeom prst="roundRect">
            <a:avLst>
              <a:gd name="adj" fmla="val 3149"/>
            </a:avLst>
          </a:prstGeom>
          <a:solidFill>
            <a:schemeClr val="bg1"/>
          </a:solidFill>
          <a:ln w="12700">
            <a:solidFill>
              <a:srgbClr val="D9E2DF"/>
            </a:solidFill>
            <a:prstDash val="solid"/>
          </a:ln>
        </p:spPr>
      </p:sp>
      <p:sp>
        <p:nvSpPr>
          <p:cNvPr id="4" name="problem-num-1"/>
          <p:cNvSpPr/>
          <p:nvPr/>
        </p:nvSpPr>
        <p:spPr>
          <a:xfrm>
            <a:off x="868680" y="178308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86868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508760" y="1810512"/>
            <a:ext cx="2296058" cy="457200"/>
          </a:xfrm>
          <a:prstGeom prst="rect">
            <a:avLst/>
          </a:prstGeom>
          <a:noFill/>
          <a:ln/>
        </p:spPr>
        <p:txBody>
          <a:bodyPr wrap="square" lIns="0" tIns="0" rIns="0" bIns="0" rtlCol="0" anchor="ctr"/>
          <a:lstStyle/>
          <a:p>
            <a:pPr indent="0" marL="0">
              <a:buNone/>
            </a:pPr>
            <a:r>
              <a:rPr lang="en-US" sz="1500" b="1" dirty="0">
                <a:solidFill>
                  <a:schemeClr val="accent1"/>
                </a:solidFill>
              </a:rPr>
              <a:t>Questionnaires</a:t>
            </a:r>
            <a:endParaRPr lang="en-US" sz="1500" dirty="0"/>
          </a:p>
        </p:txBody>
      </p:sp>
      <p:sp>
        <p:nvSpPr>
          <p:cNvPr id="7" name="Text 5"/>
          <p:cNvSpPr txBox="1"/>
          <p:nvPr/>
        </p:nvSpPr>
        <p:spPr>
          <a:xfrm>
            <a:off x="868680" y="2606040"/>
            <a:ext cx="2844698" cy="146304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Clients tick the answers that unlock the product they want</a:t>
            </a:r>
            <a:endParaRPr lang="en-US" sz="2200" dirty="0"/>
          </a:p>
        </p:txBody>
      </p:sp>
      <p:sp>
        <p:nvSpPr>
          <p:cNvPr id="8" name="Text 6"/>
          <p:cNvSpPr txBox="1"/>
          <p:nvPr/>
        </p:nvSpPr>
        <p:spPr>
          <a:xfrm>
            <a:off x="868680" y="4160520"/>
            <a:ext cx="2844698" cy="1280160"/>
          </a:xfrm>
          <a:prstGeom prst="rect">
            <a:avLst/>
          </a:prstGeom>
          <a:noFill/>
          <a:ln/>
        </p:spPr>
        <p:txBody>
          <a:bodyPr wrap="square" lIns="0" tIns="0" rIns="0" bIns="0" rtlCol="0" anchor="t"/>
          <a:lstStyle/>
          <a:p>
            <a:pPr indent="0" marL="0">
              <a:buNone/>
            </a:pPr>
            <a:r>
              <a:rPr lang="en-US" sz="1500" dirty="0">
                <a:solidFill>
                  <a:schemeClr val="accent5"/>
                </a:solidFill>
              </a:rPr>
              <a:t>Then they sell at the bottom of the first crash, lose money and complain of mis-selling.</a:t>
            </a:r>
            <a:endParaRPr lang="en-US" sz="1500" dirty="0"/>
          </a:p>
        </p:txBody>
      </p:sp>
      <p:sp>
        <p:nvSpPr>
          <p:cNvPr id="9" name="problem-2"/>
          <p:cNvSpPr/>
          <p:nvPr/>
        </p:nvSpPr>
        <p:spPr>
          <a:xfrm>
            <a:off x="4353458" y="1508760"/>
            <a:ext cx="3484778" cy="4206240"/>
          </a:xfrm>
          <a:prstGeom prst="roundRect">
            <a:avLst>
              <a:gd name="adj" fmla="val 3149"/>
            </a:avLst>
          </a:prstGeom>
          <a:solidFill>
            <a:schemeClr val="bg1"/>
          </a:solidFill>
          <a:ln w="12700">
            <a:solidFill>
              <a:srgbClr val="D9E2DF"/>
            </a:solidFill>
            <a:prstDash val="solid"/>
          </a:ln>
        </p:spPr>
      </p:sp>
      <p:sp>
        <p:nvSpPr>
          <p:cNvPr id="10" name="problem-num-2"/>
          <p:cNvSpPr/>
          <p:nvPr/>
        </p:nvSpPr>
        <p:spPr>
          <a:xfrm>
            <a:off x="4673498" y="1783080"/>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4673498"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5313578" y="1810512"/>
            <a:ext cx="2296058" cy="457200"/>
          </a:xfrm>
          <a:prstGeom prst="rect">
            <a:avLst/>
          </a:prstGeom>
          <a:noFill/>
          <a:ln/>
        </p:spPr>
        <p:txBody>
          <a:bodyPr wrap="square" lIns="0" tIns="0" rIns="0" bIns="0" rtlCol="0" anchor="ctr"/>
          <a:lstStyle/>
          <a:p>
            <a:pPr indent="0" marL="0">
              <a:buNone/>
            </a:pPr>
            <a:r>
              <a:rPr lang="en-US" sz="1500" b="1" dirty="0">
                <a:solidFill>
                  <a:schemeClr val="accent1"/>
                </a:solidFill>
              </a:rPr>
              <a:t>AI advisors</a:t>
            </a:r>
            <a:endParaRPr lang="en-US" sz="1500" dirty="0"/>
          </a:p>
        </p:txBody>
      </p:sp>
      <p:sp>
        <p:nvSpPr>
          <p:cNvPr id="13" name="Text 11"/>
          <p:cNvSpPr txBox="1"/>
          <p:nvPr/>
        </p:nvSpPr>
        <p:spPr>
          <a:xfrm>
            <a:off x="4673498" y="2606040"/>
            <a:ext cx="2844698" cy="146304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Language models invent figures and can be talked into anything</a:t>
            </a:r>
            <a:endParaRPr lang="en-US" sz="2200" dirty="0"/>
          </a:p>
        </p:txBody>
      </p:sp>
      <p:sp>
        <p:nvSpPr>
          <p:cNvPr id="14" name="Text 12"/>
          <p:cNvSpPr txBox="1"/>
          <p:nvPr/>
        </p:nvSpPr>
        <p:spPr>
          <a:xfrm>
            <a:off x="4673498" y="4160520"/>
            <a:ext cx="2844698" cy="1280160"/>
          </a:xfrm>
          <a:prstGeom prst="rect">
            <a:avLst/>
          </a:prstGeom>
          <a:noFill/>
          <a:ln/>
        </p:spPr>
        <p:txBody>
          <a:bodyPr wrap="square" lIns="0" tIns="0" rIns="0" bIns="0" rtlCol="0" anchor="t"/>
          <a:lstStyle/>
          <a:p>
            <a:pPr indent="0" marL="0">
              <a:buNone/>
            </a:pPr>
            <a:r>
              <a:rPr lang="en-US" sz="1500" dirty="0">
                <a:solidFill>
                  <a:schemeClr val="accent5"/>
                </a:solidFill>
              </a:rPr>
              <a:t>A confident wrong return estimate is a compliance incident, not a typo.</a:t>
            </a:r>
            <a:endParaRPr lang="en-US" sz="1500" dirty="0"/>
          </a:p>
        </p:txBody>
      </p:sp>
      <p:sp>
        <p:nvSpPr>
          <p:cNvPr id="15" name="problem-3"/>
          <p:cNvSpPr/>
          <p:nvPr/>
        </p:nvSpPr>
        <p:spPr>
          <a:xfrm>
            <a:off x="8158277" y="1508760"/>
            <a:ext cx="3484778" cy="4206240"/>
          </a:xfrm>
          <a:prstGeom prst="roundRect">
            <a:avLst>
              <a:gd name="adj" fmla="val 3149"/>
            </a:avLst>
          </a:prstGeom>
          <a:solidFill>
            <a:schemeClr val="bg1"/>
          </a:solidFill>
          <a:ln w="12700">
            <a:solidFill>
              <a:srgbClr val="D9E2DF"/>
            </a:solidFill>
            <a:prstDash val="solid"/>
          </a:ln>
        </p:spPr>
      </p:sp>
      <p:sp>
        <p:nvSpPr>
          <p:cNvPr id="16" name="problem-num-3"/>
          <p:cNvSpPr/>
          <p:nvPr/>
        </p:nvSpPr>
        <p:spPr>
          <a:xfrm>
            <a:off x="8478317" y="178308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8478317"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9118397" y="1810512"/>
            <a:ext cx="2296058" cy="457200"/>
          </a:xfrm>
          <a:prstGeom prst="rect">
            <a:avLst/>
          </a:prstGeom>
          <a:noFill/>
          <a:ln/>
        </p:spPr>
        <p:txBody>
          <a:bodyPr wrap="square" lIns="0" tIns="0" rIns="0" bIns="0" rtlCol="0" anchor="ctr"/>
          <a:lstStyle/>
          <a:p>
            <a:pPr indent="0" marL="0">
              <a:buNone/>
            </a:pPr>
            <a:r>
              <a:rPr lang="en-US" sz="1500" b="1" dirty="0">
                <a:solidFill>
                  <a:schemeClr val="accent1"/>
                </a:solidFill>
              </a:rPr>
              <a:t>“Explainable”</a:t>
            </a:r>
            <a:endParaRPr lang="en-US" sz="1500" dirty="0"/>
          </a:p>
        </p:txBody>
      </p:sp>
      <p:sp>
        <p:nvSpPr>
          <p:cNvPr id="19" name="Text 17"/>
          <p:cNvSpPr txBox="1"/>
          <p:nvPr/>
        </p:nvSpPr>
        <p:spPr>
          <a:xfrm>
            <a:off x="8478317" y="2606040"/>
            <a:ext cx="2844698" cy="146304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Every product claims it. Nobody can verify it afterwards.</a:t>
            </a:r>
            <a:endParaRPr lang="en-US" sz="2200" dirty="0"/>
          </a:p>
        </p:txBody>
      </p:sp>
      <p:sp>
        <p:nvSpPr>
          <p:cNvPr id="20" name="Text 18"/>
          <p:cNvSpPr txBox="1"/>
          <p:nvPr/>
        </p:nvSpPr>
        <p:spPr>
          <a:xfrm>
            <a:off x="8478317" y="4160520"/>
            <a:ext cx="2844698" cy="1280160"/>
          </a:xfrm>
          <a:prstGeom prst="rect">
            <a:avLst/>
          </a:prstGeom>
          <a:noFill/>
          <a:ln/>
        </p:spPr>
        <p:txBody>
          <a:bodyPr wrap="square" lIns="0" tIns="0" rIns="0" bIns="0" rtlCol="0" anchor="t"/>
          <a:lstStyle/>
          <a:p>
            <a:pPr indent="0" marL="0">
              <a:buNone/>
            </a:pPr>
            <a:r>
              <a:rPr lang="en-US" sz="1500" dirty="0">
                <a:solidFill>
                  <a:schemeClr val="accent5"/>
                </a:solidFill>
              </a:rPr>
              <a:t>Regulators, auditors and clients need evidence, not a promise.</a:t>
            </a:r>
            <a:endParaRPr lang="en-US" sz="1500" dirty="0"/>
          </a:p>
        </p:txBody>
      </p:sp>
      <p:sp>
        <p:nvSpPr>
          <p:cNvPr id="21" name="Text 19"/>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500" i="1" dirty="0">
                <a:solidFill>
                  <a:schemeClr val="accent5"/>
                </a:solidFill>
              </a:rPr>
              <a:t>Topic B asks for compliant and explainable asset-allocation advice. We took both words literally.</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A licensed advisor's workflow, in one conversation</a:t>
            </a:r>
            <a:endParaRPr lang="en-US" sz="3400" dirty="0"/>
          </a:p>
        </p:txBody>
      </p:sp>
      <p:sp>
        <p:nvSpPr>
          <p:cNvPr id="3" name="step-1"/>
          <p:cNvSpPr/>
          <p:nvPr/>
        </p:nvSpPr>
        <p:spPr>
          <a:xfrm>
            <a:off x="548640" y="1417320"/>
            <a:ext cx="1467351" cy="1600200"/>
          </a:xfrm>
          <a:prstGeom prst="roundRect">
            <a:avLst>
              <a:gd name="adj" fmla="val 7478"/>
            </a:avLst>
          </a:prstGeom>
          <a:solidFill>
            <a:schemeClr val="bg1"/>
          </a:solidFill>
          <a:ln w="12700">
            <a:solidFill>
              <a:srgbClr val="D9E2DF"/>
            </a:solidFill>
            <a:prstDash val="solid"/>
          </a:ln>
        </p:spPr>
      </p:sp>
      <p:sp>
        <p:nvSpPr>
          <p:cNvPr id="4" name="Text 2"/>
          <p:cNvSpPr txBox="1"/>
          <p:nvPr/>
        </p:nvSpPr>
        <p:spPr>
          <a:xfrm>
            <a:off x="713232" y="1536192"/>
            <a:ext cx="548640" cy="36576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5" name="Text 3"/>
          <p:cNvSpPr txBox="1"/>
          <p:nvPr/>
        </p:nvSpPr>
        <p:spPr>
          <a:xfrm>
            <a:off x="713232" y="1920240"/>
            <a:ext cx="1193031" cy="365760"/>
          </a:xfrm>
          <a:prstGeom prst="rect">
            <a:avLst/>
          </a:prstGeom>
          <a:noFill/>
          <a:ln/>
        </p:spPr>
        <p:txBody>
          <a:bodyPr wrap="square" lIns="0" tIns="0" rIns="0" bIns="0" rtlCol="0" anchor="t"/>
          <a:lstStyle/>
          <a:p>
            <a:pPr indent="0" marL="0">
              <a:buNone/>
            </a:pPr>
            <a:r>
              <a:rPr lang="en-US" sz="1600" b="1" dirty="0">
                <a:solidFill>
                  <a:schemeClr val="tx1"/>
                </a:solidFill>
              </a:rPr>
              <a:t>Fact-find</a:t>
            </a:r>
            <a:endParaRPr lang="en-US" sz="1600" dirty="0"/>
          </a:p>
        </p:txBody>
      </p:sp>
      <p:sp>
        <p:nvSpPr>
          <p:cNvPr id="6" name="Text 4"/>
          <p:cNvSpPr txBox="1"/>
          <p:nvPr/>
        </p:nvSpPr>
        <p:spPr>
          <a:xfrm>
            <a:off x="713232" y="2286000"/>
            <a:ext cx="1193031" cy="685800"/>
          </a:xfrm>
          <a:prstGeom prst="rect">
            <a:avLst/>
          </a:prstGeom>
          <a:noFill/>
          <a:ln/>
        </p:spPr>
        <p:txBody>
          <a:bodyPr wrap="square" lIns="0" tIns="0" rIns="0" bIns="0" rtlCol="0" anchor="t"/>
          <a:lstStyle/>
          <a:p>
            <a:pPr indent="0" marL="0">
              <a:buNone/>
            </a:pPr>
            <a:r>
              <a:rPr lang="en-US" sz="1150" dirty="0">
                <a:solidFill>
                  <a:schemeClr val="accent5"/>
                </a:solidFill>
              </a:rPr>
              <a:t>chat or form, EN / 中文</a:t>
            </a:r>
            <a:endParaRPr lang="en-US" sz="1150" dirty="0"/>
          </a:p>
        </p:txBody>
      </p:sp>
      <p:sp>
        <p:nvSpPr>
          <p:cNvPr id="7" name="step-2"/>
          <p:cNvSpPr/>
          <p:nvPr/>
        </p:nvSpPr>
        <p:spPr>
          <a:xfrm>
            <a:off x="2153151" y="1417320"/>
            <a:ext cx="1467351" cy="1600200"/>
          </a:xfrm>
          <a:prstGeom prst="roundRect">
            <a:avLst>
              <a:gd name="adj" fmla="val 7478"/>
            </a:avLst>
          </a:prstGeom>
          <a:solidFill>
            <a:schemeClr val="bg1"/>
          </a:solidFill>
          <a:ln w="12700">
            <a:solidFill>
              <a:srgbClr val="D9E2DF"/>
            </a:solidFill>
            <a:prstDash val="solid"/>
          </a:ln>
        </p:spPr>
      </p:sp>
      <p:sp>
        <p:nvSpPr>
          <p:cNvPr id="8" name="Text 6"/>
          <p:cNvSpPr txBox="1"/>
          <p:nvPr/>
        </p:nvSpPr>
        <p:spPr>
          <a:xfrm>
            <a:off x="2317743" y="1536192"/>
            <a:ext cx="548640" cy="36576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7"/>
          <p:cNvSpPr txBox="1"/>
          <p:nvPr/>
        </p:nvSpPr>
        <p:spPr>
          <a:xfrm>
            <a:off x="2317743" y="1920240"/>
            <a:ext cx="1193031" cy="365760"/>
          </a:xfrm>
          <a:prstGeom prst="rect">
            <a:avLst/>
          </a:prstGeom>
          <a:noFill/>
          <a:ln/>
        </p:spPr>
        <p:txBody>
          <a:bodyPr wrap="square" lIns="0" tIns="0" rIns="0" bIns="0" rtlCol="0" anchor="t"/>
          <a:lstStyle/>
          <a:p>
            <a:pPr indent="0" marL="0">
              <a:buNone/>
            </a:pPr>
            <a:r>
              <a:rPr lang="en-US" sz="1600" b="1" dirty="0">
                <a:solidFill>
                  <a:schemeClr val="tx1"/>
                </a:solidFill>
              </a:rPr>
              <a:t>Profile</a:t>
            </a:r>
            <a:endParaRPr lang="en-US" sz="1600" dirty="0"/>
          </a:p>
        </p:txBody>
      </p:sp>
      <p:sp>
        <p:nvSpPr>
          <p:cNvPr id="10" name="Text 8"/>
          <p:cNvSpPr txBox="1"/>
          <p:nvPr/>
        </p:nvSpPr>
        <p:spPr>
          <a:xfrm>
            <a:off x="2317743" y="2286000"/>
            <a:ext cx="1193031" cy="685800"/>
          </a:xfrm>
          <a:prstGeom prst="rect">
            <a:avLst/>
          </a:prstGeom>
          <a:noFill/>
          <a:ln/>
        </p:spPr>
        <p:txBody>
          <a:bodyPr wrap="square" lIns="0" tIns="0" rIns="0" bIns="0" rtlCol="0" anchor="t"/>
          <a:lstStyle/>
          <a:p>
            <a:pPr indent="0" marL="0">
              <a:buNone/>
            </a:pPr>
            <a:r>
              <a:rPr lang="en-US" sz="1150" dirty="0">
                <a:solidFill>
                  <a:schemeClr val="accent5"/>
                </a:solidFill>
              </a:rPr>
              <a:t>C1–C5, lower of capacity and tolerance</a:t>
            </a:r>
            <a:endParaRPr lang="en-US" sz="1150" dirty="0"/>
          </a:p>
        </p:txBody>
      </p:sp>
      <p:sp>
        <p:nvSpPr>
          <p:cNvPr id="11" name="step-3"/>
          <p:cNvSpPr/>
          <p:nvPr/>
        </p:nvSpPr>
        <p:spPr>
          <a:xfrm>
            <a:off x="3757661" y="1417320"/>
            <a:ext cx="1467351" cy="1600200"/>
          </a:xfrm>
          <a:prstGeom prst="roundRect">
            <a:avLst>
              <a:gd name="adj" fmla="val 7478"/>
            </a:avLst>
          </a:prstGeom>
          <a:solidFill>
            <a:schemeClr val="tx2"/>
          </a:solidFill>
          <a:ln w="12700">
            <a:solidFill>
              <a:srgbClr val="07110F"/>
            </a:solidFill>
            <a:prstDash val="solid"/>
          </a:ln>
        </p:spPr>
      </p:sp>
      <p:sp>
        <p:nvSpPr>
          <p:cNvPr id="12" name="Text 10"/>
          <p:cNvSpPr txBox="1"/>
          <p:nvPr/>
        </p:nvSpPr>
        <p:spPr>
          <a:xfrm>
            <a:off x="3922253" y="1536192"/>
            <a:ext cx="548640" cy="365760"/>
          </a:xfrm>
          <a:prstGeom prst="rect">
            <a:avLst/>
          </a:prstGeom>
          <a:noFill/>
          <a:ln/>
        </p:spPr>
        <p:txBody>
          <a:bodyPr wrap="square" lIns="0" tIns="0" rIns="0" bIns="0" rtlCol="0" anchor="t"/>
          <a:lstStyle/>
          <a:p>
            <a:pPr indent="0" marL="0">
              <a:buNone/>
            </a:pPr>
            <a:r>
              <a:rPr lang="en-US" sz="2000" b="1" dirty="0">
                <a:solidFill>
                  <a:schemeClr val="accent2"/>
                </a:solidFill>
              </a:rPr>
              <a:t>3</a:t>
            </a:r>
            <a:endParaRPr lang="en-US" sz="2000" dirty="0"/>
          </a:p>
        </p:txBody>
      </p:sp>
      <p:sp>
        <p:nvSpPr>
          <p:cNvPr id="13" name="Text 11"/>
          <p:cNvSpPr txBox="1"/>
          <p:nvPr/>
        </p:nvSpPr>
        <p:spPr>
          <a:xfrm>
            <a:off x="3922253" y="1920240"/>
            <a:ext cx="1193031" cy="365760"/>
          </a:xfrm>
          <a:prstGeom prst="rect">
            <a:avLst/>
          </a:prstGeom>
          <a:noFill/>
          <a:ln/>
        </p:spPr>
        <p:txBody>
          <a:bodyPr wrap="square" lIns="0" tIns="0" rIns="0" bIns="0" rtlCol="0" anchor="t"/>
          <a:lstStyle/>
          <a:p>
            <a:pPr indent="0" marL="0">
              <a:buNone/>
            </a:pPr>
            <a:r>
              <a:rPr lang="en-US" sz="1600" b="1" dirty="0">
                <a:solidFill>
                  <a:schemeClr val="bg1"/>
                </a:solidFill>
              </a:rPr>
              <a:t>Rehearse</a:t>
            </a:r>
            <a:endParaRPr lang="en-US" sz="1600" dirty="0"/>
          </a:p>
        </p:txBody>
      </p:sp>
      <p:sp>
        <p:nvSpPr>
          <p:cNvPr id="14" name="Text 12"/>
          <p:cNvSpPr txBox="1"/>
          <p:nvPr/>
        </p:nvSpPr>
        <p:spPr>
          <a:xfrm>
            <a:off x="3922253" y="2286000"/>
            <a:ext cx="1193031" cy="685800"/>
          </a:xfrm>
          <a:prstGeom prst="rect">
            <a:avLst/>
          </a:prstGeom>
          <a:noFill/>
          <a:ln/>
        </p:spPr>
        <p:txBody>
          <a:bodyPr wrap="square" lIns="0" tIns="0" rIns="0" bIns="0" rtlCol="0" anchor="t"/>
          <a:lstStyle/>
          <a:p>
            <a:pPr indent="0" marL="0">
              <a:buNone/>
            </a:pPr>
            <a:r>
              <a:rPr lang="en-US" sz="1150" dirty="0">
                <a:solidFill>
                  <a:srgbClr val="BFD0CC"/>
                </a:solidFill>
              </a:rPr>
              <a:t>live through 2008 first</a:t>
            </a:r>
            <a:endParaRPr lang="en-US" sz="1150" dirty="0"/>
          </a:p>
        </p:txBody>
      </p:sp>
      <p:sp>
        <p:nvSpPr>
          <p:cNvPr id="15" name="step-4"/>
          <p:cNvSpPr/>
          <p:nvPr/>
        </p:nvSpPr>
        <p:spPr>
          <a:xfrm>
            <a:off x="5362172" y="1417320"/>
            <a:ext cx="1467351" cy="1600200"/>
          </a:xfrm>
          <a:prstGeom prst="roundRect">
            <a:avLst>
              <a:gd name="adj" fmla="val 7478"/>
            </a:avLst>
          </a:prstGeom>
          <a:solidFill>
            <a:schemeClr val="bg1"/>
          </a:solidFill>
          <a:ln w="12700">
            <a:solidFill>
              <a:srgbClr val="D9E2DF"/>
            </a:solidFill>
            <a:prstDash val="solid"/>
          </a:ln>
        </p:spPr>
      </p:sp>
      <p:sp>
        <p:nvSpPr>
          <p:cNvPr id="16" name="Text 14"/>
          <p:cNvSpPr txBox="1"/>
          <p:nvPr/>
        </p:nvSpPr>
        <p:spPr>
          <a:xfrm>
            <a:off x="5526764" y="1536192"/>
            <a:ext cx="548640" cy="365760"/>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7" name="Text 15"/>
          <p:cNvSpPr txBox="1"/>
          <p:nvPr/>
        </p:nvSpPr>
        <p:spPr>
          <a:xfrm>
            <a:off x="5526764" y="1920240"/>
            <a:ext cx="1193031" cy="365760"/>
          </a:xfrm>
          <a:prstGeom prst="rect">
            <a:avLst/>
          </a:prstGeom>
          <a:noFill/>
          <a:ln/>
        </p:spPr>
        <p:txBody>
          <a:bodyPr wrap="square" lIns="0" tIns="0" rIns="0" bIns="0" rtlCol="0" anchor="t"/>
          <a:lstStyle/>
          <a:p>
            <a:pPr indent="0" marL="0">
              <a:buNone/>
            </a:pPr>
            <a:r>
              <a:rPr lang="en-US" sz="1600" b="1" dirty="0">
                <a:solidFill>
                  <a:schemeClr val="tx1"/>
                </a:solidFill>
              </a:rPr>
              <a:t>Allocate</a:t>
            </a:r>
            <a:endParaRPr lang="en-US" sz="1600" dirty="0"/>
          </a:p>
        </p:txBody>
      </p:sp>
      <p:sp>
        <p:nvSpPr>
          <p:cNvPr id="18" name="Text 16"/>
          <p:cNvSpPr txBox="1"/>
          <p:nvPr/>
        </p:nvSpPr>
        <p:spPr>
          <a:xfrm>
            <a:off x="5526764" y="2286000"/>
            <a:ext cx="1193031" cy="685800"/>
          </a:xfrm>
          <a:prstGeom prst="rect">
            <a:avLst/>
          </a:prstGeom>
          <a:noFill/>
          <a:ln/>
        </p:spPr>
        <p:txBody>
          <a:bodyPr wrap="square" lIns="0" tIns="0" rIns="0" bIns="0" rtlCol="0" anchor="t"/>
          <a:lstStyle/>
          <a:p>
            <a:pPr indent="0" marL="0">
              <a:buNone/>
            </a:pPr>
            <a:r>
              <a:rPr lang="en-US" sz="1150" dirty="0">
                <a:solidFill>
                  <a:schemeClr val="accent5"/>
                </a:solidFill>
              </a:rPr>
              <a:t>real funds, a reason per holding</a:t>
            </a:r>
            <a:endParaRPr lang="en-US" sz="1150" dirty="0"/>
          </a:p>
        </p:txBody>
      </p:sp>
      <p:sp>
        <p:nvSpPr>
          <p:cNvPr id="19" name="step-5"/>
          <p:cNvSpPr/>
          <p:nvPr/>
        </p:nvSpPr>
        <p:spPr>
          <a:xfrm>
            <a:off x="6966683" y="1417320"/>
            <a:ext cx="1467351" cy="1600200"/>
          </a:xfrm>
          <a:prstGeom prst="roundRect">
            <a:avLst>
              <a:gd name="adj" fmla="val 7478"/>
            </a:avLst>
          </a:prstGeom>
          <a:solidFill>
            <a:schemeClr val="bg1"/>
          </a:solidFill>
          <a:ln w="12700">
            <a:solidFill>
              <a:srgbClr val="D9E2DF"/>
            </a:solidFill>
            <a:prstDash val="solid"/>
          </a:ln>
        </p:spPr>
      </p:sp>
      <p:sp>
        <p:nvSpPr>
          <p:cNvPr id="20" name="Text 18"/>
          <p:cNvSpPr txBox="1"/>
          <p:nvPr/>
        </p:nvSpPr>
        <p:spPr>
          <a:xfrm>
            <a:off x="7131275" y="1536192"/>
            <a:ext cx="548640" cy="365760"/>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21" name="Text 19"/>
          <p:cNvSpPr txBox="1"/>
          <p:nvPr/>
        </p:nvSpPr>
        <p:spPr>
          <a:xfrm>
            <a:off x="7131275" y="1920240"/>
            <a:ext cx="1193031" cy="365760"/>
          </a:xfrm>
          <a:prstGeom prst="rect">
            <a:avLst/>
          </a:prstGeom>
          <a:noFill/>
          <a:ln/>
        </p:spPr>
        <p:txBody>
          <a:bodyPr wrap="square" lIns="0" tIns="0" rIns="0" bIns="0" rtlCol="0" anchor="t"/>
          <a:lstStyle/>
          <a:p>
            <a:pPr indent="0" marL="0">
              <a:buNone/>
            </a:pPr>
            <a:r>
              <a:rPr lang="en-US" sz="1600" b="1" dirty="0">
                <a:solidFill>
                  <a:schemeClr val="tx1"/>
                </a:solidFill>
              </a:rPr>
              <a:t>Plan</a:t>
            </a:r>
            <a:endParaRPr lang="en-US" sz="1600" dirty="0"/>
          </a:p>
        </p:txBody>
      </p:sp>
      <p:sp>
        <p:nvSpPr>
          <p:cNvPr id="22" name="Text 20"/>
          <p:cNvSpPr txBox="1"/>
          <p:nvPr/>
        </p:nvSpPr>
        <p:spPr>
          <a:xfrm>
            <a:off x="7131275" y="2286000"/>
            <a:ext cx="1193031" cy="685800"/>
          </a:xfrm>
          <a:prstGeom prst="rect">
            <a:avLst/>
          </a:prstGeom>
          <a:noFill/>
          <a:ln/>
        </p:spPr>
        <p:txBody>
          <a:bodyPr wrap="square" lIns="0" tIns="0" rIns="0" bIns="0" rtlCol="0" anchor="t"/>
          <a:lstStyle/>
          <a:p>
            <a:pPr indent="0" marL="0">
              <a:buNone/>
            </a:pPr>
            <a:r>
              <a:rPr lang="en-US" sz="1150" dirty="0">
                <a:solidFill>
                  <a:schemeClr val="accent5"/>
                </a:solidFill>
              </a:rPr>
              <a:t>goal odds from 5,000 futures</a:t>
            </a:r>
            <a:endParaRPr lang="en-US" sz="1150" dirty="0"/>
          </a:p>
        </p:txBody>
      </p:sp>
      <p:sp>
        <p:nvSpPr>
          <p:cNvPr id="23" name="step-6"/>
          <p:cNvSpPr/>
          <p:nvPr/>
        </p:nvSpPr>
        <p:spPr>
          <a:xfrm>
            <a:off x="8571194" y="1417320"/>
            <a:ext cx="1467351" cy="1600200"/>
          </a:xfrm>
          <a:prstGeom prst="roundRect">
            <a:avLst>
              <a:gd name="adj" fmla="val 7478"/>
            </a:avLst>
          </a:prstGeom>
          <a:solidFill>
            <a:schemeClr val="bg1"/>
          </a:solidFill>
          <a:ln w="12700">
            <a:solidFill>
              <a:srgbClr val="D9E2DF"/>
            </a:solidFill>
            <a:prstDash val="solid"/>
          </a:ln>
        </p:spPr>
      </p:sp>
      <p:sp>
        <p:nvSpPr>
          <p:cNvPr id="24" name="Text 22"/>
          <p:cNvSpPr txBox="1"/>
          <p:nvPr/>
        </p:nvSpPr>
        <p:spPr>
          <a:xfrm>
            <a:off x="8735786" y="1536192"/>
            <a:ext cx="548640" cy="365760"/>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5" name="Text 23"/>
          <p:cNvSpPr txBox="1"/>
          <p:nvPr/>
        </p:nvSpPr>
        <p:spPr>
          <a:xfrm>
            <a:off x="8735786" y="1920240"/>
            <a:ext cx="1193031" cy="365760"/>
          </a:xfrm>
          <a:prstGeom prst="rect">
            <a:avLst/>
          </a:prstGeom>
          <a:noFill/>
          <a:ln/>
        </p:spPr>
        <p:txBody>
          <a:bodyPr wrap="square" lIns="0" tIns="0" rIns="0" bIns="0" rtlCol="0" anchor="t"/>
          <a:lstStyle/>
          <a:p>
            <a:pPr indent="0" marL="0">
              <a:buNone/>
            </a:pPr>
            <a:r>
              <a:rPr lang="en-US" sz="1600" b="1" dirty="0">
                <a:solidFill>
                  <a:schemeClr val="tx1"/>
                </a:solidFill>
              </a:rPr>
              <a:t>Stress</a:t>
            </a:r>
            <a:endParaRPr lang="en-US" sz="1600" dirty="0"/>
          </a:p>
        </p:txBody>
      </p:sp>
      <p:sp>
        <p:nvSpPr>
          <p:cNvPr id="26" name="Text 24"/>
          <p:cNvSpPr txBox="1"/>
          <p:nvPr/>
        </p:nvSpPr>
        <p:spPr>
          <a:xfrm>
            <a:off x="8735786" y="2286000"/>
            <a:ext cx="1193031" cy="685800"/>
          </a:xfrm>
          <a:prstGeom prst="rect">
            <a:avLst/>
          </a:prstGeom>
          <a:noFill/>
          <a:ln/>
        </p:spPr>
        <p:txBody>
          <a:bodyPr wrap="square" lIns="0" tIns="0" rIns="0" bIns="0" rtlCol="0" anchor="t"/>
          <a:lstStyle/>
          <a:p>
            <a:pPr indent="0" marL="0">
              <a:buNone/>
            </a:pPr>
            <a:r>
              <a:rPr lang="en-US" sz="1150" dirty="0">
                <a:solidFill>
                  <a:schemeClr val="accent5"/>
                </a:solidFill>
              </a:rPr>
              <a:t>against the client's own limit</a:t>
            </a:r>
            <a:endParaRPr lang="en-US" sz="1150" dirty="0"/>
          </a:p>
        </p:txBody>
      </p:sp>
      <p:sp>
        <p:nvSpPr>
          <p:cNvPr id="27" name="step-7"/>
          <p:cNvSpPr/>
          <p:nvPr/>
        </p:nvSpPr>
        <p:spPr>
          <a:xfrm>
            <a:off x="10175704" y="1417320"/>
            <a:ext cx="1467351" cy="1600200"/>
          </a:xfrm>
          <a:prstGeom prst="roundRect">
            <a:avLst>
              <a:gd name="adj" fmla="val 7478"/>
            </a:avLst>
          </a:prstGeom>
          <a:solidFill>
            <a:schemeClr val="bg1"/>
          </a:solidFill>
          <a:ln w="12700">
            <a:solidFill>
              <a:srgbClr val="D9E2DF"/>
            </a:solidFill>
            <a:prstDash val="solid"/>
          </a:ln>
        </p:spPr>
      </p:sp>
      <p:sp>
        <p:nvSpPr>
          <p:cNvPr id="28" name="Text 26"/>
          <p:cNvSpPr txBox="1"/>
          <p:nvPr/>
        </p:nvSpPr>
        <p:spPr>
          <a:xfrm>
            <a:off x="10340296" y="1536192"/>
            <a:ext cx="548640" cy="365760"/>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9" name="Text 27"/>
          <p:cNvSpPr txBox="1"/>
          <p:nvPr/>
        </p:nvSpPr>
        <p:spPr>
          <a:xfrm>
            <a:off x="10340296" y="1920240"/>
            <a:ext cx="1193031" cy="365760"/>
          </a:xfrm>
          <a:prstGeom prst="rect">
            <a:avLst/>
          </a:prstGeom>
          <a:noFill/>
          <a:ln/>
        </p:spPr>
        <p:txBody>
          <a:bodyPr wrap="square" lIns="0" tIns="0" rIns="0" bIns="0" rtlCol="0" anchor="t"/>
          <a:lstStyle/>
          <a:p>
            <a:pPr indent="0" marL="0">
              <a:buNone/>
            </a:pPr>
            <a:r>
              <a:rPr lang="en-US" sz="1600" b="1" dirty="0">
                <a:solidFill>
                  <a:schemeClr val="tx1"/>
                </a:solidFill>
              </a:rPr>
              <a:t>Execute</a:t>
            </a:r>
            <a:endParaRPr lang="en-US" sz="1600" dirty="0"/>
          </a:p>
        </p:txBody>
      </p:sp>
      <p:sp>
        <p:nvSpPr>
          <p:cNvPr id="30" name="Text 28"/>
          <p:cNvSpPr txBox="1"/>
          <p:nvPr/>
        </p:nvSpPr>
        <p:spPr>
          <a:xfrm>
            <a:off x="10340296" y="2286000"/>
            <a:ext cx="1193031" cy="685800"/>
          </a:xfrm>
          <a:prstGeom prst="rect">
            <a:avLst/>
          </a:prstGeom>
          <a:noFill/>
          <a:ln/>
        </p:spPr>
        <p:txBody>
          <a:bodyPr wrap="square" lIns="0" tIns="0" rIns="0" bIns="0" rtlCol="0" anchor="t"/>
          <a:lstStyle/>
          <a:p>
            <a:pPr indent="0" marL="0">
              <a:buNone/>
            </a:pPr>
            <a:r>
              <a:rPr lang="en-US" sz="1150" dirty="0">
                <a:solidFill>
                  <a:schemeClr val="accent5"/>
                </a:solidFill>
              </a:rPr>
              <a:t>signed, held, on-chain</a:t>
            </a:r>
            <a:endParaRPr lang="en-US" sz="1150" dirty="0"/>
          </a:p>
        </p:txBody>
      </p:sp>
      <p:pic>
        <p:nvPicPr>
          <p:cNvPr id="31" name="screenshot-portfolio" descr="Lucid web app: recommended portfolio, every number linked to the function that computed it">    </p:cNvPr>
          <p:cNvPicPr>
            <a:picLocks noChangeAspect="1"/>
          </p:cNvPicPr>
          <p:nvPr/>
        </p:nvPicPr>
        <p:blipFill>
          <a:blip r:embed="rId1"/>
          <a:srcRect l="0" r="0" t="0" b="0"/>
          <a:stretch/>
        </p:blipFill>
        <p:spPr>
          <a:xfrm>
            <a:off x="1828800" y="3246120"/>
            <a:ext cx="8503920" cy="3017520"/>
          </a:xfrm>
          <a:prstGeom prst="rect">
            <a:avLst/>
          </a:prstGeom>
        </p:spPr>
      </p:pic>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463040"/>
            <a:ext cx="10515600" cy="2560320"/>
          </a:xfrm>
          <a:prstGeom prst="rect">
            <a:avLst/>
          </a:prstGeom>
          <a:noFill/>
          <a:ln/>
        </p:spPr>
        <p:txBody>
          <a:bodyPr wrap="square" lIns="0" tIns="0" rIns="0" bIns="0" rtlCol="0" anchor="b"/>
          <a:lstStyle/>
          <a:p>
            <a:pPr indent="0" marL="0">
              <a:buNone/>
            </a:pPr>
            <a:r>
              <a:rPr lang="en-US" sz="4800" dirty="0">
                <a:solidFill>
                  <a:schemeClr val="bg1"/>
                </a:solidFill>
                <a:latin typeface="Cambria" pitchFamily="34" charset="0"/>
                <a:ea typeface="Cambria" pitchFamily="34" charset="-122"/>
                <a:cs typeface="Cambria" pitchFamily="34" charset="-120"/>
              </a:rPr>
              <a:t>Every robo-advisor stress-tests the portfolio. </a:t>
            </a:r>
            <a:pPr indent="0" marL="0">
              <a:buNone/>
            </a:pPr>
            <a:r>
              <a:rPr lang="en-US" sz="4800" dirty="0">
                <a:solidFill>
                  <a:schemeClr val="accent2"/>
                </a:solidFill>
                <a:latin typeface="Cambria" pitchFamily="34" charset="0"/>
                <a:ea typeface="Cambria" pitchFamily="34" charset="-122"/>
                <a:cs typeface="Cambria" pitchFamily="34" charset="-120"/>
              </a:rPr>
              <a:t>We stress-test the investor.</a:t>
            </a:r>
            <a:endParaRPr lang="en-US" sz="4800" dirty="0"/>
          </a:p>
        </p:txBody>
      </p:sp>
      <p:sp>
        <p:nvSpPr>
          <p:cNvPr id="3" name="Text 1"/>
          <p:cNvSpPr txBox="1"/>
          <p:nvPr/>
        </p:nvSpPr>
        <p:spPr>
          <a:xfrm>
            <a:off x="548640" y="4297680"/>
            <a:ext cx="9144000" cy="914400"/>
          </a:xfrm>
          <a:prstGeom prst="rect">
            <a:avLst/>
          </a:prstGeom>
          <a:noFill/>
          <a:ln/>
        </p:spPr>
        <p:txBody>
          <a:bodyPr wrap="square" lIns="0" tIns="0" rIns="0" bIns="0" rtlCol="0" anchor="t"/>
          <a:lstStyle/>
          <a:p>
            <a:pPr indent="0" marL="0">
              <a:buNone/>
            </a:pPr>
            <a:r>
              <a:rPr lang="en-US" sz="2000" dirty="0">
                <a:solidFill>
                  <a:srgbClr val="BFD0CC"/>
                </a:solidFill>
              </a:rPr>
              <a:t>Before any money moves, the client lives through 2008 with the exact portfolio we recommend, and can press Sell at any moment.</a:t>
            </a:r>
            <a:endParaRPr lang="en-US" sz="2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Crash Rehearsal: what clients do, not what they say</a:t>
            </a:r>
            <a:endParaRPr lang="en-US" sz="3400" dirty="0"/>
          </a:p>
        </p:txBody>
      </p:sp>
      <p:pic>
        <p:nvPicPr>
          <p:cNvPr id="3" name="screenshot-rehearsal" descr="Crash Rehearsal screen: the client's portfolio falling to 88,033 in September 2008 with the Lehman headline and a Sell everything button">    </p:cNvPr>
          <p:cNvPicPr>
            <a:picLocks noChangeAspect="1"/>
          </p:cNvPicPr>
          <p:nvPr/>
        </p:nvPicPr>
        <p:blipFill>
          <a:blip r:embed="rId1"/>
          <a:srcRect l="0" r="0" t="0" b="0"/>
          <a:stretch/>
        </p:blipFill>
        <p:spPr>
          <a:xfrm>
            <a:off x="548640" y="1417320"/>
            <a:ext cx="6035040" cy="3794760"/>
          </a:xfrm>
          <a:prstGeom prst="rect">
            <a:avLst/>
          </a:prstGeom>
        </p:spPr>
      </p:pic>
      <p:sp>
        <p:nvSpPr>
          <p:cNvPr id="4" name="Text 1"/>
          <p:cNvSpPr txBox="1"/>
          <p:nvPr/>
        </p:nvSpPr>
        <p:spPr>
          <a:xfrm>
            <a:off x="6949440" y="1417320"/>
            <a:ext cx="4693615" cy="320040"/>
          </a:xfrm>
          <a:prstGeom prst="rect">
            <a:avLst/>
          </a:prstGeom>
          <a:noFill/>
          <a:ln/>
        </p:spPr>
        <p:txBody>
          <a:bodyPr wrap="square" lIns="0" tIns="0" rIns="0" bIns="0" rtlCol="0" anchor="t"/>
          <a:lstStyle/>
          <a:p>
            <a:pPr indent="0" marL="0">
              <a:buNone/>
            </a:pPr>
            <a:r>
              <a:rPr lang="en-US" sz="1600" b="1" dirty="0">
                <a:solidFill>
                  <a:schemeClr val="accent1"/>
                </a:solidFill>
              </a:rPr>
              <a:t>Real history</a:t>
            </a:r>
            <a:endParaRPr lang="en-US" sz="1600" dirty="0"/>
          </a:p>
        </p:txBody>
      </p:sp>
      <p:sp>
        <p:nvSpPr>
          <p:cNvPr id="5" name="Text 2"/>
          <p:cNvSpPr txBox="1"/>
          <p:nvPr/>
        </p:nvSpPr>
        <p:spPr>
          <a:xfrm>
            <a:off x="6949440" y="1746504"/>
            <a:ext cx="4693615" cy="640080"/>
          </a:xfrm>
          <a:prstGeom prst="rect">
            <a:avLst/>
          </a:prstGeom>
          <a:noFill/>
          <a:ln/>
        </p:spPr>
        <p:txBody>
          <a:bodyPr wrap="square" lIns="0" tIns="0" rIns="0" bIns="0" rtlCol="0" anchor="t"/>
          <a:lstStyle/>
          <a:p>
            <a:pPr indent="0" marL="0">
              <a:buNone/>
            </a:pPr>
            <a:r>
              <a:rPr lang="en-US" sz="1350" dirty="0">
                <a:solidFill>
                  <a:schemeClr val="tx1"/>
                </a:solidFill>
              </a:rPr>
              <a:t>Oct 2007 – Mar 2013, month by month. Kenneth R. French, FRED and World Bank data; the headlines of the time.</a:t>
            </a:r>
            <a:endParaRPr lang="en-US" sz="1350" dirty="0"/>
          </a:p>
        </p:txBody>
      </p:sp>
      <p:sp>
        <p:nvSpPr>
          <p:cNvPr id="6" name="Text 3"/>
          <p:cNvSpPr txBox="1"/>
          <p:nvPr/>
        </p:nvSpPr>
        <p:spPr>
          <a:xfrm>
            <a:off x="6949440" y="2441448"/>
            <a:ext cx="4693615" cy="320040"/>
          </a:xfrm>
          <a:prstGeom prst="rect">
            <a:avLst/>
          </a:prstGeom>
          <a:noFill/>
          <a:ln/>
        </p:spPr>
        <p:txBody>
          <a:bodyPr wrap="square" lIns="0" tIns="0" rIns="0" bIns="0" rtlCol="0" anchor="t"/>
          <a:lstStyle/>
          <a:p>
            <a:pPr indent="0" marL="0">
              <a:buNone/>
            </a:pPr>
            <a:r>
              <a:rPr lang="en-US" sz="1600" b="1" dirty="0">
                <a:solidFill>
                  <a:schemeClr val="accent1"/>
                </a:solidFill>
              </a:rPr>
              <a:t>Revealed tolerance</a:t>
            </a:r>
            <a:endParaRPr lang="en-US" sz="1600" dirty="0"/>
          </a:p>
        </p:txBody>
      </p:sp>
      <p:sp>
        <p:nvSpPr>
          <p:cNvPr id="7" name="Text 4"/>
          <p:cNvSpPr txBox="1"/>
          <p:nvPr/>
        </p:nvSpPr>
        <p:spPr>
          <a:xfrm>
            <a:off x="6949440" y="2770632"/>
            <a:ext cx="4693615" cy="640080"/>
          </a:xfrm>
          <a:prstGeom prst="rect">
            <a:avLst/>
          </a:prstGeom>
          <a:noFill/>
          <a:ln/>
        </p:spPr>
        <p:txBody>
          <a:bodyPr wrap="square" lIns="0" tIns="0" rIns="0" bIns="0" rtlCol="0" anchor="t"/>
          <a:lstStyle/>
          <a:p>
            <a:pPr indent="0" marL="0">
              <a:buNone/>
            </a:pPr>
            <a:r>
              <a:rPr lang="en-US" sz="1350" dirty="0">
                <a:solidFill>
                  <a:schemeClr val="tx1"/>
                </a:solidFill>
              </a:rPr>
              <a:t>Where the client sells sets the class the behaviour supports: below 5% C1 … below 25% C4.</a:t>
            </a:r>
            <a:endParaRPr lang="en-US" sz="1350" dirty="0"/>
          </a:p>
        </p:txBody>
      </p:sp>
      <p:sp>
        <p:nvSpPr>
          <p:cNvPr id="8" name="Text 5"/>
          <p:cNvSpPr txBox="1"/>
          <p:nvPr/>
        </p:nvSpPr>
        <p:spPr>
          <a:xfrm>
            <a:off x="6949440" y="3465576"/>
            <a:ext cx="4693615" cy="320040"/>
          </a:xfrm>
          <a:prstGeom prst="rect">
            <a:avLst/>
          </a:prstGeom>
          <a:noFill/>
          <a:ln/>
        </p:spPr>
        <p:txBody>
          <a:bodyPr wrap="square" lIns="0" tIns="0" rIns="0" bIns="0" rtlCol="0" anchor="t"/>
          <a:lstStyle/>
          <a:p>
            <a:pPr indent="0" marL="0">
              <a:buNone/>
            </a:pPr>
            <a:r>
              <a:rPr lang="en-US" sz="1600" b="1" dirty="0">
                <a:solidFill>
                  <a:schemeClr val="accent1"/>
                </a:solidFill>
              </a:rPr>
              <a:t>Only ever safer</a:t>
            </a:r>
            <a:endParaRPr lang="en-US" sz="1600" dirty="0"/>
          </a:p>
        </p:txBody>
      </p:sp>
      <p:sp>
        <p:nvSpPr>
          <p:cNvPr id="9" name="Text 6"/>
          <p:cNvSpPr txBox="1"/>
          <p:nvPr/>
        </p:nvSpPr>
        <p:spPr>
          <a:xfrm>
            <a:off x="6949440" y="3794760"/>
            <a:ext cx="4693615" cy="640080"/>
          </a:xfrm>
          <a:prstGeom prst="rect">
            <a:avLst/>
          </a:prstGeom>
          <a:noFill/>
          <a:ln/>
        </p:spPr>
        <p:txBody>
          <a:bodyPr wrap="square" lIns="0" tIns="0" rIns="0" bIns="0" rtlCol="0" anchor="t"/>
          <a:lstStyle/>
          <a:p>
            <a:pPr indent="0" marL="0">
              <a:buNone/>
            </a:pPr>
            <a:r>
              <a:rPr lang="en-US" sz="1350" dirty="0">
                <a:solidFill>
                  <a:schemeClr val="tx1"/>
                </a:solidFill>
              </a:rPr>
              <a:t>New class = lower of stated and revealed. Holding never raises it. Logged and on the client's report.</a:t>
            </a:r>
            <a:endParaRPr lang="en-US" sz="1350" dirty="0"/>
          </a:p>
        </p:txBody>
      </p:sp>
      <p:sp>
        <p:nvSpPr>
          <p:cNvPr id="10" name="rehearsal-example"/>
          <p:cNvSpPr/>
          <p:nvPr/>
        </p:nvSpPr>
        <p:spPr>
          <a:xfrm>
            <a:off x="548640" y="5440680"/>
            <a:ext cx="11094415" cy="777240"/>
          </a:xfrm>
          <a:prstGeom prst="roundRect">
            <a:avLst>
              <a:gd name="adj" fmla="val 14118"/>
            </a:avLst>
          </a:prstGeom>
          <a:solidFill>
            <a:schemeClr val="tx2"/>
          </a:solidFill>
          <a:ln w="12700">
            <a:solidFill>
              <a:srgbClr val="07110F"/>
            </a:solidFill>
            <a:prstDash val="solid"/>
          </a:ln>
        </p:spPr>
      </p:sp>
      <p:sp>
        <p:nvSpPr>
          <p:cNvPr id="11" name="Text 8"/>
          <p:cNvSpPr txBox="1"/>
          <p:nvPr/>
        </p:nvSpPr>
        <p:spPr>
          <a:xfrm>
            <a:off x="822960" y="5440680"/>
            <a:ext cx="10545775" cy="777240"/>
          </a:xfrm>
          <a:prstGeom prst="rect">
            <a:avLst/>
          </a:prstGeom>
          <a:noFill/>
          <a:ln/>
        </p:spPr>
        <p:txBody>
          <a:bodyPr wrap="square" lIns="0" tIns="0" rIns="0" bIns="0" rtlCol="0" anchor="ctr"/>
          <a:lstStyle/>
          <a:p>
            <a:pPr indent="0" marL="0">
              <a:buNone/>
            </a:pPr>
            <a:r>
              <a:rPr lang="en-US" sz="1600" b="1" dirty="0">
                <a:solidFill>
                  <a:schemeClr val="accent6"/>
                </a:solidFill>
              </a:rPr>
              <a:t>Real session:  </a:t>
            </a:r>
            <a:pPr indent="0" marL="0">
              <a:buNone/>
            </a:pPr>
            <a:r>
              <a:rPr lang="en-US" sz="1600" dirty="0">
                <a:solidFill>
                  <a:schemeClr val="bg1"/>
                </a:solidFill>
              </a:rPr>
              <a:t>said “I would buy more”  ·  sold in Sept 2008 at −13.5%  ·  class C5 → C3  ·  </a:t>
            </a:r>
            <a:pPr indent="0" marL="0">
              <a:buNone/>
            </a:pPr>
            <a:r>
              <a:rPr lang="en-US" sz="1600" b="1" dirty="0">
                <a:solidFill>
                  <a:schemeClr val="accent2"/>
                </a:solidFill>
              </a:rPr>
              <a:t>cost of panic −42,329 on 100,000</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The model talks. Code decides.</a:t>
            </a:r>
            <a:endParaRPr lang="en-US" sz="3400" dirty="0"/>
          </a:p>
        </p:txBody>
      </p:sp>
      <p:graphicFrame>
        <p:nvGraphicFramePr>
          <p:cNvPr id="7" name="boundary-table"/>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2560320"/>
                <a:gridCol w="2194560"/>
                <a:gridCol w="2194560"/>
              </a:tblGrid>
              <a:tr h="566928">
                <a:tc>
                  <a:txBody>
                    <a:bodyPr/>
                    <a:lstStyle/>
                    <a:p>
                      <a:pPr indent="0" marL="0">
                        <a:buNone/>
                      </a:pPr>
                      <a:r>
                        <a:rPr lang="en-US" sz="1400" b="1" dirty="0">
                          <a:solidFill>
                            <a:schemeClr val="bg1"/>
                          </a:solidFill>
                        </a:rPr>
                        <a:t>Concern</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Owned by</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Why</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accent1"/>
                    </a:solidFill>
                  </a:tcPr>
                </a:tc>
              </a:tr>
              <a:tr h="566928">
                <a:tc>
                  <a:txBody>
                    <a:bodyPr/>
                    <a:lstStyle/>
                    <a:p>
                      <a:pPr indent="0" marL="0">
                        <a:buNone/>
                      </a:pPr>
                      <a:r>
                        <a:rPr lang="en-US" sz="1300" dirty="0">
                          <a:solidFill>
                            <a:schemeClr val="tx1"/>
                          </a:solidFill>
                        </a:rPr>
                        <a:t>Conversation, explanations</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Language model (Groq)</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Language is what models are good at</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Risk class, weights, returns, fees, stress, goal odds</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Deterministic, tested Python</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Reproducible; no invented figures</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Suitability C ≥ R, liquidity, limits, cooling-off</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Server code</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Cannot be talked around</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Placing an order</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client only, one-time token</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model has no tool that can trade</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Record of what happened</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Hash-chained log on FISCO BCOS</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Tamper-evident, independently checkable</a:t>
                      </a:r>
                      <a:endParaRPr lang="en-US" sz="13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bl>
          </a:graphicData>
        </a:graphic>
      </p:graphicFrame>
      <p:sp>
        <p:nvSpPr>
          <p:cNvPr id="4" name="provenance-card"/>
          <p:cNvSpPr/>
          <p:nvPr/>
        </p:nvSpPr>
        <p:spPr>
          <a:xfrm>
            <a:off x="7863840" y="1417320"/>
            <a:ext cx="3779215" cy="4480560"/>
          </a:xfrm>
          <a:prstGeom prst="roundRect">
            <a:avLst>
              <a:gd name="adj" fmla="val 2903"/>
            </a:avLst>
          </a:prstGeom>
          <a:solidFill>
            <a:schemeClr val="bg1"/>
          </a:solidFill>
          <a:ln w="12700">
            <a:solidFill>
              <a:srgbClr val="D9E2DF"/>
            </a:solidFill>
            <a:prstDash val="solid"/>
          </a:ln>
        </p:spPr>
      </p:sp>
      <p:sp>
        <p:nvSpPr>
          <p:cNvPr id="5" name="Text 2"/>
          <p:cNvSpPr txBox="1"/>
          <p:nvPr/>
        </p:nvSpPr>
        <p:spPr>
          <a:xfrm>
            <a:off x="8138160" y="1645920"/>
            <a:ext cx="3230575" cy="411480"/>
          </a:xfrm>
          <a:prstGeom prst="rect">
            <a:avLst/>
          </a:prstGeom>
          <a:noFill/>
          <a:ln/>
        </p:spPr>
        <p:txBody>
          <a:bodyPr wrap="square" lIns="0" tIns="0" rIns="0" bIns="0" rtlCol="0" anchor="t"/>
          <a:lstStyle/>
          <a:p>
            <a:pPr indent="0" marL="0">
              <a:buNone/>
            </a:pPr>
            <a:r>
              <a:rPr lang="en-US" sz="1700" b="1" dirty="0">
                <a:solidFill>
                  <a:schemeClr val="accent1"/>
                </a:solidFill>
              </a:rPr>
              <a:t>Every number shows its source</a:t>
            </a:r>
            <a:endParaRPr lang="en-US" sz="1700" dirty="0"/>
          </a:p>
        </p:txBody>
      </p:sp>
      <p:sp>
        <p:nvSpPr>
          <p:cNvPr id="6" name="Text 3"/>
          <p:cNvSpPr txBox="1"/>
          <p:nvPr/>
        </p:nvSpPr>
        <p:spPr>
          <a:xfrm>
            <a:off x="8138160" y="2148840"/>
            <a:ext cx="3230575" cy="3566160"/>
          </a:xfrm>
          <a:prstGeom prst="rect">
            <a:avLst/>
          </a:prstGeom>
          <a:noFill/>
          <a:ln/>
        </p:spPr>
        <p:txBody>
          <a:bodyPr wrap="square" lIns="0" tIns="0" rIns="0" bIns="0" rtlCol="0" anchor="t"/>
          <a:lstStyle/>
          <a:p>
            <a:pPr indent="0" marL="0">
              <a:buNone/>
            </a:pPr>
            <a:r>
              <a:rPr lang="en-US" sz="1400" dirty="0">
                <a:solidFill>
                  <a:schemeClr val="tx1"/>
                </a:solidFill>
              </a:rPr>
              <a:t>Tap 7.39% → “Computed by allocation.build_allocation() · audit record 1d99…”.</a:t>
            </a:r>
            <a:endParaRPr lang="en-US" sz="1400" dirty="0"/>
          </a:p>
          <a:p>
            <a:pPr indent="0" marL="0">
              <a:buNone/>
            </a:pPr>
            <a:endParaRPr lang="en-US" sz="1400" dirty="0"/>
          </a:p>
          <a:p>
            <a:pPr indent="0" marL="0">
              <a:buNone/>
            </a:pPr>
            <a:r>
              <a:rPr lang="en-US" sz="1400" dirty="0">
                <a:solidFill>
                  <a:schemeClr val="tx1"/>
                </a:solidFill>
              </a:rPr>
              <a:t>The audit-chain head is written to an AuditAnchor smart contract on WeBank's FISCO BCOS after every trade; Verify recomputes the log and compares. Edit one record: ✗.</a:t>
            </a:r>
            <a:endParaRPr lang="en-US" sz="1400" dirty="0"/>
          </a:p>
          <a:p>
            <a:pPr indent="0" marL="0">
              <a:buNone/>
            </a:pPr>
            <a:endParaRPr lang="en-US" sz="1400" dirty="0"/>
          </a:p>
          <a:p>
            <a:pPr indent="0" marL="0">
              <a:buNone/>
            </a:pPr>
            <a:r>
              <a:rPr lang="en-US" sz="1400" dirty="0">
                <a:solidFill>
                  <a:schemeClr val="tx1"/>
                </a:solidFill>
              </a:rPr>
              <a:t>The client's Advice Report carries its own SHA-256 in the chain.</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Advice on 24 real Chinese public funds</a:t>
            </a:r>
            <a:endParaRPr lang="en-US" sz="3400" dirty="0"/>
          </a:p>
        </p:txBody>
      </p:sp>
      <p:sp>
        <p:nvSpPr>
          <p:cNvPr id="3" name="fact-dot-1"/>
          <p:cNvSpPr/>
          <p:nvPr/>
        </p:nvSpPr>
        <p:spPr>
          <a:xfrm>
            <a:off x="548640" y="1508760"/>
            <a:ext cx="292608" cy="292608"/>
          </a:xfrm>
          <a:prstGeom prst="ellipse">
            <a:avLst/>
          </a:prstGeom>
          <a:solidFill>
            <a:schemeClr val="accent1"/>
          </a:solidFill>
          <a:ln w="12700">
            <a:solidFill>
              <a:schemeClr val="accent1"/>
            </a:solidFill>
            <a:prstDash val="solid"/>
          </a:ln>
        </p:spPr>
      </p:sp>
      <p:sp>
        <p:nvSpPr>
          <p:cNvPr id="4" name="Text 2"/>
          <p:cNvSpPr txBox="1"/>
          <p:nvPr/>
        </p:nvSpPr>
        <p:spPr>
          <a:xfrm>
            <a:off x="1005840" y="1463040"/>
            <a:ext cx="4754880" cy="365760"/>
          </a:xfrm>
          <a:prstGeom prst="rect">
            <a:avLst/>
          </a:prstGeom>
          <a:noFill/>
          <a:ln/>
        </p:spPr>
        <p:txBody>
          <a:bodyPr wrap="square" lIns="0" tIns="0" rIns="0" bIns="0" rtlCol="0" anchor="t"/>
          <a:lstStyle/>
          <a:p>
            <a:pPr indent="0" marL="0">
              <a:buNone/>
            </a:pPr>
            <a:r>
              <a:rPr lang="en-US" sz="1600" b="1" dirty="0">
                <a:solidFill>
                  <a:schemeClr val="tx1"/>
                </a:solidFill>
              </a:rPr>
              <a:t>Open data</a:t>
            </a:r>
            <a:endParaRPr lang="en-US" sz="1600" dirty="0"/>
          </a:p>
        </p:txBody>
      </p:sp>
      <p:sp>
        <p:nvSpPr>
          <p:cNvPr id="5" name="Text 3"/>
          <p:cNvSpPr txBox="1"/>
          <p:nvPr/>
        </p:nvSpPr>
        <p:spPr>
          <a:xfrm>
            <a:off x="1005840" y="1828800"/>
            <a:ext cx="4754880" cy="640080"/>
          </a:xfrm>
          <a:prstGeom prst="rect">
            <a:avLst/>
          </a:prstGeom>
          <a:noFill/>
          <a:ln/>
        </p:spPr>
        <p:txBody>
          <a:bodyPr wrap="square" lIns="0" tIns="0" rIns="0" bIns="0" rtlCol="0" anchor="t"/>
          <a:lstStyle/>
          <a:p>
            <a:pPr indent="0" marL="0">
              <a:buNone/>
            </a:pPr>
            <a:r>
              <a:rPr lang="en-US" sz="1350" dirty="0">
                <a:solidFill>
                  <a:schemeClr val="accent5"/>
                </a:solidFill>
              </a:rPr>
              <a:t>East Money / Tiantian Fund pages, the source the AkShare library uses</a:t>
            </a:r>
            <a:endParaRPr lang="en-US" sz="1350" dirty="0"/>
          </a:p>
        </p:txBody>
      </p:sp>
      <p:sp>
        <p:nvSpPr>
          <p:cNvPr id="6" name="fact-dot-2"/>
          <p:cNvSpPr/>
          <p:nvPr/>
        </p:nvSpPr>
        <p:spPr>
          <a:xfrm>
            <a:off x="548640" y="2606040"/>
            <a:ext cx="292608" cy="292608"/>
          </a:xfrm>
          <a:prstGeom prst="ellipse">
            <a:avLst/>
          </a:prstGeom>
          <a:solidFill>
            <a:schemeClr val="accent1"/>
          </a:solidFill>
          <a:ln w="12700">
            <a:solidFill>
              <a:schemeClr val="accent1"/>
            </a:solidFill>
            <a:prstDash val="solid"/>
          </a:ln>
        </p:spPr>
      </p:sp>
      <p:sp>
        <p:nvSpPr>
          <p:cNvPr id="7" name="Text 5"/>
          <p:cNvSpPr txBox="1"/>
          <p:nvPr/>
        </p:nvSpPr>
        <p:spPr>
          <a:xfrm>
            <a:off x="1005840" y="2560320"/>
            <a:ext cx="4754880" cy="365760"/>
          </a:xfrm>
          <a:prstGeom prst="rect">
            <a:avLst/>
          </a:prstGeom>
          <a:noFill/>
          <a:ln/>
        </p:spPr>
        <p:txBody>
          <a:bodyPr wrap="square" lIns="0" tIns="0" rIns="0" bIns="0" rtlCol="0" anchor="t"/>
          <a:lstStyle/>
          <a:p>
            <a:pPr indent="0" marL="0">
              <a:buNone/>
            </a:pPr>
            <a:r>
              <a:rPr lang="en-US" sz="1600" b="1" dirty="0">
                <a:solidFill>
                  <a:schemeClr val="tx1"/>
                </a:solidFill>
              </a:rPr>
              <a:t>Real risk levels</a:t>
            </a:r>
            <a:endParaRPr lang="en-US" sz="1600" dirty="0"/>
          </a:p>
        </p:txBody>
      </p:sp>
      <p:sp>
        <p:nvSpPr>
          <p:cNvPr id="8" name="Text 6"/>
          <p:cNvSpPr txBox="1"/>
          <p:nvPr/>
        </p:nvSpPr>
        <p:spPr>
          <a:xfrm>
            <a:off x="1005840" y="2926080"/>
            <a:ext cx="4754880" cy="640080"/>
          </a:xfrm>
          <a:prstGeom prst="rect">
            <a:avLst/>
          </a:prstGeom>
          <a:noFill/>
          <a:ln/>
        </p:spPr>
        <p:txBody>
          <a:bodyPr wrap="square" lIns="0" tIns="0" rIns="0" bIns="0" rtlCol="0" anchor="t"/>
          <a:lstStyle/>
          <a:p>
            <a:pPr indent="0" marL="0">
              <a:buNone/>
            </a:pPr>
            <a:r>
              <a:rPr lang="en-US" sz="1350" dirty="0">
                <a:solidFill>
                  <a:schemeClr val="accent5"/>
                </a:solidFill>
              </a:rPr>
              <a:t>Distributor labels 低风险 … 高风险 mapped to R1 … R5</a:t>
            </a:r>
            <a:endParaRPr lang="en-US" sz="1350" dirty="0"/>
          </a:p>
        </p:txBody>
      </p:sp>
      <p:sp>
        <p:nvSpPr>
          <p:cNvPr id="9" name="fact-dot-3"/>
          <p:cNvSpPr/>
          <p:nvPr/>
        </p:nvSpPr>
        <p:spPr>
          <a:xfrm>
            <a:off x="548640" y="3703320"/>
            <a:ext cx="292608" cy="292608"/>
          </a:xfrm>
          <a:prstGeom prst="ellipse">
            <a:avLst/>
          </a:prstGeom>
          <a:solidFill>
            <a:schemeClr val="accent1"/>
          </a:solidFill>
          <a:ln w="12700">
            <a:solidFill>
              <a:schemeClr val="accent1"/>
            </a:solidFill>
            <a:prstDash val="solid"/>
          </a:ln>
        </p:spPr>
      </p:sp>
      <p:sp>
        <p:nvSpPr>
          <p:cNvPr id="10" name="Text 8"/>
          <p:cNvSpPr txBox="1"/>
          <p:nvPr/>
        </p:nvSpPr>
        <p:spPr>
          <a:xfrm>
            <a:off x="1005840" y="3657600"/>
            <a:ext cx="4754880" cy="365760"/>
          </a:xfrm>
          <a:prstGeom prst="rect">
            <a:avLst/>
          </a:prstGeom>
          <a:noFill/>
          <a:ln/>
        </p:spPr>
        <p:txBody>
          <a:bodyPr wrap="square" lIns="0" tIns="0" rIns="0" bIns="0" rtlCol="0" anchor="t"/>
          <a:lstStyle/>
          <a:p>
            <a:pPr indent="0" marL="0">
              <a:buNone/>
            </a:pPr>
            <a:r>
              <a:rPr lang="en-US" sz="1600" b="1" dirty="0">
                <a:solidFill>
                  <a:schemeClr val="tx1"/>
                </a:solidFill>
              </a:rPr>
              <a:t>Real costs</a:t>
            </a:r>
            <a:endParaRPr lang="en-US" sz="1600" dirty="0"/>
          </a:p>
        </p:txBody>
      </p:sp>
      <p:sp>
        <p:nvSpPr>
          <p:cNvPr id="11" name="Text 9"/>
          <p:cNvSpPr txBox="1"/>
          <p:nvPr/>
        </p:nvSpPr>
        <p:spPr>
          <a:xfrm>
            <a:off x="1005840" y="4023360"/>
            <a:ext cx="4754880" cy="640080"/>
          </a:xfrm>
          <a:prstGeom prst="rect">
            <a:avLst/>
          </a:prstGeom>
          <a:noFill/>
          <a:ln/>
        </p:spPr>
        <p:txBody>
          <a:bodyPr wrap="square" lIns="0" tIns="0" rIns="0" bIns="0" rtlCol="0" anchor="t"/>
          <a:lstStyle/>
          <a:p>
            <a:pPr indent="0" marL="0">
              <a:buNone/>
            </a:pPr>
            <a:r>
              <a:rPr lang="en-US" sz="1350" dirty="0">
                <a:solidFill>
                  <a:schemeClr val="accent5"/>
                </a:solidFill>
              </a:rPr>
              <a:t>Management, custody and sales-service fees per fund</a:t>
            </a:r>
            <a:endParaRPr lang="en-US" sz="1350" dirty="0"/>
          </a:p>
        </p:txBody>
      </p:sp>
      <p:sp>
        <p:nvSpPr>
          <p:cNvPr id="12" name="fact-dot-4"/>
          <p:cNvSpPr/>
          <p:nvPr/>
        </p:nvSpPr>
        <p:spPr>
          <a:xfrm>
            <a:off x="548640" y="4800600"/>
            <a:ext cx="292608" cy="292608"/>
          </a:xfrm>
          <a:prstGeom prst="ellipse">
            <a:avLst/>
          </a:prstGeom>
          <a:solidFill>
            <a:schemeClr val="accent1"/>
          </a:solidFill>
          <a:ln w="12700">
            <a:solidFill>
              <a:schemeClr val="accent1"/>
            </a:solidFill>
            <a:prstDash val="solid"/>
          </a:ln>
        </p:spPr>
      </p:sp>
      <p:sp>
        <p:nvSpPr>
          <p:cNvPr id="13" name="Text 11"/>
          <p:cNvSpPr txBox="1"/>
          <p:nvPr/>
        </p:nvSpPr>
        <p:spPr>
          <a:xfrm>
            <a:off x="1005840" y="4754880"/>
            <a:ext cx="4754880" cy="365760"/>
          </a:xfrm>
          <a:prstGeom prst="rect">
            <a:avLst/>
          </a:prstGeom>
          <a:noFill/>
          <a:ln/>
        </p:spPr>
        <p:txBody>
          <a:bodyPr wrap="square" lIns="0" tIns="0" rIns="0" bIns="0" rtlCol="0" anchor="t"/>
          <a:lstStyle/>
          <a:p>
            <a:pPr indent="0" marL="0">
              <a:buNone/>
            </a:pPr>
            <a:r>
              <a:rPr lang="en-US" sz="1600" b="1" dirty="0">
                <a:solidFill>
                  <a:schemeClr val="tx1"/>
                </a:solidFill>
              </a:rPr>
              <a:t>Honest estimates</a:t>
            </a:r>
            <a:endParaRPr lang="en-US" sz="1600" dirty="0"/>
          </a:p>
        </p:txBody>
      </p:sp>
      <p:sp>
        <p:nvSpPr>
          <p:cNvPr id="14" name="Text 12"/>
          <p:cNvSpPr txBox="1"/>
          <p:nvPr/>
        </p:nvSpPr>
        <p:spPr>
          <a:xfrm>
            <a:off x="1005840" y="5120640"/>
            <a:ext cx="4754880" cy="640080"/>
          </a:xfrm>
          <a:prstGeom prst="rect">
            <a:avLst/>
          </a:prstGeom>
          <a:noFill/>
          <a:ln/>
        </p:spPr>
        <p:txBody>
          <a:bodyPr wrap="square" lIns="0" tIns="0" rIns="0" bIns="0" rtlCol="0" anchor="t"/>
          <a:lstStyle/>
          <a:p>
            <a:pPr indent="0" marL="0">
              <a:buNone/>
            </a:pPr>
            <a:r>
              <a:rPr lang="en-US" sz="1350" dirty="0">
                <a:solidFill>
                  <a:schemeClr val="accent5"/>
                </a:solidFill>
              </a:rPr>
              <a:t>10-year NAV volatility; returns shrunk halfway to an asset-class prior</a:t>
            </a:r>
            <a:endParaRPr lang="en-US" sz="1350" dirty="0"/>
          </a:p>
        </p:txBody>
      </p:sp>
      <p:graphicFrame>
        <p:nvGraphicFramePr>
          <p:cNvPr id="8" name="class-ladder"/>
          <p:cNvGraphicFramePr>
            <a:graphicFrameLocks noGrp="1"/>
          </p:cNvGraphicFramePr>
          <p:nvPr>
            <p:extLst>
              <p:ext uri="{D42A27DB-BD31-4B8C-83A1-F6EECF244321}">
                <p14:modId xmlns:p14="http://schemas.microsoft.com/office/powerpoint/2010/main" val="1579011935"/>
              </p:ext>
            </p:extLst>
          </p:nvPr>
        </p:nvGraphicFramePr>
        <p:xfrm>
          <a:off x="6126480" y="1463040"/>
          <a:ext cx="5513832" cy="914400"/>
        </p:xfrm>
        <a:graphic>
          <a:graphicData uri="http://schemas.openxmlformats.org/drawingml/2006/table">
            <a:tbl>
              <a:tblPr/>
              <a:tblGrid>
                <a:gridCol w="1673352"/>
                <a:gridCol w="1280160"/>
                <a:gridCol w="1097280"/>
                <a:gridCol w="1463040"/>
              </a:tblGrid>
              <a:tr h="502920">
                <a:tc>
                  <a:txBody>
                    <a:bodyPr/>
                    <a:lstStyle/>
                    <a:p>
                      <a:pPr algn="ctr" indent="0" marL="0">
                        <a:buNone/>
                      </a:pPr>
                      <a:r>
                        <a:rPr lang="en-US" sz="1400" b="1" dirty="0">
                          <a:solidFill>
                            <a:schemeClr val="bg1"/>
                          </a:solidFill>
                        </a:rPr>
                        <a:t>Class</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Expected return</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Volatility</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Worst historical loss</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accent1"/>
                    </a:solidFill>
                  </a:tcPr>
                </a:tc>
              </a:tr>
              <a:tr h="502920">
                <a:tc>
                  <a:txBody>
                    <a:bodyPr/>
                    <a:lstStyle/>
                    <a:p>
                      <a:pPr algn="l" indent="0" marL="0">
                        <a:buNone/>
                      </a:pPr>
                      <a:r>
                        <a:rPr lang="en-US" sz="1400" dirty="0">
                          <a:solidFill>
                            <a:schemeClr val="tx1"/>
                          </a:solidFill>
                        </a:rPr>
                        <a:t>C1 Conservative</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1.1%</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0.0%</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C2</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2.6%</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1.5%</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8.2%</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C3 Balanced</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3.2%</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2.8%</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10.0%</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C4</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7.4%</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8.4%</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21.3%</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C5 Aggressive</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8.2%</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10.0%</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24.5%</a:t>
                      </a:r>
                      <a:endParaRPr lang="en-US" sz="1400" dirty="0"/>
                    </a:p>
                  </a:txBody>
                  <a:tcPr marL="73152" marR="73152" marT="73152" marB="73152" anchor="ctr">
                    <a:lnL w="9525" cap="flat" cmpd="sng" algn="ctr">
                      <a:solidFill>
                        <a:srgbClr val="D9E2DF"/>
                      </a:solidFill>
                      <a:prstDash val="solid"/>
                      <a:round/>
                      <a:headEnd type="none" w="med" len="med"/>
                      <a:tailEnd type="none" w="med" len="med"/>
                    </a:lnL>
                    <a:lnR w="9525" cap="flat" cmpd="sng" algn="ctr">
                      <a:solidFill>
                        <a:srgbClr val="D9E2DF"/>
                      </a:solidFill>
                      <a:prstDash val="solid"/>
                      <a:round/>
                      <a:headEnd type="none" w="med" len="med"/>
                      <a:tailEnd type="none" w="med" len="med"/>
                    </a:lnR>
                    <a:lnT w="9525" cap="flat" cmpd="sng" algn="ctr">
                      <a:solidFill>
                        <a:srgbClr val="D9E2DF"/>
                      </a:solidFill>
                      <a:prstDash val="solid"/>
                      <a:round/>
                      <a:headEnd type="none" w="med" len="med"/>
                      <a:tailEnd type="none" w="med" len="med"/>
                    </a:lnT>
                    <a:lnB w="9525" cap="flat" cmpd="sng" algn="ctr">
                      <a:solidFill>
                        <a:srgbClr val="D9E2DF"/>
                      </a:solidFill>
                      <a:prstDash val="solid"/>
                      <a:round/>
                      <a:headEnd type="none" w="med" len="med"/>
                      <a:tailEnd type="none" w="med" len="med"/>
                    </a:lnB>
                    <a:solidFill>
                      <a:schemeClr val="bg1"/>
                    </a:solidFill>
                  </a:tcPr>
                </a:tc>
              </a:tr>
            </a:tbl>
          </a:graphicData>
        </a:graphic>
      </p:graphicFrame>
      <p:sp>
        <p:nvSpPr>
          <p:cNvPr id="16" name="Text 13"/>
          <p:cNvSpPr txBox="1"/>
          <p:nvPr/>
        </p:nvSpPr>
        <p:spPr>
          <a:xfrm>
            <a:off x="6126480" y="4617720"/>
            <a:ext cx="5513832" cy="640080"/>
          </a:xfrm>
          <a:prstGeom prst="rect">
            <a:avLst/>
          </a:prstGeom>
          <a:noFill/>
          <a:ln/>
        </p:spPr>
        <p:txBody>
          <a:bodyPr wrap="square" lIns="0" tIns="0" rIns="0" bIns="0" rtlCol="0" anchor="t"/>
          <a:lstStyle/>
          <a:p>
            <a:pPr indent="0" marL="0">
              <a:buNone/>
            </a:pPr>
            <a:r>
              <a:rPr lang="en-US" sz="1200" dirty="0">
                <a:solidFill>
                  <a:schemeClr val="accent5"/>
                </a:solidFill>
              </a:rPr>
              <a:t>Model portfolios of 100,000 built from the real catalog, net of fees. Worst of the 2008, 2020 and 2022 shocks.</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Security enforced in code, not in prompts</a:t>
            </a:r>
            <a:endParaRPr lang="en-US" sz="3400" dirty="0"/>
          </a:p>
        </p:txBody>
      </p:sp>
      <p:sp>
        <p:nvSpPr>
          <p:cNvPr id="3" name="tier-0"/>
          <p:cNvSpPr/>
          <p:nvPr/>
        </p:nvSpPr>
        <p:spPr>
          <a:xfrm>
            <a:off x="548640" y="1463040"/>
            <a:ext cx="5120640" cy="804672"/>
          </a:xfrm>
          <a:prstGeom prst="roundRect">
            <a:avLst>
              <a:gd name="adj" fmla="val 13636"/>
            </a:avLst>
          </a:prstGeom>
          <a:solidFill>
            <a:schemeClr val="bg1"/>
          </a:solidFill>
          <a:ln w="12700">
            <a:solidFill>
              <a:srgbClr val="D9E2DF"/>
            </a:solidFill>
            <a:prstDash val="solid"/>
          </a:ln>
        </p:spPr>
      </p:sp>
      <p:sp>
        <p:nvSpPr>
          <p:cNvPr id="4" name="Text 2"/>
          <p:cNvSpPr txBox="1"/>
          <p:nvPr/>
        </p:nvSpPr>
        <p:spPr>
          <a:xfrm>
            <a:off x="777240" y="1463040"/>
            <a:ext cx="1463040" cy="804672"/>
          </a:xfrm>
          <a:prstGeom prst="rect">
            <a:avLst/>
          </a:prstGeom>
          <a:noFill/>
          <a:ln/>
        </p:spPr>
        <p:txBody>
          <a:bodyPr wrap="square" lIns="0" tIns="0" rIns="0" bIns="0" rtlCol="0" anchor="ctr"/>
          <a:lstStyle/>
          <a:p>
            <a:pPr indent="0" marL="0">
              <a:buNone/>
            </a:pPr>
            <a:r>
              <a:rPr lang="en-US" sz="1500" b="1" dirty="0">
                <a:solidFill>
                  <a:schemeClr val="accent1"/>
                </a:solidFill>
              </a:rPr>
              <a:t>T0 Info</a:t>
            </a:r>
            <a:endParaRPr lang="en-US" sz="1500" dirty="0"/>
          </a:p>
        </p:txBody>
      </p:sp>
      <p:sp>
        <p:nvSpPr>
          <p:cNvPr id="5" name="Text 3"/>
          <p:cNvSpPr txBox="1"/>
          <p:nvPr/>
        </p:nvSpPr>
        <p:spPr>
          <a:xfrm>
            <a:off x="2286000" y="1463040"/>
            <a:ext cx="3246120" cy="804672"/>
          </a:xfrm>
          <a:prstGeom prst="rect">
            <a:avLst/>
          </a:prstGeom>
          <a:noFill/>
          <a:ln/>
        </p:spPr>
        <p:txBody>
          <a:bodyPr wrap="square" lIns="0" tIns="0" rIns="0" bIns="0" rtlCol="0" anchor="ctr"/>
          <a:lstStyle/>
          <a:p>
            <a:pPr indent="0" marL="0">
              <a:buNone/>
            </a:pPr>
            <a:r>
              <a:rPr lang="en-US" sz="1300" dirty="0">
                <a:solidFill>
                  <a:schemeClr val="tx1"/>
                </a:solidFill>
              </a:rPr>
              <a:t>education, product facts</a:t>
            </a:r>
            <a:endParaRPr lang="en-US" sz="1300" dirty="0"/>
          </a:p>
        </p:txBody>
      </p:sp>
      <p:sp>
        <p:nvSpPr>
          <p:cNvPr id="6" name="tier-1"/>
          <p:cNvSpPr/>
          <p:nvPr/>
        </p:nvSpPr>
        <p:spPr>
          <a:xfrm>
            <a:off x="548640" y="2450592"/>
            <a:ext cx="5120640" cy="804672"/>
          </a:xfrm>
          <a:prstGeom prst="roundRect">
            <a:avLst>
              <a:gd name="adj" fmla="val 13636"/>
            </a:avLst>
          </a:prstGeom>
          <a:solidFill>
            <a:schemeClr val="bg1"/>
          </a:solidFill>
          <a:ln w="12700">
            <a:solidFill>
              <a:srgbClr val="D9E2DF"/>
            </a:solidFill>
            <a:prstDash val="solid"/>
          </a:ln>
        </p:spPr>
      </p:sp>
      <p:sp>
        <p:nvSpPr>
          <p:cNvPr id="7" name="Text 5"/>
          <p:cNvSpPr txBox="1"/>
          <p:nvPr/>
        </p:nvSpPr>
        <p:spPr>
          <a:xfrm>
            <a:off x="777240" y="2450592"/>
            <a:ext cx="1463040" cy="804672"/>
          </a:xfrm>
          <a:prstGeom prst="rect">
            <a:avLst/>
          </a:prstGeom>
          <a:noFill/>
          <a:ln/>
        </p:spPr>
        <p:txBody>
          <a:bodyPr wrap="square" lIns="0" tIns="0" rIns="0" bIns="0" rtlCol="0" anchor="ctr"/>
          <a:lstStyle/>
          <a:p>
            <a:pPr indent="0" marL="0">
              <a:buNone/>
            </a:pPr>
            <a:r>
              <a:rPr lang="en-US" sz="1500" b="1" dirty="0">
                <a:solidFill>
                  <a:schemeClr val="accent1"/>
                </a:solidFill>
              </a:rPr>
              <a:t>T1 Advise</a:t>
            </a:r>
            <a:endParaRPr lang="en-US" sz="1500" dirty="0"/>
          </a:p>
        </p:txBody>
      </p:sp>
      <p:sp>
        <p:nvSpPr>
          <p:cNvPr id="8" name="Text 6"/>
          <p:cNvSpPr txBox="1"/>
          <p:nvPr/>
        </p:nvSpPr>
        <p:spPr>
          <a:xfrm>
            <a:off x="2286000" y="2450592"/>
            <a:ext cx="3246120" cy="804672"/>
          </a:xfrm>
          <a:prstGeom prst="rect">
            <a:avLst/>
          </a:prstGeom>
          <a:noFill/>
          <a:ln/>
        </p:spPr>
        <p:txBody>
          <a:bodyPr wrap="square" lIns="0" tIns="0" rIns="0" bIns="0" rtlCol="0" anchor="ctr"/>
          <a:lstStyle/>
          <a:p>
            <a:pPr indent="0" marL="0">
              <a:buNone/>
            </a:pPr>
            <a:r>
              <a:rPr lang="en-US" sz="1300" dirty="0">
                <a:solidFill>
                  <a:schemeClr val="tx1"/>
                </a:solidFill>
              </a:rPr>
              <a:t>default: profile, portfolio, stress, goals</a:t>
            </a:r>
            <a:endParaRPr lang="en-US" sz="1300" dirty="0"/>
          </a:p>
        </p:txBody>
      </p:sp>
      <p:sp>
        <p:nvSpPr>
          <p:cNvPr id="9" name="tier-2"/>
          <p:cNvSpPr/>
          <p:nvPr/>
        </p:nvSpPr>
        <p:spPr>
          <a:xfrm>
            <a:off x="548640" y="3438144"/>
            <a:ext cx="5120640" cy="804672"/>
          </a:xfrm>
          <a:prstGeom prst="roundRect">
            <a:avLst>
              <a:gd name="adj" fmla="val 13636"/>
            </a:avLst>
          </a:prstGeom>
          <a:solidFill>
            <a:schemeClr val="bg1"/>
          </a:solidFill>
          <a:ln w="12700">
            <a:solidFill>
              <a:srgbClr val="D9E2DF"/>
            </a:solidFill>
            <a:prstDash val="solid"/>
          </a:ln>
        </p:spPr>
      </p:sp>
      <p:sp>
        <p:nvSpPr>
          <p:cNvPr id="10" name="Text 8"/>
          <p:cNvSpPr txBox="1"/>
          <p:nvPr/>
        </p:nvSpPr>
        <p:spPr>
          <a:xfrm>
            <a:off x="777240" y="3438144"/>
            <a:ext cx="1463040" cy="804672"/>
          </a:xfrm>
          <a:prstGeom prst="rect">
            <a:avLst/>
          </a:prstGeom>
          <a:noFill/>
          <a:ln/>
        </p:spPr>
        <p:txBody>
          <a:bodyPr wrap="square" lIns="0" tIns="0" rIns="0" bIns="0" rtlCol="0" anchor="ctr"/>
          <a:lstStyle/>
          <a:p>
            <a:pPr indent="0" marL="0">
              <a:buNone/>
            </a:pPr>
            <a:r>
              <a:rPr lang="en-US" sz="1500" b="1" dirty="0">
                <a:solidFill>
                  <a:schemeClr val="accent1"/>
                </a:solidFill>
              </a:rPr>
              <a:t>T2 Propose</a:t>
            </a:r>
            <a:endParaRPr lang="en-US" sz="1500" dirty="0"/>
          </a:p>
        </p:txBody>
      </p:sp>
      <p:sp>
        <p:nvSpPr>
          <p:cNvPr id="11" name="Text 9"/>
          <p:cNvSpPr txBox="1"/>
          <p:nvPr/>
        </p:nvSpPr>
        <p:spPr>
          <a:xfrm>
            <a:off x="2286000" y="3438144"/>
            <a:ext cx="3246120" cy="804672"/>
          </a:xfrm>
          <a:prstGeom prst="rect">
            <a:avLst/>
          </a:prstGeom>
          <a:noFill/>
          <a:ln/>
        </p:spPr>
        <p:txBody>
          <a:bodyPr wrap="square" lIns="0" tIns="0" rIns="0" bIns="0" rtlCol="0" anchor="ctr"/>
          <a:lstStyle/>
          <a:p>
            <a:pPr indent="0" marL="0">
              <a:buNone/>
            </a:pPr>
            <a:r>
              <a:rPr lang="en-US" sz="1300" dirty="0">
                <a:solidFill>
                  <a:schemeClr val="tx1"/>
                </a:solidFill>
              </a:rPr>
              <a:t>draft orders after pre-trade checks</a:t>
            </a:r>
            <a:endParaRPr lang="en-US" sz="1300" dirty="0"/>
          </a:p>
        </p:txBody>
      </p:sp>
      <p:sp>
        <p:nvSpPr>
          <p:cNvPr id="12" name="tier-3"/>
          <p:cNvSpPr/>
          <p:nvPr/>
        </p:nvSpPr>
        <p:spPr>
          <a:xfrm>
            <a:off x="548640" y="4425696"/>
            <a:ext cx="5120640" cy="804672"/>
          </a:xfrm>
          <a:prstGeom prst="roundRect">
            <a:avLst>
              <a:gd name="adj" fmla="val 13636"/>
            </a:avLst>
          </a:prstGeom>
          <a:solidFill>
            <a:schemeClr val="accent1"/>
          </a:solidFill>
          <a:ln w="12700">
            <a:solidFill>
              <a:srgbClr val="17695A"/>
            </a:solidFill>
            <a:prstDash val="solid"/>
          </a:ln>
        </p:spPr>
      </p:sp>
      <p:sp>
        <p:nvSpPr>
          <p:cNvPr id="13" name="Text 11"/>
          <p:cNvSpPr txBox="1"/>
          <p:nvPr/>
        </p:nvSpPr>
        <p:spPr>
          <a:xfrm>
            <a:off x="777240" y="4425696"/>
            <a:ext cx="1463040" cy="804672"/>
          </a:xfrm>
          <a:prstGeom prst="rect">
            <a:avLst/>
          </a:prstGeom>
          <a:noFill/>
          <a:ln/>
        </p:spPr>
        <p:txBody>
          <a:bodyPr wrap="square" lIns="0" tIns="0" rIns="0" bIns="0" rtlCol="0" anchor="ctr"/>
          <a:lstStyle/>
          <a:p>
            <a:pPr indent="0" marL="0">
              <a:buNone/>
            </a:pPr>
            <a:r>
              <a:rPr lang="en-US" sz="1500" b="1" dirty="0">
                <a:solidFill>
                  <a:schemeClr val="bg1"/>
                </a:solidFill>
              </a:rPr>
              <a:t>T3 Execute</a:t>
            </a:r>
            <a:endParaRPr lang="en-US" sz="1500" dirty="0"/>
          </a:p>
        </p:txBody>
      </p:sp>
      <p:sp>
        <p:nvSpPr>
          <p:cNvPr id="14" name="Text 12"/>
          <p:cNvSpPr txBox="1"/>
          <p:nvPr/>
        </p:nvSpPr>
        <p:spPr>
          <a:xfrm>
            <a:off x="2286000" y="4425696"/>
            <a:ext cx="3246120" cy="804672"/>
          </a:xfrm>
          <a:prstGeom prst="rect">
            <a:avLst/>
          </a:prstGeom>
          <a:noFill/>
          <a:ln/>
        </p:spPr>
        <p:txBody>
          <a:bodyPr wrap="square" lIns="0" tIns="0" rIns="0" bIns="0" rtlCol="0" anchor="ctr"/>
          <a:lstStyle/>
          <a:p>
            <a:pPr indent="0" marL="0">
              <a:buNone/>
            </a:pPr>
            <a:r>
              <a:rPr lang="en-US" sz="1300" dirty="0">
                <a:solidFill>
                  <a:schemeClr val="bg1"/>
                </a:solidFill>
              </a:rPr>
              <a:t>only with the client's one-time token</a:t>
            </a:r>
            <a:endParaRPr lang="en-US" sz="1300" dirty="0"/>
          </a:p>
        </p:txBody>
      </p:sp>
      <p:sp>
        <p:nvSpPr>
          <p:cNvPr id="15" name="Text 13"/>
          <p:cNvSpPr txBox="1"/>
          <p:nvPr/>
        </p:nvSpPr>
        <p:spPr>
          <a:xfrm>
            <a:off x="548640" y="5440680"/>
            <a:ext cx="5120640" cy="822960"/>
          </a:xfrm>
          <a:prstGeom prst="rect">
            <a:avLst/>
          </a:prstGeom>
          <a:noFill/>
          <a:ln/>
        </p:spPr>
        <p:txBody>
          <a:bodyPr wrap="square" lIns="0" tIns="0" rIns="0" bIns="0" rtlCol="0" anchor="t"/>
          <a:lstStyle/>
          <a:p>
            <a:pPr indent="0" marL="0">
              <a:buNone/>
            </a:pPr>
            <a:r>
              <a:rPr lang="en-US" sz="1250" dirty="0">
                <a:solidFill>
                  <a:schemeClr val="accent5"/>
                </a:solidFill>
              </a:rPr>
              <a:t>Signed risk disclosure → hold 1.5 s → 5 s undo. Tokens: hashed, bound to the exact order, single use, 5-minute expiry. Kill switch caps every session at T1.</a:t>
            </a:r>
            <a:endParaRPr lang="en-US" sz="1250" dirty="0"/>
          </a:p>
        </p:txBody>
      </p:sp>
      <p:sp>
        <p:nvSpPr>
          <p:cNvPr id="16" name="Text 14"/>
          <p:cNvSpPr txBox="1"/>
          <p:nvPr/>
        </p:nvSpPr>
        <p:spPr>
          <a:xfrm>
            <a:off x="6126480" y="1371600"/>
            <a:ext cx="5486400" cy="1005840"/>
          </a:xfrm>
          <a:prstGeom prst="rect">
            <a:avLst/>
          </a:prstGeom>
          <a:noFill/>
          <a:ln/>
        </p:spPr>
        <p:txBody>
          <a:bodyPr wrap="square" lIns="0" tIns="0" rIns="0" bIns="0" rtlCol="0" anchor="t"/>
          <a:lstStyle/>
          <a:p>
            <a:pPr indent="0" marL="0">
              <a:buNone/>
            </a:pPr>
            <a:r>
              <a:rPr lang="en-US" sz="6000" dirty="0">
                <a:solidFill>
                  <a:schemeClr val="accent1"/>
                </a:solidFill>
                <a:latin typeface="Cambria" pitchFamily="34" charset="0"/>
                <a:ea typeface="Cambria" pitchFamily="34" charset="-122"/>
                <a:cs typeface="Cambria" pitchFamily="34" charset="-120"/>
              </a:rPr>
              <a:t>57 / 57</a:t>
            </a:r>
            <a:endParaRPr lang="en-US" sz="6000" dirty="0"/>
          </a:p>
        </p:txBody>
      </p:sp>
      <p:sp>
        <p:nvSpPr>
          <p:cNvPr id="17" name="Text 15"/>
          <p:cNvSpPr txBox="1"/>
          <p:nvPr/>
        </p:nvSpPr>
        <p:spPr>
          <a:xfrm>
            <a:off x="6126480" y="2377440"/>
            <a:ext cx="5486400" cy="457200"/>
          </a:xfrm>
          <a:prstGeom prst="rect">
            <a:avLst/>
          </a:prstGeom>
          <a:noFill/>
          <a:ln/>
        </p:spPr>
        <p:txBody>
          <a:bodyPr wrap="square" lIns="0" tIns="0" rIns="0" bIns="0" rtlCol="0" anchor="t"/>
          <a:lstStyle/>
          <a:p>
            <a:pPr indent="0" marL="0">
              <a:buNone/>
            </a:pPr>
            <a:r>
              <a:rPr lang="en-US" sz="1500" dirty="0">
                <a:solidFill>
                  <a:schemeClr val="tx1"/>
                </a:solidFill>
              </a:rPr>
              <a:t>red-team attacks stopped, and 8 / 8 harmless requests answered normally</a:t>
            </a:r>
            <a:endParaRPr lang="en-US" sz="1500" dirty="0"/>
          </a:p>
        </p:txBody>
      </p:sp>
      <p:sp>
        <p:nvSpPr>
          <p:cNvPr id="18" name="Text 16"/>
          <p:cNvSpPr txBox="1"/>
          <p:nvPr/>
        </p:nvSpPr>
        <p:spPr>
          <a:xfrm>
            <a:off x="6126480" y="3017520"/>
            <a:ext cx="5486400" cy="30175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Prompt injection, 10</a:t>
            </a:r>
            <a:endParaRPr lang="en-US" sz="1300" dirty="0"/>
          </a:p>
          <a:p>
            <a:pPr marL="342900" indent="-342900">
              <a:spcAft>
                <a:spcPts val="400"/>
              </a:spcAft>
              <a:buSzPct val="100000"/>
              <a:buChar char="•"/>
            </a:pPr>
            <a:r>
              <a:rPr lang="en-US" sz="1300" dirty="0">
                <a:solidFill>
                  <a:schemeClr val="tx1"/>
                </a:solidFill>
              </a:rPr>
              <a:t>Chinese, Russian, Uzbek, Spanish, 5</a:t>
            </a:r>
            <a:endParaRPr lang="en-US" sz="1300" dirty="0"/>
          </a:p>
          <a:p>
            <a:pPr marL="342900" indent="-342900">
              <a:spcAft>
                <a:spcPts val="400"/>
              </a:spcAft>
              <a:buSzPct val="100000"/>
              <a:buChar char="•"/>
            </a:pPr>
            <a:r>
              <a:rPr lang="en-US" sz="1300" dirty="0">
                <a:solidFill>
                  <a:schemeClr val="tx1"/>
                </a:solidFill>
              </a:rPr>
              <a:t>Obfuscated (base64, leetspeak), 4</a:t>
            </a:r>
            <a:endParaRPr lang="en-US" sz="1300" dirty="0"/>
          </a:p>
          <a:p>
            <a:pPr marL="342900" indent="-342900">
              <a:spcAft>
                <a:spcPts val="400"/>
              </a:spcAft>
              <a:buSzPct val="100000"/>
              <a:buChar char="•"/>
            </a:pPr>
            <a:r>
              <a:rPr lang="en-US" sz="1300" dirty="0">
                <a:solidFill>
                  <a:schemeClr val="tx1"/>
                </a:solidFill>
              </a:rPr>
              <a:t>Role-play jailbreaks, 3</a:t>
            </a:r>
            <a:endParaRPr lang="en-US" sz="1300" dirty="0"/>
          </a:p>
          <a:p>
            <a:pPr marL="342900" indent="-342900">
              <a:spcAft>
                <a:spcPts val="400"/>
              </a:spcAft>
              <a:buSzPct val="100000"/>
              <a:buChar char="•"/>
            </a:pPr>
            <a:r>
              <a:rPr lang="en-US" sz="1300" dirty="0">
                <a:solidFill>
                  <a:schemeClr val="tx1"/>
                </a:solidFill>
              </a:rPr>
              <a:t>Injection inside fund data, 5</a:t>
            </a:r>
            <a:endParaRPr lang="en-US" sz="1300" dirty="0"/>
          </a:p>
          <a:p>
            <a:pPr marL="342900" indent="-342900">
              <a:spcAft>
                <a:spcPts val="400"/>
              </a:spcAft>
              <a:buSzPct val="100000"/>
              <a:buChar char="•"/>
            </a:pPr>
            <a:r>
              <a:rPr lang="en-US" sz="1300" dirty="0">
                <a:solidFill>
                  <a:schemeClr val="tx1"/>
                </a:solidFill>
              </a:rPr>
              <a:t>Personal data leaks, 10</a:t>
            </a:r>
            <a:endParaRPr lang="en-US" sz="1300" dirty="0"/>
          </a:p>
          <a:p>
            <a:pPr marL="342900" indent="-342900">
              <a:spcAft>
                <a:spcPts val="400"/>
              </a:spcAft>
              <a:buSzPct val="100000"/>
              <a:buChar char="•"/>
            </a:pPr>
            <a:r>
              <a:rPr lang="en-US" sz="1300" dirty="0">
                <a:solidFill>
                  <a:schemeClr val="tx1"/>
                </a:solidFill>
              </a:rPr>
              <a:t>Unsafe claims and invented numbers, 6</a:t>
            </a:r>
            <a:endParaRPr lang="en-US" sz="1300" dirty="0"/>
          </a:p>
          <a:p>
            <a:pPr marL="342900" indent="-342900">
              <a:spcAft>
                <a:spcPts val="400"/>
              </a:spcAft>
              <a:buSzPct val="100000"/>
              <a:buChar char="•"/>
            </a:pPr>
            <a:r>
              <a:rPr lang="en-US" sz="1300" dirty="0">
                <a:solidFill>
                  <a:schemeClr val="tx1"/>
                </a:solidFill>
              </a:rPr>
              <a:t>Suitability bypass, 4</a:t>
            </a:r>
            <a:endParaRPr lang="en-US" sz="1300" dirty="0"/>
          </a:p>
          <a:p>
            <a:pPr marL="342900" indent="-342900">
              <a:spcAft>
                <a:spcPts val="400"/>
              </a:spcAft>
              <a:buSzPct val="100000"/>
              <a:buChar char="•"/>
            </a:pPr>
            <a:r>
              <a:rPr lang="en-US" sz="1300" dirty="0">
                <a:solidFill>
                  <a:schemeClr val="tx1"/>
                </a:solidFill>
              </a:rPr>
              <a:t>Execution without consent, 6</a:t>
            </a:r>
            <a:endParaRPr lang="en-US" sz="1300" dirty="0"/>
          </a:p>
          <a:p>
            <a:pPr marL="342900" indent="-342900">
              <a:spcAft>
                <a:spcPts val="400"/>
              </a:spcAft>
              <a:buSzPct val="100000"/>
              <a:buChar char="•"/>
            </a:pPr>
            <a:r>
              <a:rPr lang="en-US" sz="1300" dirty="0">
                <a:solidFill>
                  <a:schemeClr val="tx1"/>
                </a:solidFill>
              </a:rPr>
              <a:t>Audit tampering and abuse, 4</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Measured, not claimed</a:t>
            </a:r>
            <a:endParaRPr lang="en-US" sz="3400" dirty="0"/>
          </a:p>
        </p:txBody>
      </p:sp>
      <p:sp>
        <p:nvSpPr>
          <p:cNvPr id="3" name="stat-1"/>
          <p:cNvSpPr/>
          <p:nvPr/>
        </p:nvSpPr>
        <p:spPr>
          <a:xfrm>
            <a:off x="548640" y="1463040"/>
            <a:ext cx="2567864" cy="2377440"/>
          </a:xfrm>
          <a:prstGeom prst="roundRect">
            <a:avLst>
              <a:gd name="adj" fmla="val 4615"/>
            </a:avLst>
          </a:prstGeom>
          <a:solidFill>
            <a:schemeClr val="bg1"/>
          </a:solidFill>
          <a:ln w="12700">
            <a:solidFill>
              <a:srgbClr val="D9E2DF"/>
            </a:solidFill>
            <a:prstDash val="solid"/>
          </a:ln>
        </p:spPr>
      </p:sp>
      <p:sp>
        <p:nvSpPr>
          <p:cNvPr id="4" name="Text 2"/>
          <p:cNvSpPr txBox="1"/>
          <p:nvPr/>
        </p:nvSpPr>
        <p:spPr>
          <a:xfrm>
            <a:off x="777240" y="1645920"/>
            <a:ext cx="2110664" cy="868680"/>
          </a:xfrm>
          <a:prstGeom prst="rect">
            <a:avLst/>
          </a:prstGeom>
          <a:noFill/>
          <a:ln/>
        </p:spPr>
        <p:txBody>
          <a:bodyPr wrap="square" lIns="0" tIns="0" rIns="0" bIns="0" rtlCol="0" anchor="t"/>
          <a:lstStyle/>
          <a:p>
            <a:pPr indent="0" marL="0">
              <a:buNone/>
            </a:pPr>
            <a:r>
              <a:rPr lang="en-US" sz="4000" dirty="0">
                <a:solidFill>
                  <a:schemeClr val="accent1"/>
                </a:solidFill>
                <a:latin typeface="Cambria" pitchFamily="34" charset="0"/>
                <a:ea typeface="Cambria" pitchFamily="34" charset="-122"/>
                <a:cs typeface="Cambria" pitchFamily="34" charset="-120"/>
              </a:rPr>
              <a:t>[__ / 30]</a:t>
            </a:r>
            <a:endParaRPr lang="en-US" sz="4000" dirty="0"/>
          </a:p>
        </p:txBody>
      </p:sp>
      <p:sp>
        <p:nvSpPr>
          <p:cNvPr id="5" name="Text 3"/>
          <p:cNvSpPr txBox="1"/>
          <p:nvPr/>
        </p:nvSpPr>
        <p:spPr>
          <a:xfrm>
            <a:off x="777240" y="2560320"/>
            <a:ext cx="2110664" cy="1188720"/>
          </a:xfrm>
          <a:prstGeom prst="rect">
            <a:avLst/>
          </a:prstGeom>
          <a:noFill/>
          <a:ln/>
        </p:spPr>
        <p:txBody>
          <a:bodyPr wrap="square" lIns="0" tIns="0" rIns="0" bIns="0" rtlCol="0" anchor="t"/>
          <a:lstStyle/>
          <a:p>
            <a:pPr indent="0" marL="0">
              <a:buNone/>
            </a:pPr>
            <a:r>
              <a:rPr lang="en-US" sz="1300" dirty="0">
                <a:solidFill>
                  <a:schemeClr val="tx1"/>
                </a:solidFill>
              </a:rPr>
              <a:t>client journeys completed end to end on a live model (30 personas, C1–C5, 1 in 5 in Chinese)</a:t>
            </a:r>
            <a:endParaRPr lang="en-US" sz="1300" dirty="0"/>
          </a:p>
        </p:txBody>
      </p:sp>
      <p:sp>
        <p:nvSpPr>
          <p:cNvPr id="6" name="stat-2"/>
          <p:cNvSpPr/>
          <p:nvPr/>
        </p:nvSpPr>
        <p:spPr>
          <a:xfrm>
            <a:off x="3390824" y="1463040"/>
            <a:ext cx="2567864" cy="2377440"/>
          </a:xfrm>
          <a:prstGeom prst="roundRect">
            <a:avLst>
              <a:gd name="adj" fmla="val 4615"/>
            </a:avLst>
          </a:prstGeom>
          <a:solidFill>
            <a:schemeClr val="bg1"/>
          </a:solidFill>
          <a:ln w="12700">
            <a:solidFill>
              <a:srgbClr val="D9E2DF"/>
            </a:solidFill>
            <a:prstDash val="solid"/>
          </a:ln>
        </p:spPr>
      </p:sp>
      <p:sp>
        <p:nvSpPr>
          <p:cNvPr id="7" name="Text 5"/>
          <p:cNvSpPr txBox="1"/>
          <p:nvPr/>
        </p:nvSpPr>
        <p:spPr>
          <a:xfrm>
            <a:off x="3619424" y="1645920"/>
            <a:ext cx="2110664" cy="868680"/>
          </a:xfrm>
          <a:prstGeom prst="rect">
            <a:avLst/>
          </a:prstGeom>
          <a:noFill/>
          <a:ln/>
        </p:spPr>
        <p:txBody>
          <a:bodyPr wrap="square" lIns="0" tIns="0" rIns="0" bIns="0" rtlCol="0" anchor="t"/>
          <a:lstStyle/>
          <a:p>
            <a:pPr indent="0" marL="0">
              <a:buNone/>
            </a:pPr>
            <a:r>
              <a:rPr lang="en-US" sz="4000" dirty="0">
                <a:solidFill>
                  <a:schemeClr val="accent1"/>
                </a:solidFill>
                <a:latin typeface="Cambria" pitchFamily="34" charset="0"/>
                <a:ea typeface="Cambria" pitchFamily="34" charset="-122"/>
                <a:cs typeface="Cambria" pitchFamily="34" charset="-120"/>
              </a:rPr>
              <a:t>57 / 57</a:t>
            </a:r>
            <a:endParaRPr lang="en-US" sz="4000" dirty="0"/>
          </a:p>
        </p:txBody>
      </p:sp>
      <p:sp>
        <p:nvSpPr>
          <p:cNvPr id="8" name="Text 6"/>
          <p:cNvSpPr txBox="1"/>
          <p:nvPr/>
        </p:nvSpPr>
        <p:spPr>
          <a:xfrm>
            <a:off x="3619424" y="2560320"/>
            <a:ext cx="2110664" cy="1188720"/>
          </a:xfrm>
          <a:prstGeom prst="rect">
            <a:avLst/>
          </a:prstGeom>
          <a:noFill/>
          <a:ln/>
        </p:spPr>
        <p:txBody>
          <a:bodyPr wrap="square" lIns="0" tIns="0" rIns="0" bIns="0" rtlCol="0" anchor="t"/>
          <a:lstStyle/>
          <a:p>
            <a:pPr indent="0" marL="0">
              <a:buNone/>
            </a:pPr>
            <a:r>
              <a:rPr lang="en-US" sz="1300" dirty="0">
                <a:solidFill>
                  <a:schemeClr val="tx1"/>
                </a:solidFill>
              </a:rPr>
              <a:t>red-team attacks stopped across 12 categories</a:t>
            </a:r>
            <a:endParaRPr lang="en-US" sz="1300" dirty="0"/>
          </a:p>
        </p:txBody>
      </p:sp>
      <p:sp>
        <p:nvSpPr>
          <p:cNvPr id="9" name="stat-3"/>
          <p:cNvSpPr/>
          <p:nvPr/>
        </p:nvSpPr>
        <p:spPr>
          <a:xfrm>
            <a:off x="6233008" y="1463040"/>
            <a:ext cx="2567864" cy="2377440"/>
          </a:xfrm>
          <a:prstGeom prst="roundRect">
            <a:avLst>
              <a:gd name="adj" fmla="val 4615"/>
            </a:avLst>
          </a:prstGeom>
          <a:solidFill>
            <a:schemeClr val="bg1"/>
          </a:solidFill>
          <a:ln w="12700">
            <a:solidFill>
              <a:srgbClr val="D9E2DF"/>
            </a:solidFill>
            <a:prstDash val="solid"/>
          </a:ln>
        </p:spPr>
      </p:sp>
      <p:sp>
        <p:nvSpPr>
          <p:cNvPr id="10" name="Text 8"/>
          <p:cNvSpPr txBox="1"/>
          <p:nvPr/>
        </p:nvSpPr>
        <p:spPr>
          <a:xfrm>
            <a:off x="6461608" y="1645920"/>
            <a:ext cx="2110664" cy="868680"/>
          </a:xfrm>
          <a:prstGeom prst="rect">
            <a:avLst/>
          </a:prstGeom>
          <a:noFill/>
          <a:ln/>
        </p:spPr>
        <p:txBody>
          <a:bodyPr wrap="square" lIns="0" tIns="0" rIns="0" bIns="0" rtlCol="0" anchor="t"/>
          <a:lstStyle/>
          <a:p>
            <a:pPr indent="0" marL="0">
              <a:buNone/>
            </a:pPr>
            <a:r>
              <a:rPr lang="en-US" sz="4000" dirty="0">
                <a:solidFill>
                  <a:schemeClr val="accent1"/>
                </a:solidFill>
                <a:latin typeface="Cambria" pitchFamily="34" charset="0"/>
                <a:ea typeface="Cambria" pitchFamily="34" charset="-122"/>
                <a:cs typeface="Cambria" pitchFamily="34" charset="-120"/>
              </a:rPr>
              <a:t>89</a:t>
            </a:r>
            <a:endParaRPr lang="en-US" sz="4000" dirty="0"/>
          </a:p>
        </p:txBody>
      </p:sp>
      <p:sp>
        <p:nvSpPr>
          <p:cNvPr id="11" name="Text 9"/>
          <p:cNvSpPr txBox="1"/>
          <p:nvPr/>
        </p:nvSpPr>
        <p:spPr>
          <a:xfrm>
            <a:off x="6461608" y="2560320"/>
            <a:ext cx="2110664" cy="1188720"/>
          </a:xfrm>
          <a:prstGeom prst="rect">
            <a:avLst/>
          </a:prstGeom>
          <a:noFill/>
          <a:ln/>
        </p:spPr>
        <p:txBody>
          <a:bodyPr wrap="square" lIns="0" tIns="0" rIns="0" bIns="0" rtlCol="0" anchor="t"/>
          <a:lstStyle/>
          <a:p>
            <a:pPr indent="0" marL="0">
              <a:buNone/>
            </a:pPr>
            <a:r>
              <a:rPr lang="en-US" sz="1300" dirty="0">
                <a:solidFill>
                  <a:schemeClr val="tx1"/>
                </a:solidFill>
              </a:rPr>
              <a:t>automated tests, including a live FISCO BCOS round trip</a:t>
            </a:r>
            <a:endParaRPr lang="en-US" sz="1300" dirty="0"/>
          </a:p>
        </p:txBody>
      </p:sp>
      <p:sp>
        <p:nvSpPr>
          <p:cNvPr id="12" name="stat-4"/>
          <p:cNvSpPr/>
          <p:nvPr/>
        </p:nvSpPr>
        <p:spPr>
          <a:xfrm>
            <a:off x="9075191" y="1463040"/>
            <a:ext cx="2567864" cy="2377440"/>
          </a:xfrm>
          <a:prstGeom prst="roundRect">
            <a:avLst>
              <a:gd name="adj" fmla="val 4615"/>
            </a:avLst>
          </a:prstGeom>
          <a:solidFill>
            <a:schemeClr val="bg1"/>
          </a:solidFill>
          <a:ln w="12700">
            <a:solidFill>
              <a:srgbClr val="D9E2DF"/>
            </a:solidFill>
            <a:prstDash val="solid"/>
          </a:ln>
        </p:spPr>
      </p:sp>
      <p:sp>
        <p:nvSpPr>
          <p:cNvPr id="13" name="Text 11"/>
          <p:cNvSpPr txBox="1"/>
          <p:nvPr/>
        </p:nvSpPr>
        <p:spPr>
          <a:xfrm>
            <a:off x="9303791" y="1645920"/>
            <a:ext cx="2110664" cy="868680"/>
          </a:xfrm>
          <a:prstGeom prst="rect">
            <a:avLst/>
          </a:prstGeom>
          <a:noFill/>
          <a:ln/>
        </p:spPr>
        <p:txBody>
          <a:bodyPr wrap="square" lIns="0" tIns="0" rIns="0" bIns="0" rtlCol="0" anchor="t"/>
          <a:lstStyle/>
          <a:p>
            <a:pPr indent="0" marL="0">
              <a:buNone/>
            </a:pPr>
            <a:r>
              <a:rPr lang="en-US" sz="4000" dirty="0">
                <a:solidFill>
                  <a:schemeClr val="accent1"/>
                </a:solidFill>
                <a:latin typeface="Cambria" pitchFamily="34" charset="0"/>
                <a:ea typeface="Cambria" pitchFamily="34" charset="-122"/>
                <a:cs typeface="Cambria" pitchFamily="34" charset="-120"/>
              </a:rPr>
              <a:t>5 / 5</a:t>
            </a:r>
            <a:endParaRPr lang="en-US" sz="4000" dirty="0"/>
          </a:p>
        </p:txBody>
      </p:sp>
      <p:sp>
        <p:nvSpPr>
          <p:cNvPr id="14" name="Text 12"/>
          <p:cNvSpPr txBox="1"/>
          <p:nvPr/>
        </p:nvSpPr>
        <p:spPr>
          <a:xfrm>
            <a:off x="9303791" y="2560320"/>
            <a:ext cx="2110664" cy="1188720"/>
          </a:xfrm>
          <a:prstGeom prst="rect">
            <a:avLst/>
          </a:prstGeom>
          <a:noFill/>
          <a:ln/>
        </p:spPr>
        <p:txBody>
          <a:bodyPr wrap="square" lIns="0" tIns="0" rIns="0" bIns="0" rtlCol="0" anchor="t"/>
          <a:lstStyle/>
          <a:p>
            <a:pPr indent="0" marL="0">
              <a:buNone/>
            </a:pPr>
            <a:r>
              <a:rPr lang="en-US" sz="1300" dirty="0">
                <a:solidFill>
                  <a:schemeClr val="tx1"/>
                </a:solidFill>
              </a:rPr>
              <a:t>model portfolios inside their volatility band, 2008–2026</a:t>
            </a:r>
            <a:endParaRPr lang="en-US" sz="1300" dirty="0"/>
          </a:p>
        </p:txBody>
      </p:sp>
      <p:sp>
        <p:nvSpPr>
          <p:cNvPr id="15" name="backtest-insight"/>
          <p:cNvSpPr/>
          <p:nvPr/>
        </p:nvSpPr>
        <p:spPr>
          <a:xfrm>
            <a:off x="548640" y="4160520"/>
            <a:ext cx="11094415" cy="1783080"/>
          </a:xfrm>
          <a:prstGeom prst="roundRect">
            <a:avLst>
              <a:gd name="adj" fmla="val 6154"/>
            </a:avLst>
          </a:prstGeom>
          <a:solidFill>
            <a:schemeClr val="tx2"/>
          </a:solidFill>
          <a:ln w="12700">
            <a:solidFill>
              <a:srgbClr val="07110F"/>
            </a:solidFill>
            <a:prstDash val="solid"/>
          </a:ln>
        </p:spPr>
      </p:sp>
      <p:sp>
        <p:nvSpPr>
          <p:cNvPr id="16" name="Text 14"/>
          <p:cNvSpPr txBox="1"/>
          <p:nvPr/>
        </p:nvSpPr>
        <p:spPr>
          <a:xfrm>
            <a:off x="868680" y="4343400"/>
            <a:ext cx="5486400" cy="365760"/>
          </a:xfrm>
          <a:prstGeom prst="rect">
            <a:avLst/>
          </a:prstGeom>
          <a:noFill/>
          <a:ln/>
        </p:spPr>
        <p:txBody>
          <a:bodyPr wrap="square" lIns="0" tIns="0" rIns="0" bIns="0" rtlCol="0" anchor="t"/>
          <a:lstStyle/>
          <a:p>
            <a:pPr indent="0" marL="0">
              <a:buNone/>
            </a:pPr>
            <a:r>
              <a:rPr lang="en-US" sz="1500" b="1" dirty="0">
                <a:solidFill>
                  <a:schemeClr val="accent6"/>
                </a:solidFill>
              </a:rPr>
              <a:t>What the backtest taught us</a:t>
            </a:r>
            <a:endParaRPr lang="en-US" sz="1500" dirty="0"/>
          </a:p>
        </p:txBody>
      </p:sp>
      <p:sp>
        <p:nvSpPr>
          <p:cNvPr id="17" name="Text 15"/>
          <p:cNvSpPr txBox="1"/>
          <p:nvPr/>
        </p:nvSpPr>
        <p:spPr>
          <a:xfrm>
            <a:off x="868680" y="4754880"/>
            <a:ext cx="10454335" cy="1097280"/>
          </a:xfrm>
          <a:prstGeom prst="rect">
            <a:avLst/>
          </a:prstGeom>
          <a:noFill/>
          <a:ln/>
        </p:spPr>
        <p:txBody>
          <a:bodyPr wrap="square" lIns="0" tIns="0" rIns="0" bIns="0" rtlCol="0" anchor="t"/>
          <a:lstStyle/>
          <a:p>
            <a:pPr indent="0" marL="0">
              <a:buNone/>
            </a:pPr>
            <a:r>
              <a:rPr lang="en-US" sz="1500" dirty="0">
                <a:solidFill>
                  <a:schemeClr val="bg1"/>
                </a:solidFill>
              </a:rPr>
              <a:t>Every class kept its volatility target for 18 years, yet every class's worst fall was deeper than that number suggests: C5's 2008 drawdown was 34%. A volatility figure does not tell a client what 2008 feels like. That is why Lucid enforces the client's own loss limit and makes them rehearse the crash.</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Architecture</a:t>
            </a:r>
            <a:endParaRPr lang="en-US" sz="3400" dirty="0"/>
          </a:p>
        </p:txBody>
      </p:sp>
      <p:sp>
        <p:nvSpPr>
          <p:cNvPr id="3" name="arch-ui"/>
          <p:cNvSpPr/>
          <p:nvPr/>
        </p:nvSpPr>
        <p:spPr>
          <a:xfrm>
            <a:off x="548640" y="1463040"/>
            <a:ext cx="2377440" cy="1463040"/>
          </a:xfrm>
          <a:prstGeom prst="roundRect">
            <a:avLst>
              <a:gd name="adj" fmla="val 7500"/>
            </a:avLst>
          </a:prstGeom>
          <a:solidFill>
            <a:schemeClr val="bg1"/>
          </a:solidFill>
          <a:ln w="12700">
            <a:solidFill>
              <a:srgbClr val="D9E2DF"/>
            </a:solidFill>
            <a:prstDash val="solid"/>
          </a:ln>
        </p:spPr>
      </p:sp>
      <p:sp>
        <p:nvSpPr>
          <p:cNvPr id="4" name="Text 2"/>
          <p:cNvSpPr txBox="1"/>
          <p:nvPr/>
        </p:nvSpPr>
        <p:spPr>
          <a:xfrm>
            <a:off x="731520" y="1600200"/>
            <a:ext cx="2011680" cy="347472"/>
          </a:xfrm>
          <a:prstGeom prst="rect">
            <a:avLst/>
          </a:prstGeom>
          <a:noFill/>
          <a:ln/>
        </p:spPr>
        <p:txBody>
          <a:bodyPr wrap="square" lIns="0" tIns="0" rIns="0" bIns="0" rtlCol="0" anchor="t"/>
          <a:lstStyle/>
          <a:p>
            <a:pPr indent="0" marL="0">
              <a:buNone/>
            </a:pPr>
            <a:r>
              <a:rPr lang="en-US" sz="1400" b="1" dirty="0">
                <a:solidFill>
                  <a:schemeClr val="accent1"/>
                </a:solidFill>
              </a:rPr>
              <a:t>Web app</a:t>
            </a:r>
            <a:endParaRPr lang="en-US" sz="1400" dirty="0"/>
          </a:p>
        </p:txBody>
      </p:sp>
      <p:sp>
        <p:nvSpPr>
          <p:cNvPr id="5" name="Text 3"/>
          <p:cNvSpPr txBox="1"/>
          <p:nvPr/>
        </p:nvSpPr>
        <p:spPr>
          <a:xfrm>
            <a:off x="731520" y="1965960"/>
            <a:ext cx="2011680" cy="868680"/>
          </a:xfrm>
          <a:prstGeom prst="rect">
            <a:avLst/>
          </a:prstGeom>
          <a:noFill/>
          <a:ln/>
        </p:spPr>
        <p:txBody>
          <a:bodyPr wrap="square" lIns="0" tIns="0" rIns="0" bIns="0" rtlCol="0" anchor="t"/>
          <a:lstStyle/>
          <a:p>
            <a:pPr indent="0" marL="0">
              <a:buNone/>
            </a:pPr>
            <a:r>
              <a:rPr lang="en-US" sz="1150" dirty="0">
                <a:solidFill>
                  <a:schemeClr val="tx1"/>
                </a:solidFill>
              </a:rPr>
              <a:t>Chat + client file, EN / 中文, provenance on every number</a:t>
            </a:r>
            <a:endParaRPr lang="en-US" sz="1150" dirty="0"/>
          </a:p>
        </p:txBody>
      </p:sp>
      <p:sp>
        <p:nvSpPr>
          <p:cNvPr id="6" name="arch-session"/>
          <p:cNvSpPr/>
          <p:nvPr/>
        </p:nvSpPr>
        <p:spPr>
          <a:xfrm>
            <a:off x="3383280" y="1463040"/>
            <a:ext cx="3108960" cy="1463040"/>
          </a:xfrm>
          <a:prstGeom prst="roundRect">
            <a:avLst>
              <a:gd name="adj" fmla="val 7500"/>
            </a:avLst>
          </a:prstGeom>
          <a:solidFill>
            <a:schemeClr val="bg1"/>
          </a:solidFill>
          <a:ln w="12700">
            <a:solidFill>
              <a:srgbClr val="D9E2DF"/>
            </a:solidFill>
            <a:prstDash val="solid"/>
          </a:ln>
        </p:spPr>
      </p:sp>
      <p:sp>
        <p:nvSpPr>
          <p:cNvPr id="7" name="Text 5"/>
          <p:cNvSpPr txBox="1"/>
          <p:nvPr/>
        </p:nvSpPr>
        <p:spPr>
          <a:xfrm>
            <a:off x="3566160" y="1600200"/>
            <a:ext cx="2743200" cy="347472"/>
          </a:xfrm>
          <a:prstGeom prst="rect">
            <a:avLst/>
          </a:prstGeom>
          <a:noFill/>
          <a:ln/>
        </p:spPr>
        <p:txBody>
          <a:bodyPr wrap="square" lIns="0" tIns="0" rIns="0" bIns="0" rtlCol="0" anchor="t"/>
          <a:lstStyle/>
          <a:p>
            <a:pPr indent="0" marL="0">
              <a:buNone/>
            </a:pPr>
            <a:r>
              <a:rPr lang="en-US" sz="1400" b="1" dirty="0">
                <a:solidFill>
                  <a:schemeClr val="accent1"/>
                </a:solidFill>
              </a:rPr>
              <a:t>Advisor session</a:t>
            </a:r>
            <a:endParaRPr lang="en-US" sz="1400" dirty="0"/>
          </a:p>
        </p:txBody>
      </p:sp>
      <p:sp>
        <p:nvSpPr>
          <p:cNvPr id="8" name="Text 6"/>
          <p:cNvSpPr txBox="1"/>
          <p:nvPr/>
        </p:nvSpPr>
        <p:spPr>
          <a:xfrm>
            <a:off x="3566160" y="1965960"/>
            <a:ext cx="2743200" cy="868680"/>
          </a:xfrm>
          <a:prstGeom prst="rect">
            <a:avLst/>
          </a:prstGeom>
          <a:noFill/>
          <a:ln/>
        </p:spPr>
        <p:txBody>
          <a:bodyPr wrap="square" lIns="0" tIns="0" rIns="0" bIns="0" rtlCol="0" anchor="t"/>
          <a:lstStyle/>
          <a:p>
            <a:pPr indent="0" marL="0">
              <a:buNone/>
            </a:pPr>
            <a:r>
              <a:rPr lang="en-US" sz="1150" dirty="0">
                <a:solidFill>
                  <a:schemeClr val="tx1"/>
                </a:solidFill>
              </a:rPr>
              <a:t>Input guard (PII, injection) → agent loop with stage-aware tools → output guard (grounded numbers)</a:t>
            </a:r>
            <a:endParaRPr lang="en-US" sz="1150" dirty="0"/>
          </a:p>
        </p:txBody>
      </p:sp>
      <p:sp>
        <p:nvSpPr>
          <p:cNvPr id="9" name="arch-llm"/>
          <p:cNvSpPr/>
          <p:nvPr/>
        </p:nvSpPr>
        <p:spPr>
          <a:xfrm>
            <a:off x="6949440" y="1463040"/>
            <a:ext cx="2194560" cy="1463040"/>
          </a:xfrm>
          <a:prstGeom prst="roundRect">
            <a:avLst>
              <a:gd name="adj" fmla="val 7500"/>
            </a:avLst>
          </a:prstGeom>
          <a:solidFill>
            <a:schemeClr val="bg1"/>
          </a:solidFill>
          <a:ln w="12700">
            <a:solidFill>
              <a:srgbClr val="D9E2DF"/>
            </a:solidFill>
            <a:prstDash val="solid"/>
          </a:ln>
        </p:spPr>
      </p:sp>
      <p:sp>
        <p:nvSpPr>
          <p:cNvPr id="10" name="Text 8"/>
          <p:cNvSpPr txBox="1"/>
          <p:nvPr/>
        </p:nvSpPr>
        <p:spPr>
          <a:xfrm>
            <a:off x="7132320" y="1600200"/>
            <a:ext cx="1828800" cy="347472"/>
          </a:xfrm>
          <a:prstGeom prst="rect">
            <a:avLst/>
          </a:prstGeom>
          <a:noFill/>
          <a:ln/>
        </p:spPr>
        <p:txBody>
          <a:bodyPr wrap="square" lIns="0" tIns="0" rIns="0" bIns="0" rtlCol="0" anchor="t"/>
          <a:lstStyle/>
          <a:p>
            <a:pPr indent="0" marL="0">
              <a:buNone/>
            </a:pPr>
            <a:r>
              <a:rPr lang="en-US" sz="1400" b="1" dirty="0">
                <a:solidFill>
                  <a:schemeClr val="accent1"/>
                </a:solidFill>
              </a:rPr>
              <a:t>Groq LLMs</a:t>
            </a:r>
            <a:endParaRPr lang="en-US" sz="1400" dirty="0"/>
          </a:p>
        </p:txBody>
      </p:sp>
      <p:sp>
        <p:nvSpPr>
          <p:cNvPr id="11" name="Text 9"/>
          <p:cNvSpPr txBox="1"/>
          <p:nvPr/>
        </p:nvSpPr>
        <p:spPr>
          <a:xfrm>
            <a:off x="7132320" y="1965960"/>
            <a:ext cx="1828800" cy="868680"/>
          </a:xfrm>
          <a:prstGeom prst="rect">
            <a:avLst/>
          </a:prstGeom>
          <a:noFill/>
          <a:ln/>
        </p:spPr>
        <p:txBody>
          <a:bodyPr wrap="square" lIns="0" tIns="0" rIns="0" bIns="0" rtlCol="0" anchor="t"/>
          <a:lstStyle/>
          <a:p>
            <a:pPr indent="0" marL="0">
              <a:buNone/>
            </a:pPr>
            <a:r>
              <a:rPr lang="en-US" sz="1150" dirty="0">
                <a:solidFill>
                  <a:schemeClr val="tx1"/>
                </a:solidFill>
              </a:rPr>
              <a:t>gpt-oss-120b, fallbacks, Prompt Guard; replay offline</a:t>
            </a:r>
            <a:endParaRPr lang="en-US" sz="1150" dirty="0"/>
          </a:p>
        </p:txBody>
      </p:sp>
      <p:sp>
        <p:nvSpPr>
          <p:cNvPr id="12" name="arch-engine"/>
          <p:cNvSpPr/>
          <p:nvPr/>
        </p:nvSpPr>
        <p:spPr>
          <a:xfrm>
            <a:off x="3383280" y="3429000"/>
            <a:ext cx="3108960" cy="1737360"/>
          </a:xfrm>
          <a:prstGeom prst="roundRect">
            <a:avLst>
              <a:gd name="adj" fmla="val 6316"/>
            </a:avLst>
          </a:prstGeom>
          <a:solidFill>
            <a:schemeClr val="bg1"/>
          </a:solidFill>
          <a:ln w="12700">
            <a:solidFill>
              <a:srgbClr val="D9E2DF"/>
            </a:solidFill>
            <a:prstDash val="solid"/>
          </a:ln>
        </p:spPr>
      </p:sp>
      <p:sp>
        <p:nvSpPr>
          <p:cNvPr id="13" name="Text 11"/>
          <p:cNvSpPr txBox="1"/>
          <p:nvPr/>
        </p:nvSpPr>
        <p:spPr>
          <a:xfrm>
            <a:off x="3566160" y="3566160"/>
            <a:ext cx="2743200" cy="347472"/>
          </a:xfrm>
          <a:prstGeom prst="rect">
            <a:avLst/>
          </a:prstGeom>
          <a:noFill/>
          <a:ln/>
        </p:spPr>
        <p:txBody>
          <a:bodyPr wrap="square" lIns="0" tIns="0" rIns="0" bIns="0" rtlCol="0" anchor="t"/>
          <a:lstStyle/>
          <a:p>
            <a:pPr indent="0" marL="0">
              <a:buNone/>
            </a:pPr>
            <a:r>
              <a:rPr lang="en-US" sz="1400" b="1" dirty="0">
                <a:solidFill>
                  <a:schemeClr val="accent1"/>
                </a:solidFill>
              </a:rPr>
              <a:t>Deterministic engine</a:t>
            </a:r>
            <a:endParaRPr lang="en-US" sz="1400" dirty="0"/>
          </a:p>
        </p:txBody>
      </p:sp>
      <p:sp>
        <p:nvSpPr>
          <p:cNvPr id="14" name="Text 12"/>
          <p:cNvSpPr txBox="1"/>
          <p:nvPr/>
        </p:nvSpPr>
        <p:spPr>
          <a:xfrm>
            <a:off x="3566160" y="3931920"/>
            <a:ext cx="2743200" cy="1143000"/>
          </a:xfrm>
          <a:prstGeom prst="rect">
            <a:avLst/>
          </a:prstGeom>
          <a:noFill/>
          <a:ln/>
        </p:spPr>
        <p:txBody>
          <a:bodyPr wrap="square" lIns="0" tIns="0" rIns="0" bIns="0" rtlCol="0" anchor="t"/>
          <a:lstStyle/>
          <a:p>
            <a:pPr indent="0" marL="0">
              <a:buNone/>
            </a:pPr>
            <a:r>
              <a:rPr lang="en-US" sz="1150" dirty="0">
                <a:solidFill>
                  <a:schemeClr val="tx1"/>
                </a:solidFill>
              </a:rPr>
              <a:t>Profiling · Crash Rehearsal · allocation (Ledoit-Wolf, stress limit) · stress · goal Monte Carlo</a:t>
            </a:r>
            <a:endParaRPr lang="en-US" sz="1150" dirty="0"/>
          </a:p>
        </p:txBody>
      </p:sp>
      <p:sp>
        <p:nvSpPr>
          <p:cNvPr id="15" name="arch-data"/>
          <p:cNvSpPr/>
          <p:nvPr/>
        </p:nvSpPr>
        <p:spPr>
          <a:xfrm>
            <a:off x="6949440" y="3429000"/>
            <a:ext cx="2194560" cy="1737360"/>
          </a:xfrm>
          <a:prstGeom prst="roundRect">
            <a:avLst>
              <a:gd name="adj" fmla="val 6316"/>
            </a:avLst>
          </a:prstGeom>
          <a:solidFill>
            <a:schemeClr val="bg1"/>
          </a:solidFill>
          <a:ln w="12700">
            <a:solidFill>
              <a:srgbClr val="D9E2DF"/>
            </a:solidFill>
            <a:prstDash val="solid"/>
          </a:ln>
        </p:spPr>
      </p:sp>
      <p:sp>
        <p:nvSpPr>
          <p:cNvPr id="16" name="Text 14"/>
          <p:cNvSpPr txBox="1"/>
          <p:nvPr/>
        </p:nvSpPr>
        <p:spPr>
          <a:xfrm>
            <a:off x="7132320" y="3566160"/>
            <a:ext cx="1828800" cy="347472"/>
          </a:xfrm>
          <a:prstGeom prst="rect">
            <a:avLst/>
          </a:prstGeom>
          <a:noFill/>
          <a:ln/>
        </p:spPr>
        <p:txBody>
          <a:bodyPr wrap="square" lIns="0" tIns="0" rIns="0" bIns="0" rtlCol="0" anchor="t"/>
          <a:lstStyle/>
          <a:p>
            <a:pPr indent="0" marL="0">
              <a:buNone/>
            </a:pPr>
            <a:r>
              <a:rPr lang="en-US" sz="1400" b="1" dirty="0">
                <a:solidFill>
                  <a:schemeClr val="accent1"/>
                </a:solidFill>
              </a:rPr>
              <a:t>Real data</a:t>
            </a:r>
            <a:endParaRPr lang="en-US" sz="1400" dirty="0"/>
          </a:p>
        </p:txBody>
      </p:sp>
      <p:sp>
        <p:nvSpPr>
          <p:cNvPr id="17" name="Text 15"/>
          <p:cNvSpPr txBox="1"/>
          <p:nvPr/>
        </p:nvSpPr>
        <p:spPr>
          <a:xfrm>
            <a:off x="7132320" y="3931920"/>
            <a:ext cx="1828800" cy="1143000"/>
          </a:xfrm>
          <a:prstGeom prst="rect">
            <a:avLst/>
          </a:prstGeom>
          <a:noFill/>
          <a:ln/>
        </p:spPr>
        <p:txBody>
          <a:bodyPr wrap="square" lIns="0" tIns="0" rIns="0" bIns="0" rtlCol="0" anchor="t"/>
          <a:lstStyle/>
          <a:p>
            <a:pPr indent="0" marL="0">
              <a:buNone/>
            </a:pPr>
            <a:r>
              <a:rPr lang="en-US" sz="1150" dirty="0">
                <a:solidFill>
                  <a:schemeClr val="tx1"/>
                </a:solidFill>
              </a:rPr>
              <a:t>24 Chinese funds · French · FRED · World Bank</a:t>
            </a:r>
            <a:endParaRPr lang="en-US" sz="1150" dirty="0"/>
          </a:p>
        </p:txBody>
      </p:sp>
      <p:sp>
        <p:nvSpPr>
          <p:cNvPr id="18" name="arch-exec"/>
          <p:cNvSpPr/>
          <p:nvPr/>
        </p:nvSpPr>
        <p:spPr>
          <a:xfrm>
            <a:off x="548640" y="3429000"/>
            <a:ext cx="2377440" cy="1737360"/>
          </a:xfrm>
          <a:prstGeom prst="roundRect">
            <a:avLst>
              <a:gd name="adj" fmla="val 6316"/>
            </a:avLst>
          </a:prstGeom>
          <a:solidFill>
            <a:schemeClr val="bg1"/>
          </a:solidFill>
          <a:ln w="12700">
            <a:solidFill>
              <a:srgbClr val="D9E2DF"/>
            </a:solidFill>
            <a:prstDash val="solid"/>
          </a:ln>
        </p:spPr>
      </p:sp>
      <p:sp>
        <p:nvSpPr>
          <p:cNvPr id="19" name="Text 17"/>
          <p:cNvSpPr txBox="1"/>
          <p:nvPr/>
        </p:nvSpPr>
        <p:spPr>
          <a:xfrm>
            <a:off x="731520" y="3566160"/>
            <a:ext cx="2011680" cy="347472"/>
          </a:xfrm>
          <a:prstGeom prst="rect">
            <a:avLst/>
          </a:prstGeom>
          <a:noFill/>
          <a:ln/>
        </p:spPr>
        <p:txBody>
          <a:bodyPr wrap="square" lIns="0" tIns="0" rIns="0" bIns="0" rtlCol="0" anchor="t"/>
          <a:lstStyle/>
          <a:p>
            <a:pPr indent="0" marL="0">
              <a:buNone/>
            </a:pPr>
            <a:r>
              <a:rPr lang="en-US" sz="1400" b="1" dirty="0">
                <a:solidFill>
                  <a:schemeClr val="accent1"/>
                </a:solidFill>
              </a:rPr>
              <a:t>Execution</a:t>
            </a:r>
            <a:endParaRPr lang="en-US" sz="1400" dirty="0"/>
          </a:p>
        </p:txBody>
      </p:sp>
      <p:sp>
        <p:nvSpPr>
          <p:cNvPr id="20" name="Text 18"/>
          <p:cNvSpPr txBox="1"/>
          <p:nvPr/>
        </p:nvSpPr>
        <p:spPr>
          <a:xfrm>
            <a:off x="731520" y="3931920"/>
            <a:ext cx="2011680" cy="1143000"/>
          </a:xfrm>
          <a:prstGeom prst="rect">
            <a:avLst/>
          </a:prstGeom>
          <a:noFill/>
          <a:ln/>
        </p:spPr>
        <p:txBody>
          <a:bodyPr wrap="square" lIns="0" tIns="0" rIns="0" bIns="0" rtlCol="0" anchor="t"/>
          <a:lstStyle/>
          <a:p>
            <a:pPr indent="0" marL="0">
              <a:buNone/>
            </a:pPr>
            <a:r>
              <a:rPr lang="en-US" sz="1150" dirty="0">
                <a:solidFill>
                  <a:schemeClr val="tx1"/>
                </a:solidFill>
              </a:rPr>
              <a:t>Tiers T0–T3, one-time tokens, simulated account, T+2</a:t>
            </a:r>
            <a:endParaRPr lang="en-US" sz="1150" dirty="0"/>
          </a:p>
        </p:txBody>
      </p:sp>
      <p:sp>
        <p:nvSpPr>
          <p:cNvPr id="21" name="arch-chain"/>
          <p:cNvSpPr/>
          <p:nvPr/>
        </p:nvSpPr>
        <p:spPr>
          <a:xfrm>
            <a:off x="9601200" y="1463040"/>
            <a:ext cx="2039112" cy="3703320"/>
          </a:xfrm>
          <a:prstGeom prst="roundRect">
            <a:avLst>
              <a:gd name="adj" fmla="val 5381"/>
            </a:avLst>
          </a:prstGeom>
          <a:solidFill>
            <a:schemeClr val="tx2"/>
          </a:solidFill>
          <a:ln w="12700">
            <a:solidFill>
              <a:srgbClr val="07110F"/>
            </a:solidFill>
            <a:prstDash val="solid"/>
          </a:ln>
        </p:spPr>
      </p:sp>
      <p:sp>
        <p:nvSpPr>
          <p:cNvPr id="22" name="Text 20"/>
          <p:cNvSpPr txBox="1"/>
          <p:nvPr/>
        </p:nvSpPr>
        <p:spPr>
          <a:xfrm>
            <a:off x="9784080" y="1600200"/>
            <a:ext cx="1673352" cy="347472"/>
          </a:xfrm>
          <a:prstGeom prst="rect">
            <a:avLst/>
          </a:prstGeom>
          <a:noFill/>
          <a:ln/>
        </p:spPr>
        <p:txBody>
          <a:bodyPr wrap="square" lIns="0" tIns="0" rIns="0" bIns="0" rtlCol="0" anchor="t"/>
          <a:lstStyle/>
          <a:p>
            <a:pPr indent="0" marL="0">
              <a:buNone/>
            </a:pPr>
            <a:r>
              <a:rPr lang="en-US" sz="1400" b="1" dirty="0">
                <a:solidFill>
                  <a:schemeClr val="accent6"/>
                </a:solidFill>
              </a:rPr>
              <a:t>FISCO BCOS</a:t>
            </a:r>
            <a:endParaRPr lang="en-US" sz="1400" dirty="0"/>
          </a:p>
        </p:txBody>
      </p:sp>
      <p:sp>
        <p:nvSpPr>
          <p:cNvPr id="23" name="Text 21"/>
          <p:cNvSpPr txBox="1"/>
          <p:nvPr/>
        </p:nvSpPr>
        <p:spPr>
          <a:xfrm>
            <a:off x="9784080" y="1965960"/>
            <a:ext cx="1673352" cy="3108960"/>
          </a:xfrm>
          <a:prstGeom prst="rect">
            <a:avLst/>
          </a:prstGeom>
          <a:noFill/>
          <a:ln/>
        </p:spPr>
        <p:txBody>
          <a:bodyPr wrap="square" lIns="0" tIns="0" rIns="0" bIns="0" rtlCol="0" anchor="t"/>
          <a:lstStyle/>
          <a:p>
            <a:pPr indent="0" marL="0">
              <a:buNone/>
            </a:pPr>
            <a:r>
              <a:rPr lang="en-US" sz="1150" dirty="0">
                <a:solidFill>
                  <a:schemeClr val="bg1"/>
                </a:solidFill>
              </a:rPr>
              <a:t>AuditAnchor contract on a 4-node consortium chain. Hash-chained audit log; Verify recomputes and compares.</a:t>
            </a:r>
            <a:endParaRPr lang="en-US" sz="1150" dirty="0"/>
          </a:p>
        </p:txBody>
      </p:sp>
      <p:sp>
        <p:nvSpPr>
          <p:cNvPr id="24" name="arch-arrow"/>
          <p:cNvSpPr/>
          <p:nvPr/>
        </p:nvSpPr>
        <p:spPr>
          <a:xfrm>
            <a:off x="2971800" y="2057400"/>
            <a:ext cx="365760" cy="274320"/>
          </a:xfrm>
          <a:prstGeom prst="rightArrow">
            <a:avLst/>
          </a:prstGeom>
          <a:solidFill>
            <a:schemeClr val="accent5"/>
          </a:solidFill>
          <a:ln w="12700">
            <a:solidFill>
              <a:schemeClr val="accent5"/>
            </a:solidFill>
            <a:prstDash val="solid"/>
          </a:ln>
        </p:spPr>
      </p:sp>
      <p:sp>
        <p:nvSpPr>
          <p:cNvPr id="25" name="arch-arrow"/>
          <p:cNvSpPr/>
          <p:nvPr/>
        </p:nvSpPr>
        <p:spPr>
          <a:xfrm>
            <a:off x="6537960" y="2057400"/>
            <a:ext cx="365760" cy="274320"/>
          </a:xfrm>
          <a:prstGeom prst="rightArrow">
            <a:avLst/>
          </a:prstGeom>
          <a:solidFill>
            <a:schemeClr val="accent5"/>
          </a:solidFill>
          <a:ln w="12700">
            <a:solidFill>
              <a:schemeClr val="accent5"/>
            </a:solidFill>
            <a:prstDash val="solid"/>
          </a:ln>
        </p:spPr>
      </p:sp>
      <p:sp>
        <p:nvSpPr>
          <p:cNvPr id="26" name="arch-arrow"/>
          <p:cNvSpPr/>
          <p:nvPr/>
        </p:nvSpPr>
        <p:spPr>
          <a:xfrm>
            <a:off x="9189720" y="3200400"/>
            <a:ext cx="365760" cy="274320"/>
          </a:xfrm>
          <a:prstGeom prst="rightArrow">
            <a:avLst/>
          </a:prstGeom>
          <a:solidFill>
            <a:schemeClr val="accent5"/>
          </a:solidFill>
          <a:ln w="12700">
            <a:solidFill>
              <a:schemeClr val="accent5"/>
            </a:solidFill>
            <a:prstDash val="solid"/>
          </a:ln>
        </p:spPr>
      </p:sp>
      <p:sp>
        <p:nvSpPr>
          <p:cNvPr id="27" name="arch-down"/>
          <p:cNvSpPr/>
          <p:nvPr/>
        </p:nvSpPr>
        <p:spPr>
          <a:xfrm>
            <a:off x="4754880" y="2971800"/>
            <a:ext cx="274320" cy="411480"/>
          </a:xfrm>
          <a:prstGeom prst="downArrow">
            <a:avLst/>
          </a:prstGeom>
          <a:solidFill>
            <a:schemeClr val="accent5"/>
          </a:solidFill>
          <a:ln w="12700">
            <a:solidFill>
              <a:schemeClr val="accent5"/>
            </a:solidFill>
            <a:prstDash val="solid"/>
          </a:ln>
        </p:spPr>
      </p:sp>
      <p:sp>
        <p:nvSpPr>
          <p:cNvPr id="28" name="Text 26"/>
          <p:cNvSpPr txBox="1"/>
          <p:nvPr/>
        </p:nvSpPr>
        <p:spPr>
          <a:xfrm>
            <a:off x="548640" y="5486400"/>
            <a:ext cx="11094415" cy="365760"/>
          </a:xfrm>
          <a:prstGeom prst="rect">
            <a:avLst/>
          </a:prstGeom>
          <a:noFill/>
          <a:ln/>
        </p:spPr>
        <p:txBody>
          <a:bodyPr wrap="square" lIns="0" tIns="0" rIns="0" bIns="0" rtlCol="0" anchor="t"/>
          <a:lstStyle/>
          <a:p>
            <a:pPr indent="0" marL="0">
              <a:buNone/>
            </a:pPr>
            <a:r>
              <a:rPr lang="en-US" sz="1250" dirty="0">
                <a:solidFill>
                  <a:schemeClr val="accent5"/>
                </a:solidFill>
              </a:rPr>
              <a:t>Python 3.12 · FastAPI · NumPy · web3.py + Solidity · plain HTML/CSS/JS · one command: uv run wealth-advisor-ui</a:t>
            </a:r>
            <a:endParaRPr lang="en-US" sz="125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indent="0" marL="0">
              <a:buNone/>
            </a:pPr>
            <a:r>
              <a:rPr lang="en-US" sz="3400" dirty="0">
                <a:solidFill>
                  <a:schemeClr val="tx1"/>
                </a:solidFill>
                <a:latin typeface="Cambria" pitchFamily="34" charset="0"/>
                <a:ea typeface="Cambria" pitchFamily="34" charset="-122"/>
                <a:cs typeface="Cambria" pitchFamily="34" charset="-120"/>
              </a:rPr>
              <a:t>Built for a bank like WeBank</a:t>
            </a:r>
            <a:endParaRPr lang="en-US" sz="3400" dirty="0"/>
          </a:p>
        </p:txBody>
      </p:sp>
      <p:sp>
        <p:nvSpPr>
          <p:cNvPr id="3" name="fit-1"/>
          <p:cNvSpPr/>
          <p:nvPr/>
        </p:nvSpPr>
        <p:spPr>
          <a:xfrm>
            <a:off x="548640" y="1463040"/>
            <a:ext cx="5410048" cy="2011680"/>
          </a:xfrm>
          <a:prstGeom prst="roundRect">
            <a:avLst>
              <a:gd name="adj" fmla="val 5455"/>
            </a:avLst>
          </a:prstGeom>
          <a:solidFill>
            <a:schemeClr val="bg1"/>
          </a:solidFill>
          <a:ln w="12700">
            <a:solidFill>
              <a:srgbClr val="D9E2DF"/>
            </a:solidFill>
            <a:prstDash val="solid"/>
          </a:ln>
        </p:spPr>
      </p:sp>
      <p:sp>
        <p:nvSpPr>
          <p:cNvPr id="4" name="Text 2"/>
          <p:cNvSpPr txBox="1"/>
          <p:nvPr/>
        </p:nvSpPr>
        <p:spPr>
          <a:xfrm>
            <a:off x="822960" y="1691640"/>
            <a:ext cx="3581248" cy="411480"/>
          </a:xfrm>
          <a:prstGeom prst="rect">
            <a:avLst/>
          </a:prstGeom>
          <a:noFill/>
          <a:ln/>
        </p:spPr>
        <p:txBody>
          <a:bodyPr wrap="square" lIns="0" tIns="0" rIns="0" bIns="0" rtlCol="0" anchor="t"/>
          <a:lstStyle/>
          <a:p>
            <a:pPr indent="0" marL="0">
              <a:buNone/>
            </a:pPr>
            <a:r>
              <a:rPr lang="en-US" sz="1800" b="1" dirty="0">
                <a:solidFill>
                  <a:schemeClr val="tx1"/>
                </a:solidFill>
              </a:rPr>
              <a:t>FISCO BCOS</a:t>
            </a:r>
            <a:endParaRPr lang="en-US" sz="1800" dirty="0"/>
          </a:p>
        </p:txBody>
      </p:sp>
      <p:sp>
        <p:nvSpPr>
          <p:cNvPr id="5" name="fit-status-1"/>
          <p:cNvSpPr/>
          <p:nvPr/>
        </p:nvSpPr>
        <p:spPr>
          <a:xfrm>
            <a:off x="4769968" y="1709928"/>
            <a:ext cx="914400" cy="365760"/>
          </a:xfrm>
          <a:prstGeom prst="roundRect">
            <a:avLst>
              <a:gd name="adj" fmla="val 50000"/>
            </a:avLst>
          </a:prstGeom>
          <a:solidFill>
            <a:schemeClr val="accent1"/>
          </a:solidFill>
          <a:ln w="12700">
            <a:solidFill>
              <a:srgbClr val="17695A"/>
            </a:solidFill>
            <a:prstDash val="solid"/>
          </a:ln>
        </p:spPr>
      </p:sp>
      <p:sp>
        <p:nvSpPr>
          <p:cNvPr id="6" name="Text 4"/>
          <p:cNvSpPr txBox="1"/>
          <p:nvPr/>
        </p:nvSpPr>
        <p:spPr>
          <a:xfrm>
            <a:off x="4769968" y="1709928"/>
            <a:ext cx="914400" cy="365760"/>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7" name="Text 5"/>
          <p:cNvSpPr txBox="1"/>
          <p:nvPr/>
        </p:nvSpPr>
        <p:spPr>
          <a:xfrm>
            <a:off x="822960" y="2240280"/>
            <a:ext cx="4861408" cy="1097280"/>
          </a:xfrm>
          <a:prstGeom prst="rect">
            <a:avLst/>
          </a:prstGeom>
          <a:noFill/>
          <a:ln/>
        </p:spPr>
        <p:txBody>
          <a:bodyPr wrap="square" lIns="0" tIns="0" rIns="0" bIns="0" rtlCol="0" anchor="t"/>
          <a:lstStyle/>
          <a:p>
            <a:pPr indent="0" marL="0">
              <a:buNone/>
            </a:pPr>
            <a:r>
              <a:rPr lang="en-US" sz="1400" dirty="0">
                <a:solidFill>
                  <a:schemeClr val="accent5"/>
                </a:solidFill>
              </a:rPr>
              <a:t>Advisory records anchored on WeBank's consortium chain. In production, nodes run by the bank, an auditor and the regulator.</a:t>
            </a:r>
            <a:endParaRPr lang="en-US" sz="1400" dirty="0"/>
          </a:p>
        </p:txBody>
      </p:sp>
      <p:sp>
        <p:nvSpPr>
          <p:cNvPr id="8" name="fit-2"/>
          <p:cNvSpPr/>
          <p:nvPr/>
        </p:nvSpPr>
        <p:spPr>
          <a:xfrm>
            <a:off x="6233008" y="1463040"/>
            <a:ext cx="5410048" cy="2011680"/>
          </a:xfrm>
          <a:prstGeom prst="roundRect">
            <a:avLst>
              <a:gd name="adj" fmla="val 5455"/>
            </a:avLst>
          </a:prstGeom>
          <a:solidFill>
            <a:schemeClr val="bg1"/>
          </a:solidFill>
          <a:ln w="12700">
            <a:solidFill>
              <a:srgbClr val="D9E2DF"/>
            </a:solidFill>
            <a:prstDash val="solid"/>
          </a:ln>
        </p:spPr>
      </p:sp>
      <p:sp>
        <p:nvSpPr>
          <p:cNvPr id="9" name="Text 7"/>
          <p:cNvSpPr txBox="1"/>
          <p:nvPr/>
        </p:nvSpPr>
        <p:spPr>
          <a:xfrm>
            <a:off x="6507328" y="1691640"/>
            <a:ext cx="3581248" cy="411480"/>
          </a:xfrm>
          <a:prstGeom prst="rect">
            <a:avLst/>
          </a:prstGeom>
          <a:noFill/>
          <a:ln/>
        </p:spPr>
        <p:txBody>
          <a:bodyPr wrap="square" lIns="0" tIns="0" rIns="0" bIns="0" rtlCol="0" anchor="t"/>
          <a:lstStyle/>
          <a:p>
            <a:pPr indent="0" marL="0">
              <a:buNone/>
            </a:pPr>
            <a:r>
              <a:rPr lang="en-US" sz="1800" b="1" dirty="0">
                <a:solidFill>
                  <a:schemeClr val="tx1"/>
                </a:solidFill>
              </a:rPr>
              <a:t>FATE federated learning</a:t>
            </a:r>
            <a:endParaRPr lang="en-US" sz="1800" dirty="0"/>
          </a:p>
        </p:txBody>
      </p:sp>
      <p:sp>
        <p:nvSpPr>
          <p:cNvPr id="10" name="fit-status-2"/>
          <p:cNvSpPr/>
          <p:nvPr/>
        </p:nvSpPr>
        <p:spPr>
          <a:xfrm>
            <a:off x="10454335" y="1709928"/>
            <a:ext cx="914400" cy="365760"/>
          </a:xfrm>
          <a:prstGeom prst="roundRect">
            <a:avLst>
              <a:gd name="adj" fmla="val 50000"/>
            </a:avLst>
          </a:prstGeom>
          <a:solidFill>
            <a:schemeClr val="bg2"/>
          </a:solidFill>
          <a:ln w="12700">
            <a:solidFill>
              <a:srgbClr val="D9E2DF"/>
            </a:solidFill>
            <a:prstDash val="solid"/>
          </a:ln>
        </p:spPr>
      </p:sp>
      <p:sp>
        <p:nvSpPr>
          <p:cNvPr id="11" name="Text 9"/>
          <p:cNvSpPr txBox="1"/>
          <p:nvPr/>
        </p:nvSpPr>
        <p:spPr>
          <a:xfrm>
            <a:off x="10454335" y="1709928"/>
            <a:ext cx="914400" cy="365760"/>
          </a:xfrm>
          <a:prstGeom prst="rect">
            <a:avLst/>
          </a:prstGeom>
          <a:noFill/>
          <a:ln/>
        </p:spPr>
        <p:txBody>
          <a:bodyPr wrap="square" lIns="0" tIns="0" rIns="0" bIns="0" rtlCol="0" anchor="ctr"/>
          <a:lstStyle/>
          <a:p>
            <a:pPr algn="ctr" indent="0" marL="0">
              <a:buNone/>
            </a:pPr>
            <a:r>
              <a:rPr lang="en-US" sz="1200" b="1" dirty="0">
                <a:solidFill>
                  <a:schemeClr val="accent5"/>
                </a:solidFill>
              </a:rPr>
              <a:t>Next</a:t>
            </a:r>
            <a:endParaRPr lang="en-US" sz="1200" dirty="0"/>
          </a:p>
        </p:txBody>
      </p:sp>
      <p:sp>
        <p:nvSpPr>
          <p:cNvPr id="12" name="Text 10"/>
          <p:cNvSpPr txBox="1"/>
          <p:nvPr/>
        </p:nvSpPr>
        <p:spPr>
          <a:xfrm>
            <a:off x="6507328" y="2240280"/>
            <a:ext cx="4861408" cy="1097280"/>
          </a:xfrm>
          <a:prstGeom prst="rect">
            <a:avLst/>
          </a:prstGeom>
          <a:noFill/>
          <a:ln/>
        </p:spPr>
        <p:txBody>
          <a:bodyPr wrap="square" lIns="0" tIns="0" rIns="0" bIns="0" rtlCol="0" anchor="t"/>
          <a:lstStyle/>
          <a:p>
            <a:pPr indent="0" marL="0">
              <a:buNone/>
            </a:pPr>
            <a:r>
              <a:rPr lang="en-US" sz="1400" dirty="0">
                <a:solidFill>
                  <a:schemeClr val="accent5"/>
                </a:solidFill>
              </a:rPr>
              <a:t>Crash Rehearsal creates a new signal: revealed risk tolerance. Banks could learn to predict it from questionnaires with FATE, without pooling client data.</a:t>
            </a:r>
            <a:endParaRPr lang="en-US" sz="1400" dirty="0"/>
          </a:p>
        </p:txBody>
      </p:sp>
      <p:sp>
        <p:nvSpPr>
          <p:cNvPr id="13" name="fit-3"/>
          <p:cNvSpPr/>
          <p:nvPr/>
        </p:nvSpPr>
        <p:spPr>
          <a:xfrm>
            <a:off x="548640" y="3703320"/>
            <a:ext cx="5410048" cy="2011680"/>
          </a:xfrm>
          <a:prstGeom prst="roundRect">
            <a:avLst>
              <a:gd name="adj" fmla="val 5455"/>
            </a:avLst>
          </a:prstGeom>
          <a:solidFill>
            <a:schemeClr val="bg1"/>
          </a:solidFill>
          <a:ln w="12700">
            <a:solidFill>
              <a:srgbClr val="D9E2DF"/>
            </a:solidFill>
            <a:prstDash val="solid"/>
          </a:ln>
        </p:spPr>
      </p:sp>
      <p:sp>
        <p:nvSpPr>
          <p:cNvPr id="14" name="Text 12"/>
          <p:cNvSpPr txBox="1"/>
          <p:nvPr/>
        </p:nvSpPr>
        <p:spPr>
          <a:xfrm>
            <a:off x="822960" y="3931920"/>
            <a:ext cx="3581248" cy="411480"/>
          </a:xfrm>
          <a:prstGeom prst="rect">
            <a:avLst/>
          </a:prstGeom>
          <a:noFill/>
          <a:ln/>
        </p:spPr>
        <p:txBody>
          <a:bodyPr wrap="square" lIns="0" tIns="0" rIns="0" bIns="0" rtlCol="0" anchor="t"/>
          <a:lstStyle/>
          <a:p>
            <a:pPr indent="0" marL="0">
              <a:buNone/>
            </a:pPr>
            <a:r>
              <a:rPr lang="en-US" sz="1800" b="1" dirty="0">
                <a:solidFill>
                  <a:schemeClr val="tx1"/>
                </a:solidFill>
              </a:rPr>
              <a:t>Fund distribution</a:t>
            </a:r>
            <a:endParaRPr lang="en-US" sz="1800" dirty="0"/>
          </a:p>
        </p:txBody>
      </p:sp>
      <p:sp>
        <p:nvSpPr>
          <p:cNvPr id="15" name="fit-status-3"/>
          <p:cNvSpPr/>
          <p:nvPr/>
        </p:nvSpPr>
        <p:spPr>
          <a:xfrm>
            <a:off x="4769968" y="3950208"/>
            <a:ext cx="914400" cy="365760"/>
          </a:xfrm>
          <a:prstGeom prst="roundRect">
            <a:avLst>
              <a:gd name="adj" fmla="val 50000"/>
            </a:avLst>
          </a:prstGeom>
          <a:solidFill>
            <a:schemeClr val="accent1"/>
          </a:solidFill>
          <a:ln w="12700">
            <a:solidFill>
              <a:srgbClr val="17695A"/>
            </a:solidFill>
            <a:prstDash val="solid"/>
          </a:ln>
        </p:spPr>
      </p:sp>
      <p:sp>
        <p:nvSpPr>
          <p:cNvPr id="16" name="Text 14"/>
          <p:cNvSpPr txBox="1"/>
          <p:nvPr/>
        </p:nvSpPr>
        <p:spPr>
          <a:xfrm>
            <a:off x="4769968" y="3950208"/>
            <a:ext cx="914400" cy="365760"/>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17" name="Text 15"/>
          <p:cNvSpPr txBox="1"/>
          <p:nvPr/>
        </p:nvSpPr>
        <p:spPr>
          <a:xfrm>
            <a:off x="822960" y="4480560"/>
            <a:ext cx="4861408" cy="1097280"/>
          </a:xfrm>
          <a:prstGeom prst="rect">
            <a:avLst/>
          </a:prstGeom>
          <a:noFill/>
          <a:ln/>
        </p:spPr>
        <p:txBody>
          <a:bodyPr wrap="square" lIns="0" tIns="0" rIns="0" bIns="0" rtlCol="0" anchor="t"/>
          <a:lstStyle/>
          <a:p>
            <a:pPr indent="0" marL="0">
              <a:buNone/>
            </a:pPr>
            <a:r>
              <a:rPr lang="en-US" sz="1400" dirty="0">
                <a:solidFill>
                  <a:schemeClr val="accent5"/>
                </a:solidFill>
              </a:rPr>
              <a:t>Real public funds with distributor risk levels, the products a digital bank already sells.</a:t>
            </a:r>
            <a:endParaRPr lang="en-US" sz="1400" dirty="0"/>
          </a:p>
        </p:txBody>
      </p:sp>
      <p:sp>
        <p:nvSpPr>
          <p:cNvPr id="18" name="fit-4"/>
          <p:cNvSpPr/>
          <p:nvPr/>
        </p:nvSpPr>
        <p:spPr>
          <a:xfrm>
            <a:off x="6233008" y="3703320"/>
            <a:ext cx="5410048" cy="2011680"/>
          </a:xfrm>
          <a:prstGeom prst="roundRect">
            <a:avLst>
              <a:gd name="adj" fmla="val 5455"/>
            </a:avLst>
          </a:prstGeom>
          <a:solidFill>
            <a:schemeClr val="bg1"/>
          </a:solidFill>
          <a:ln w="12700">
            <a:solidFill>
              <a:srgbClr val="D9E2DF"/>
            </a:solidFill>
            <a:prstDash val="solid"/>
          </a:ln>
        </p:spPr>
      </p:sp>
      <p:sp>
        <p:nvSpPr>
          <p:cNvPr id="19" name="Text 17"/>
          <p:cNvSpPr txBox="1"/>
          <p:nvPr/>
        </p:nvSpPr>
        <p:spPr>
          <a:xfrm>
            <a:off x="6507328" y="3931920"/>
            <a:ext cx="3581248" cy="411480"/>
          </a:xfrm>
          <a:prstGeom prst="rect">
            <a:avLst/>
          </a:prstGeom>
          <a:noFill/>
          <a:ln/>
        </p:spPr>
        <p:txBody>
          <a:bodyPr wrap="square" lIns="0" tIns="0" rIns="0" bIns="0" rtlCol="0" anchor="t"/>
          <a:lstStyle/>
          <a:p>
            <a:pPr indent="0" marL="0">
              <a:buNone/>
            </a:pPr>
            <a:r>
              <a:rPr lang="en-US" sz="1800" b="1" dirty="0">
                <a:solidFill>
                  <a:schemeClr val="tx1"/>
                </a:solidFill>
              </a:rPr>
              <a:t>Shenzhen, APEC 2026</a:t>
            </a:r>
            <a:endParaRPr lang="en-US" sz="1800" dirty="0"/>
          </a:p>
        </p:txBody>
      </p:sp>
      <p:sp>
        <p:nvSpPr>
          <p:cNvPr id="20" name="fit-status-4"/>
          <p:cNvSpPr/>
          <p:nvPr/>
        </p:nvSpPr>
        <p:spPr>
          <a:xfrm>
            <a:off x="10454335" y="3950208"/>
            <a:ext cx="914400" cy="365760"/>
          </a:xfrm>
          <a:prstGeom prst="roundRect">
            <a:avLst>
              <a:gd name="adj" fmla="val 50000"/>
            </a:avLst>
          </a:prstGeom>
          <a:solidFill>
            <a:schemeClr val="accent1"/>
          </a:solidFill>
          <a:ln w="12700">
            <a:solidFill>
              <a:srgbClr val="17695A"/>
            </a:solidFill>
            <a:prstDash val="solid"/>
          </a:ln>
        </p:spPr>
      </p:sp>
      <p:sp>
        <p:nvSpPr>
          <p:cNvPr id="21" name="Text 19"/>
          <p:cNvSpPr txBox="1"/>
          <p:nvPr/>
        </p:nvSpPr>
        <p:spPr>
          <a:xfrm>
            <a:off x="10454335" y="3950208"/>
            <a:ext cx="914400" cy="365760"/>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22" name="Text 20"/>
          <p:cNvSpPr txBox="1"/>
          <p:nvPr/>
        </p:nvSpPr>
        <p:spPr>
          <a:xfrm>
            <a:off x="6507328" y="4480560"/>
            <a:ext cx="4861408" cy="1097280"/>
          </a:xfrm>
          <a:prstGeom prst="rect">
            <a:avLst/>
          </a:prstGeom>
          <a:noFill/>
          <a:ln/>
        </p:spPr>
        <p:txBody>
          <a:bodyPr wrap="square" lIns="0" tIns="0" rIns="0" bIns="0" rtlCol="0" anchor="t"/>
          <a:lstStyle/>
          <a:p>
            <a:pPr indent="0" marL="0">
              <a:buNone/>
            </a:pPr>
            <a:r>
              <a:rPr lang="en-US" sz="1400" dirty="0">
                <a:solidFill>
                  <a:schemeClr val="accent5"/>
                </a:solidFill>
              </a:rPr>
              <a:t>Bilingual English / 简体中文 interface; clients from across the region.</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828800"/>
            <a:ext cx="10058400" cy="1280160"/>
          </a:xfrm>
          <a:prstGeom prst="rect">
            <a:avLst/>
          </a:prstGeom>
          <a:noFill/>
          <a:ln/>
        </p:spPr>
        <p:txBody>
          <a:bodyPr wrap="square" lIns="0" tIns="0" rIns="0" bIns="0" rtlCol="0" anchor="b"/>
          <a:lstStyle/>
          <a:p>
            <a:pPr indent="0" marL="0">
              <a:buNone/>
            </a:pPr>
            <a:r>
              <a:rPr lang="en-US" sz="6000" dirty="0">
                <a:solidFill>
                  <a:schemeClr val="bg1"/>
                </a:solidFill>
                <a:latin typeface="Cambria" pitchFamily="34" charset="0"/>
                <a:ea typeface="Cambria" pitchFamily="34" charset="-122"/>
                <a:cs typeface="Cambria" pitchFamily="34" charset="-120"/>
              </a:rPr>
              <a:t>Advice you can prove.</a:t>
            </a:r>
            <a:endParaRPr lang="en-US" sz="6000" dirty="0"/>
          </a:p>
        </p:txBody>
      </p:sp>
      <p:sp>
        <p:nvSpPr>
          <p:cNvPr id="3" name="Text 1"/>
          <p:cNvSpPr txBox="1"/>
          <p:nvPr/>
        </p:nvSpPr>
        <p:spPr>
          <a:xfrm>
            <a:off x="548640" y="3291840"/>
            <a:ext cx="9601200" cy="914400"/>
          </a:xfrm>
          <a:prstGeom prst="rect">
            <a:avLst/>
          </a:prstGeom>
          <a:noFill/>
          <a:ln/>
        </p:spPr>
        <p:txBody>
          <a:bodyPr wrap="square" lIns="0" tIns="0" rIns="0" bIns="0" rtlCol="0" anchor="t"/>
          <a:lstStyle/>
          <a:p>
            <a:pPr indent="0" marL="0">
              <a:buNone/>
            </a:pPr>
            <a:r>
              <a:rPr lang="en-US" sz="2000" dirty="0">
                <a:solidFill>
                  <a:srgbClr val="BFD0CC"/>
                </a:solidFill>
              </a:rPr>
              <a:t>Rehearse the crash. Ground every number. Let only the client move money. Anchor the record on chain.</a:t>
            </a:r>
            <a:endParaRPr lang="en-US" sz="2000" dirty="0"/>
          </a:p>
        </p:txBody>
      </p:sp>
      <p:sp>
        <p:nvSpPr>
          <p:cNvPr id="4" name="Text 2"/>
          <p:cNvSpPr txBox="1"/>
          <p:nvPr/>
        </p:nvSpPr>
        <p:spPr>
          <a:xfrm>
            <a:off x="548640" y="5303520"/>
            <a:ext cx="10515600" cy="731520"/>
          </a:xfrm>
          <a:prstGeom prst="rect">
            <a:avLst/>
          </a:prstGeom>
          <a:noFill/>
          <a:ln/>
        </p:spPr>
        <p:txBody>
          <a:bodyPr wrap="square" lIns="0" tIns="0" rIns="0" bIns="0" rtlCol="0" anchor="t"/>
          <a:lstStyle/>
          <a:p>
            <a:pPr indent="0" marL="0">
              <a:buNone/>
            </a:pPr>
            <a:r>
              <a:rPr lang="en-US" sz="1400" dirty="0">
                <a:solidFill>
                  <a:srgbClr val="BFD0CC"/>
                </a:solidFill>
              </a:rPr>
              <a:t>Code and documentation: github.com/[account]/[repository]  ·  Demo video: [link]</a:t>
            </a:r>
            <a:endParaRPr lang="en-US" sz="1400" dirty="0"/>
          </a:p>
          <a:p>
            <a:pPr indent="0" marL="0">
              <a:buNone/>
            </a:pPr>
            <a:r>
              <a:rPr lang="en-US" sz="1400" dirty="0">
                <a:solidFill>
                  <a:srgbClr val="BFD0CC"/>
                </a:solidFill>
              </a:rPr>
              <a:t>[Name 1], [Name 2] · Westminster International University in Tashkent</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Lucid">
  <a:themeElements>
    <a:clrScheme name="Lucid">
      <a:dk1>
        <a:srgbClr val="14211F"/>
      </a:dk1>
      <a:lt1>
        <a:srgbClr val="FFFFFF"/>
      </a:lt1>
      <a:dk2>
        <a:srgbClr val="07110F"/>
      </a:dk2>
      <a:lt2>
        <a:srgbClr val="F3F6F5"/>
      </a:lt2>
      <a:accent1>
        <a:srgbClr val="17695A"/>
      </a:accent1>
      <a:accent2>
        <a:srgbClr val="FF6B5E"/>
      </a:accent2>
      <a:accent3>
        <a:srgbClr val="2A78D6"/>
      </a:accent3>
      <a:accent4>
        <a:srgbClr val="EDA100"/>
      </a:accent4>
      <a:accent5>
        <a:srgbClr val="4A5B57"/>
      </a:accent5>
      <a:accent6>
        <a:srgbClr val="8FD8C5"/>
      </a:accent6>
      <a:hlink>
        <a:srgbClr val="17695A"/>
      </a:hlink>
      <a:folHlink>
        <a:srgbClr val="0F4D42"/>
      </a:folHlink>
    </a:clrScheme>
    <a:fontScheme name="Luci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Lucid — the AI wealth advisor that proves its advice</dc:title>
  <dc:subject>PptxGenJS Presentation</dc:subject>
  <dc:creator>[Name 1], [Name 2]</dc:creator>
  <cp:lastModifiedBy>[Name 1], [Name 2]</cp:lastModifiedBy>
  <cp:revision>1</cp:revision>
  <dcterms:created xsi:type="dcterms:W3CDTF">2026-10-11T15:18:10Z</dcterms:created>
  <dcterms:modified xsi:type="dcterms:W3CDTF">2026-10-11T15:18:10Z</dcterms:modified>
</cp:coreProperties>
</file>